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4399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Frame it as an end-to-end analytics project: SQL for data extraction and KPI logic, Power BI for interactive dashboards. State the goal in one sentence — this project shows how data analytics helps a bank monitor loan performance and improve lending decisions.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in under a minute. Frame the business context: banks need faster, more reliable visibility into loan performance. Point to the four outcomes on the right as the concrete value this dashboard delivers to a lending or credit-risk team.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business pain first, then pivot to how analytics resolves each point one-for-one. Keep this conversational — the paired layout does the explaining, so narrate rather than read the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eight objectives as one continuous narrative: understand the book, measure its health, find the risk, and act on it. Emphasize that each objective maps directly to a page or visual in the final dashboard.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audience with real scale — 38,576 records, 24 fields, all 50 states, full year 2021. Then walk the field list quickly, pausing on Loan Status, Grade, and DTI since those drive the risk analysis later in the deck.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top row then bottom row: the raw data is cleaned and analyzed in SQL first, then that validated logic is rebuilt in Power Query and DAX, ending in a dashboard that drives real lending decisions.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reporting is only as trustworthy as the data behind it. Walk through the six cleaning steps briefly, then use the before/after panel to make the impact concrete.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one real query as proof of technical depth, then pivot to the results panel to connect it to business numbers the audience already cares about. This is the slide most likely to get a technical follow-up question, so know the query cold.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one continuous pipeline, not six separate tasks. The key point: nothing here is guesswork — every DAX measure mirrors a SQL query already validated in the previous stage.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high-level walkthrough: KPI cards up top, Good vs Bad loan split as the headline risk view, and the loan status table underneath for the full breakdown. Tell the audience this is the landing page — the next section of the deck goes deeper into the Overview and Details pages.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executives through the Summary page top to bottom: headline KPIs, then the Good vs Bad loan split as the primary risk signal, then the loan-status table for the full reconciliation. The key executive takeaway is that collections ($473M) exceed funding ($436M) portfolio-wide, even though charged-off loans recover only 57 cents on the dollar.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the Details page complements the Summary and Overview pages — it's the audit layer. Demonstrate a filter, e.g. isolating Grade A loans in a specific state, to show operational teams can investigate individual records without needing a raw data export.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these into three families as you present: volume and money (applications, funded, received), pricing and risk capacity (interest rate, DTI), and portfolio quality (good/bad %, recovery rates). The two recovery-rate cards are the most interview-worthy — they quantify exactly how much value charge-offs destroy.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insights are computed directly from the dataset, not estimated — be ready to defend any number. The grade×term and small-business findings are the strongest talking points; lead with those if time is short.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these as a direct line from insight to action — each recommendation should map back to a specific finding from the previous slide. Recommendations 7 and 8 are the natural bridge into the Future Scope slide later in the deck.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a deliberate pipeline, not a random tool list: Excel for storage, SQL for trusted logic, Power Query and DAX to operationalize that logic, Power BI to deliver it. If asked why SQL first instead of DAX-only, explain that SQL let you validate KPI logic independently before trusting it inside the report.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demonstrates problem-solving, not just tool usage — walk through one or two rows in detail if asked a technical question, especially the MTD/PMTD validation challenge, since it shows a disciplined SQL-first approach.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each impact back to a named stakeholder — credit risk teams get earlier warning, executives get visibility without asking, analysts get their time back. This is the slide to slow down on for a business-executive audience specifically.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these mentally into three horizons: predictive modeling (default prediction, credit scoring, fraud detection), infrastructure (Azure, scheduled refresh, Power BI Service), and access (real-time, mobile). Pick 2-3 to go deeper on if the interviewer shows interest in a specific direction.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4"/>
        </a:solidFill>
        <a:effectLst/>
      </p:bgPr>
    </p:bg>
    <p:spTree>
      <p:nvGrpSpPr>
        <p:cNvPr id="1" name=""/>
        <p:cNvGrpSpPr/>
        <p:nvPr/>
      </p:nvGrpSpPr>
      <p:grpSpPr>
        <a:xfrm>
          <a:off x="0" y="0"/>
          <a:ext cx="0" cy="0"/>
          <a:chOff x="0" y="0"/>
          <a:chExt cx="0" cy="0"/>
        </a:xfrm>
      </p:grpSpPr>
      <p:sp>
        <p:nvSpPr>
          <p:cNvPr id="2" name="Shape 0"/>
          <p:cNvSpPr/>
          <p:nvPr/>
        </p:nvSpPr>
        <p:spPr>
          <a:xfrm>
            <a:off x="8778240" y="4297680"/>
            <a:ext cx="502920" cy="822960"/>
          </a:xfrm>
          <a:prstGeom prst="rect">
            <a:avLst/>
          </a:prstGeom>
          <a:solidFill>
            <a:srgbClr val="CADCFC">
              <a:alpha val="18000"/>
            </a:srgbClr>
          </a:solidFill>
          <a:ln/>
        </p:spPr>
      </p:sp>
      <p:sp>
        <p:nvSpPr>
          <p:cNvPr id="3" name="Shape 1"/>
          <p:cNvSpPr/>
          <p:nvPr/>
        </p:nvSpPr>
        <p:spPr>
          <a:xfrm>
            <a:off x="9436608" y="3749040"/>
            <a:ext cx="502920" cy="1371600"/>
          </a:xfrm>
          <a:prstGeom prst="rect">
            <a:avLst/>
          </a:prstGeom>
          <a:solidFill>
            <a:srgbClr val="CADCFC">
              <a:alpha val="18000"/>
            </a:srgbClr>
          </a:solidFill>
          <a:ln/>
        </p:spPr>
      </p:sp>
      <p:sp>
        <p:nvSpPr>
          <p:cNvPr id="4" name="Shape 2"/>
          <p:cNvSpPr/>
          <p:nvPr/>
        </p:nvSpPr>
        <p:spPr>
          <a:xfrm>
            <a:off x="10094976" y="3200400"/>
            <a:ext cx="502920" cy="1920240"/>
          </a:xfrm>
          <a:prstGeom prst="rect">
            <a:avLst/>
          </a:prstGeom>
          <a:solidFill>
            <a:srgbClr val="CADCFC">
              <a:alpha val="18000"/>
            </a:srgbClr>
          </a:solidFill>
          <a:ln/>
        </p:spPr>
      </p:sp>
      <p:sp>
        <p:nvSpPr>
          <p:cNvPr id="5" name="Shape 3"/>
          <p:cNvSpPr/>
          <p:nvPr/>
        </p:nvSpPr>
        <p:spPr>
          <a:xfrm>
            <a:off x="10753344" y="2560320"/>
            <a:ext cx="502920" cy="2560320"/>
          </a:xfrm>
          <a:prstGeom prst="rect">
            <a:avLst/>
          </a:prstGeom>
          <a:solidFill>
            <a:srgbClr val="CADCFC">
              <a:alpha val="18000"/>
            </a:srgbClr>
          </a:solidFill>
          <a:ln/>
        </p:spPr>
      </p:sp>
      <p:sp>
        <p:nvSpPr>
          <p:cNvPr id="6" name="Shape 4"/>
          <p:cNvSpPr/>
          <p:nvPr/>
        </p:nvSpPr>
        <p:spPr>
          <a:xfrm>
            <a:off x="11411712" y="1828800"/>
            <a:ext cx="502920" cy="3291840"/>
          </a:xfrm>
          <a:prstGeom prst="rect">
            <a:avLst/>
          </a:prstGeom>
          <a:solidFill>
            <a:srgbClr val="CADCFC">
              <a:alpha val="18000"/>
            </a:srgbClr>
          </a:solidFill>
          <a:ln/>
        </p:spPr>
      </p:sp>
      <p:sp>
        <p:nvSpPr>
          <p:cNvPr id="7" name="Shape 5"/>
          <p:cNvSpPr/>
          <p:nvPr/>
        </p:nvSpPr>
        <p:spPr>
          <a:xfrm rot="-1080000">
            <a:off x="8686800" y="1554480"/>
            <a:ext cx="3319272" cy="0"/>
          </a:xfrm>
          <a:prstGeom prst="line">
            <a:avLst/>
          </a:prstGeom>
          <a:noFill/>
          <a:ln w="25400">
            <a:solidFill>
              <a:srgbClr val="C9A227">
                <a:alpha val="75000"/>
              </a:srgbClr>
            </a:solidFill>
            <a:prstDash val="solid"/>
          </a:ln>
        </p:spPr>
      </p:sp>
      <p:sp>
        <p:nvSpPr>
          <p:cNvPr id="8" name="Text 6"/>
          <p:cNvSpPr/>
          <p:nvPr/>
        </p:nvSpPr>
        <p:spPr>
          <a:xfrm>
            <a:off x="640080" y="2331720"/>
            <a:ext cx="8503920" cy="1005840"/>
          </a:xfrm>
          <a:prstGeom prst="rect">
            <a:avLst/>
          </a:prstGeom>
          <a:noFill/>
          <a:ln/>
        </p:spPr>
        <p:txBody>
          <a:bodyPr wrap="square" rtlCol="0" anchor="ctr"/>
          <a:lstStyle/>
          <a:p>
            <a:pPr marL="0" indent="0">
              <a:buNone/>
            </a:pPr>
            <a:r>
              <a:rPr lang="en-US" sz="4200" b="1" kern="0" spc="100" dirty="0">
                <a:solidFill>
                  <a:srgbClr val="FFFFFF"/>
                </a:solidFill>
                <a:latin typeface="Cambria" pitchFamily="34" charset="0"/>
                <a:ea typeface="Cambria" pitchFamily="34" charset="-122"/>
                <a:cs typeface="Cambria" pitchFamily="34" charset="-120"/>
              </a:rPr>
              <a:t>BANK LOAN REPORT ANALYSIS</a:t>
            </a:r>
            <a:endParaRPr lang="en-US" sz="4200" dirty="0"/>
          </a:p>
        </p:txBody>
      </p:sp>
      <p:sp>
        <p:nvSpPr>
          <p:cNvPr id="9" name="Text 7"/>
          <p:cNvSpPr/>
          <p:nvPr/>
        </p:nvSpPr>
        <p:spPr>
          <a:xfrm>
            <a:off x="658368" y="3246120"/>
            <a:ext cx="7772400" cy="502920"/>
          </a:xfrm>
          <a:prstGeom prst="rect">
            <a:avLst/>
          </a:prstGeom>
          <a:noFill/>
          <a:ln/>
        </p:spPr>
        <p:txBody>
          <a:bodyPr wrap="square" rtlCol="0" anchor="ctr"/>
          <a:lstStyle/>
          <a:p>
            <a:pPr marL="0" indent="0">
              <a:buNone/>
            </a:pPr>
            <a:r>
              <a:rPr lang="en-US" sz="2000" i="1" dirty="0">
                <a:solidFill>
                  <a:srgbClr val="CADCFC"/>
                </a:solidFill>
                <a:latin typeface="Calibri" pitchFamily="34" charset="0"/>
                <a:ea typeface="Calibri" pitchFamily="34" charset="-122"/>
                <a:cs typeface="Calibri" pitchFamily="34" charset="-120"/>
              </a:rPr>
              <a:t>End-to-End Data Analytics Project</a:t>
            </a:r>
            <a:endParaRPr lang="en-US" sz="2000" dirty="0"/>
          </a:p>
        </p:txBody>
      </p:sp>
      <p:sp>
        <p:nvSpPr>
          <p:cNvPr id="10" name="Shape 8"/>
          <p:cNvSpPr/>
          <p:nvPr/>
        </p:nvSpPr>
        <p:spPr>
          <a:xfrm>
            <a:off x="658368" y="3977640"/>
            <a:ext cx="736092" cy="384048"/>
          </a:xfrm>
          <a:prstGeom prst="roundRect">
            <a:avLst>
              <a:gd name="adj" fmla="val 19048"/>
            </a:avLst>
          </a:prstGeom>
          <a:solidFill>
            <a:srgbClr val="1E2761">
              <a:alpha val="90000"/>
            </a:srgbClr>
          </a:solidFill>
          <a:ln w="9525">
            <a:solidFill>
              <a:srgbClr val="CADCFC"/>
            </a:solidFill>
            <a:prstDash val="solid"/>
          </a:ln>
        </p:spPr>
      </p:sp>
      <p:sp>
        <p:nvSpPr>
          <p:cNvPr id="11" name="Text 9"/>
          <p:cNvSpPr/>
          <p:nvPr/>
        </p:nvSpPr>
        <p:spPr>
          <a:xfrm>
            <a:off x="658368" y="3977640"/>
            <a:ext cx="736092" cy="384048"/>
          </a:xfrm>
          <a:prstGeom prst="rect">
            <a:avLst/>
          </a:prstGeom>
          <a:noFill/>
          <a:ln/>
        </p:spPr>
        <p:txBody>
          <a:bodyPr wrap="square" lIns="0" tIns="0" rIns="0" bIns="0"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Excel</a:t>
            </a:r>
            <a:endParaRPr lang="en-US" sz="1200" dirty="0"/>
          </a:p>
        </p:txBody>
      </p:sp>
      <p:sp>
        <p:nvSpPr>
          <p:cNvPr id="12" name="Shape 10"/>
          <p:cNvSpPr/>
          <p:nvPr/>
        </p:nvSpPr>
        <p:spPr>
          <a:xfrm>
            <a:off x="1559052" y="3977640"/>
            <a:ext cx="1216152" cy="384048"/>
          </a:xfrm>
          <a:prstGeom prst="roundRect">
            <a:avLst>
              <a:gd name="adj" fmla="val 19048"/>
            </a:avLst>
          </a:prstGeom>
          <a:solidFill>
            <a:srgbClr val="1E2761">
              <a:alpha val="90000"/>
            </a:srgbClr>
          </a:solidFill>
          <a:ln w="9525">
            <a:solidFill>
              <a:srgbClr val="CADCFC"/>
            </a:solidFill>
            <a:prstDash val="solid"/>
          </a:ln>
        </p:spPr>
      </p:sp>
      <p:sp>
        <p:nvSpPr>
          <p:cNvPr id="13" name="Text 11"/>
          <p:cNvSpPr/>
          <p:nvPr/>
        </p:nvSpPr>
        <p:spPr>
          <a:xfrm>
            <a:off x="1559052" y="3977640"/>
            <a:ext cx="1216152" cy="384048"/>
          </a:xfrm>
          <a:prstGeom prst="rect">
            <a:avLst/>
          </a:prstGeom>
          <a:noFill/>
          <a:ln/>
        </p:spPr>
        <p:txBody>
          <a:bodyPr wrap="square" lIns="0" tIns="0" rIns="0" bIns="0"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SQL Server</a:t>
            </a:r>
            <a:endParaRPr lang="en-US" sz="1200" dirty="0"/>
          </a:p>
        </p:txBody>
      </p:sp>
      <p:sp>
        <p:nvSpPr>
          <p:cNvPr id="14" name="Shape 12"/>
          <p:cNvSpPr/>
          <p:nvPr/>
        </p:nvSpPr>
        <p:spPr>
          <a:xfrm>
            <a:off x="2939796" y="3977640"/>
            <a:ext cx="1024128" cy="384048"/>
          </a:xfrm>
          <a:prstGeom prst="roundRect">
            <a:avLst>
              <a:gd name="adj" fmla="val 19048"/>
            </a:avLst>
          </a:prstGeom>
          <a:solidFill>
            <a:srgbClr val="1E2761">
              <a:alpha val="90000"/>
            </a:srgbClr>
          </a:solidFill>
          <a:ln w="9525">
            <a:solidFill>
              <a:srgbClr val="CADCFC"/>
            </a:solidFill>
            <a:prstDash val="solid"/>
          </a:ln>
        </p:spPr>
      </p:sp>
      <p:sp>
        <p:nvSpPr>
          <p:cNvPr id="15" name="Text 13"/>
          <p:cNvSpPr/>
          <p:nvPr/>
        </p:nvSpPr>
        <p:spPr>
          <a:xfrm>
            <a:off x="2939796" y="3977640"/>
            <a:ext cx="1024128" cy="384048"/>
          </a:xfrm>
          <a:prstGeom prst="rect">
            <a:avLst/>
          </a:prstGeom>
          <a:noFill/>
          <a:ln/>
        </p:spPr>
        <p:txBody>
          <a:bodyPr wrap="square" lIns="0" tIns="0" rIns="0" bIns="0"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Power BI</a:t>
            </a:r>
            <a:endParaRPr lang="en-US" sz="1200" dirty="0"/>
          </a:p>
        </p:txBody>
      </p:sp>
      <p:sp>
        <p:nvSpPr>
          <p:cNvPr id="16" name="Shape 14"/>
          <p:cNvSpPr/>
          <p:nvPr/>
        </p:nvSpPr>
        <p:spPr>
          <a:xfrm>
            <a:off x="4128516" y="3977640"/>
            <a:ext cx="1312164" cy="384048"/>
          </a:xfrm>
          <a:prstGeom prst="roundRect">
            <a:avLst>
              <a:gd name="adj" fmla="val 19048"/>
            </a:avLst>
          </a:prstGeom>
          <a:solidFill>
            <a:srgbClr val="1E2761">
              <a:alpha val="90000"/>
            </a:srgbClr>
          </a:solidFill>
          <a:ln w="9525">
            <a:solidFill>
              <a:srgbClr val="CADCFC"/>
            </a:solidFill>
            <a:prstDash val="solid"/>
          </a:ln>
        </p:spPr>
      </p:sp>
      <p:sp>
        <p:nvSpPr>
          <p:cNvPr id="17" name="Text 15"/>
          <p:cNvSpPr/>
          <p:nvPr/>
        </p:nvSpPr>
        <p:spPr>
          <a:xfrm>
            <a:off x="4128516" y="3977640"/>
            <a:ext cx="1312164" cy="384048"/>
          </a:xfrm>
          <a:prstGeom prst="rect">
            <a:avLst/>
          </a:prstGeom>
          <a:noFill/>
          <a:ln/>
        </p:spPr>
        <p:txBody>
          <a:bodyPr wrap="square" lIns="0" tIns="0" rIns="0" bIns="0"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Power Query</a:t>
            </a:r>
            <a:endParaRPr lang="en-US" sz="1200" dirty="0"/>
          </a:p>
        </p:txBody>
      </p:sp>
      <p:sp>
        <p:nvSpPr>
          <p:cNvPr id="18" name="Shape 16"/>
          <p:cNvSpPr/>
          <p:nvPr/>
        </p:nvSpPr>
        <p:spPr>
          <a:xfrm>
            <a:off x="5605272" y="3977640"/>
            <a:ext cx="544068" cy="384048"/>
          </a:xfrm>
          <a:prstGeom prst="roundRect">
            <a:avLst>
              <a:gd name="adj" fmla="val 19048"/>
            </a:avLst>
          </a:prstGeom>
          <a:solidFill>
            <a:srgbClr val="1E2761">
              <a:alpha val="90000"/>
            </a:srgbClr>
          </a:solidFill>
          <a:ln w="9525">
            <a:solidFill>
              <a:srgbClr val="CADCFC"/>
            </a:solidFill>
            <a:prstDash val="solid"/>
          </a:ln>
        </p:spPr>
      </p:sp>
      <p:sp>
        <p:nvSpPr>
          <p:cNvPr id="19" name="Text 17"/>
          <p:cNvSpPr/>
          <p:nvPr/>
        </p:nvSpPr>
        <p:spPr>
          <a:xfrm>
            <a:off x="5605272" y="3977640"/>
            <a:ext cx="544068" cy="384048"/>
          </a:xfrm>
          <a:prstGeom prst="rect">
            <a:avLst/>
          </a:prstGeom>
          <a:noFill/>
          <a:ln/>
        </p:spPr>
        <p:txBody>
          <a:bodyPr wrap="square" lIns="0" tIns="0" rIns="0" bIns="0"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DAX</a:t>
            </a:r>
            <a:endParaRPr lang="en-US" sz="1200" dirty="0"/>
          </a:p>
        </p:txBody>
      </p:sp>
      <p:sp>
        <p:nvSpPr>
          <p:cNvPr id="20" name="Shape 18"/>
          <p:cNvSpPr/>
          <p:nvPr/>
        </p:nvSpPr>
        <p:spPr>
          <a:xfrm>
            <a:off x="658368" y="5806440"/>
            <a:ext cx="2194560" cy="0"/>
          </a:xfrm>
          <a:prstGeom prst="line">
            <a:avLst/>
          </a:prstGeom>
          <a:noFill/>
          <a:ln w="19050">
            <a:solidFill>
              <a:srgbClr val="C9A227"/>
            </a:solidFill>
            <a:prstDash val="solid"/>
          </a:ln>
        </p:spPr>
      </p:sp>
      <p:sp>
        <p:nvSpPr>
          <p:cNvPr id="21" name="Text 19"/>
          <p:cNvSpPr/>
          <p:nvPr/>
        </p:nvSpPr>
        <p:spPr>
          <a:xfrm>
            <a:off x="658368" y="5870448"/>
            <a:ext cx="457200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Siddu Varikuppala</a:t>
            </a:r>
            <a:endParaRPr lang="en-US" sz="1600" dirty="0"/>
          </a:p>
        </p:txBody>
      </p:sp>
      <p:sp>
        <p:nvSpPr>
          <p:cNvPr id="22" name="Text 20"/>
          <p:cNvSpPr/>
          <p:nvPr/>
        </p:nvSpPr>
        <p:spPr>
          <a:xfrm>
            <a:off x="658368" y="6199632"/>
            <a:ext cx="5486400" cy="320040"/>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linkedin.com/in/siddu-data   |   github.com/sidducv0528</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EXECUTIVE SUMMARY</a:t>
            </a:r>
            <a:endParaRPr lang="en-US" sz="1200" dirty="0"/>
          </a:p>
        </p:txBody>
      </p:sp>
      <p:sp>
        <p:nvSpPr>
          <p:cNvPr id="3" name="Text 1"/>
          <p:cNvSpPr/>
          <p:nvPr/>
        </p:nvSpPr>
        <p:spPr>
          <a:xfrm>
            <a:off x="548640" y="713232"/>
            <a:ext cx="7863840" cy="548640"/>
          </a:xfrm>
          <a:prstGeom prst="rect">
            <a:avLst/>
          </a:prstGeom>
          <a:noFill/>
          <a:ln/>
        </p:spPr>
        <p:txBody>
          <a:bodyPr wrap="square" rtlCol="0" anchor="ctr"/>
          <a:lstStyle/>
          <a:p>
            <a:pPr marL="0" indent="0">
              <a:buNone/>
            </a:pPr>
            <a:r>
              <a:rPr lang="en-US" sz="2700" b="1" dirty="0">
                <a:solidFill>
                  <a:srgbClr val="1B2340"/>
                </a:solidFill>
                <a:latin typeface="Cambria" pitchFamily="34" charset="0"/>
                <a:ea typeface="Cambria" pitchFamily="34" charset="-122"/>
                <a:cs typeface="Cambria" pitchFamily="34" charset="-120"/>
              </a:rPr>
              <a:t>Turning loan data into lending decisions</a:t>
            </a:r>
            <a:endParaRPr lang="en-US" sz="2700" dirty="0"/>
          </a:p>
        </p:txBody>
      </p:sp>
      <p:sp>
        <p:nvSpPr>
          <p:cNvPr id="4" name="Text 2"/>
          <p:cNvSpPr/>
          <p:nvPr/>
        </p:nvSpPr>
        <p:spPr>
          <a:xfrm>
            <a:off x="548640" y="1417320"/>
            <a:ext cx="6309360" cy="2468880"/>
          </a:xfrm>
          <a:prstGeom prst="rect">
            <a:avLst/>
          </a:prstGeom>
          <a:noFill/>
          <a:ln/>
        </p:spPr>
        <p:txBody>
          <a:bodyPr wrap="square" rtlCol="0" anchor="ctr"/>
          <a:lstStyle/>
          <a:p>
            <a:pPr marL="0" indent="0">
              <a:lnSpc>
                <a:spcPct val="130000"/>
              </a:lnSpc>
              <a:buNone/>
            </a:pPr>
            <a:r>
              <a:rPr lang="en-US" sz="1350" dirty="0">
                <a:solidFill>
                  <a:srgbClr val="1B2340"/>
                </a:solidFill>
                <a:latin typeface="Calibri" pitchFamily="34" charset="0"/>
                <a:ea typeface="Calibri" pitchFamily="34" charset="-122"/>
                <a:cs typeface="Calibri" pitchFamily="34" charset="-120"/>
              </a:rPr>
              <a:t>This project analyzes a 38,576-loan portfolio issued through 2021, using SQL to define and validate every KPI, and Power BI to turn that logic into an interactive report. The goal is simple: give lending teams a single, trusted view of how much has been funded, how much has been recovered, and where credit risk is concentrated — without waiting on manual, spreadsheet-driven reporting.</a:t>
            </a:r>
            <a:endParaRPr lang="en-US" sz="1350" dirty="0"/>
          </a:p>
        </p:txBody>
      </p:sp>
      <p:sp>
        <p:nvSpPr>
          <p:cNvPr id="5" name="Shape 3"/>
          <p:cNvSpPr/>
          <p:nvPr/>
        </p:nvSpPr>
        <p:spPr>
          <a:xfrm>
            <a:off x="548640" y="4160520"/>
            <a:ext cx="6309360" cy="1783080"/>
          </a:xfrm>
          <a:prstGeom prst="roundRect">
            <a:avLst>
              <a:gd name="adj" fmla="val 4103"/>
            </a:avLst>
          </a:prstGeom>
          <a:solidFill>
            <a:srgbClr val="EEF3FC"/>
          </a:solidFill>
          <a:ln/>
        </p:spPr>
      </p:sp>
      <p:sp>
        <p:nvSpPr>
          <p:cNvPr id="6" name="Text 4"/>
          <p:cNvSpPr/>
          <p:nvPr/>
        </p:nvSpPr>
        <p:spPr>
          <a:xfrm>
            <a:off x="822960" y="4315968"/>
            <a:ext cx="576072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Why loan analytics matters</a:t>
            </a:r>
            <a:endParaRPr lang="en-US" sz="1300" dirty="0"/>
          </a:p>
        </p:txBody>
      </p:sp>
      <p:sp>
        <p:nvSpPr>
          <p:cNvPr id="7" name="Text 5"/>
          <p:cNvSpPr/>
          <p:nvPr/>
        </p:nvSpPr>
        <p:spPr>
          <a:xfrm>
            <a:off x="822960" y="4663440"/>
            <a:ext cx="5760720" cy="1188720"/>
          </a:xfrm>
          <a:prstGeom prst="rect">
            <a:avLst/>
          </a:prstGeom>
          <a:noFill/>
          <a:ln/>
        </p:spPr>
        <p:txBody>
          <a:bodyPr wrap="square" rtlCol="0" anchor="ctr"/>
          <a:lstStyle/>
          <a:p>
            <a:pPr marL="0" indent="0">
              <a:lnSpc>
                <a:spcPct val="125000"/>
              </a:lnSpc>
              <a:buNone/>
            </a:pPr>
            <a:r>
              <a:rPr lang="en-US" sz="1200" dirty="0">
                <a:solidFill>
                  <a:srgbClr val="5B6B8C"/>
                </a:solidFill>
                <a:latin typeface="Calibri" pitchFamily="34" charset="0"/>
                <a:ea typeface="Calibri" pitchFamily="34" charset="-122"/>
                <a:cs typeface="Calibri" pitchFamily="34" charset="-120"/>
              </a:rPr>
              <a:t>Every additional day spent compiling reports manually is a day lending decisions run on stale numbers. Interactive dashboards answer “where is our risk today” in seconds, not weeks.</a:t>
            </a:r>
            <a:endParaRPr lang="en-US" sz="1200" dirty="0"/>
          </a:p>
        </p:txBody>
      </p:sp>
      <p:sp>
        <p:nvSpPr>
          <p:cNvPr id="8" name="Shape 6"/>
          <p:cNvSpPr/>
          <p:nvPr/>
        </p:nvSpPr>
        <p:spPr>
          <a:xfrm>
            <a:off x="7178040" y="1417320"/>
            <a:ext cx="4434840" cy="4526280"/>
          </a:xfrm>
          <a:prstGeom prst="roundRect">
            <a:avLst>
              <a:gd name="adj" fmla="val 2062"/>
            </a:avLst>
          </a:prstGeom>
          <a:solidFill>
            <a:srgbClr val="1E2761"/>
          </a:solidFill>
          <a:ln/>
        </p:spPr>
      </p:sp>
      <p:sp>
        <p:nvSpPr>
          <p:cNvPr id="9" name="Text 7"/>
          <p:cNvSpPr/>
          <p:nvPr/>
        </p:nvSpPr>
        <p:spPr>
          <a:xfrm>
            <a:off x="7498080" y="1691640"/>
            <a:ext cx="384048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This dashboard delivers</a:t>
            </a:r>
            <a:endParaRPr lang="en-US" sz="1400" dirty="0"/>
          </a:p>
        </p:txBody>
      </p:sp>
      <p:sp>
        <p:nvSpPr>
          <p:cNvPr id="10" name="Shape 8"/>
          <p:cNvSpPr/>
          <p:nvPr/>
        </p:nvSpPr>
        <p:spPr>
          <a:xfrm>
            <a:off x="7498080" y="2194560"/>
            <a:ext cx="384048" cy="384048"/>
          </a:xfrm>
          <a:prstGeom prst="ellipse">
            <a:avLst/>
          </a:prstGeom>
          <a:solidFill>
            <a:srgbClr val="C9A227"/>
          </a:solidFill>
          <a:ln/>
        </p:spPr>
      </p:sp>
      <p:sp>
        <p:nvSpPr>
          <p:cNvPr id="11" name="Text 9"/>
          <p:cNvSpPr/>
          <p:nvPr/>
        </p:nvSpPr>
        <p:spPr>
          <a:xfrm>
            <a:off x="7498080" y="2194560"/>
            <a:ext cx="384048" cy="384048"/>
          </a:xfrm>
          <a:prstGeom prst="rect">
            <a:avLst/>
          </a:prstGeom>
          <a:noFill/>
          <a:ln/>
        </p:spPr>
        <p:txBody>
          <a:bodyPr wrap="square" lIns="0" tIns="0" rIns="0" bIns="0" rtlCol="0" anchor="ctr"/>
          <a:lstStyle/>
          <a:p>
            <a:pPr marL="0" indent="0" algn="ctr">
              <a:buNone/>
            </a:pPr>
            <a:r>
              <a:rPr lang="en-US" sz="1600" b="1" dirty="0">
                <a:solidFill>
                  <a:srgbClr val="141B44"/>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8046720" y="2167128"/>
            <a:ext cx="34290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Better decision making</a:t>
            </a:r>
            <a:endParaRPr lang="en-US" sz="1300" dirty="0"/>
          </a:p>
        </p:txBody>
      </p:sp>
      <p:sp>
        <p:nvSpPr>
          <p:cNvPr id="13" name="Text 11"/>
          <p:cNvSpPr/>
          <p:nvPr/>
        </p:nvSpPr>
        <p:spPr>
          <a:xfrm>
            <a:off x="8046720" y="2487168"/>
            <a:ext cx="3429000" cy="502920"/>
          </a:xfrm>
          <a:prstGeom prst="rect">
            <a:avLst/>
          </a:prstGeom>
          <a:noFill/>
          <a:ln/>
        </p:spPr>
        <p:txBody>
          <a:bodyPr wrap="square" rtlCol="0" anchor="ctr"/>
          <a:lstStyle/>
          <a:p>
            <a:pPr marL="0" indent="0">
              <a:lnSpc>
                <a:spcPct val="115000"/>
              </a:lnSpc>
              <a:buNone/>
            </a:pPr>
            <a:r>
              <a:rPr lang="en-US" sz="1050" dirty="0">
                <a:solidFill>
                  <a:srgbClr val="CADCFC"/>
                </a:solidFill>
                <a:latin typeface="Calibri" pitchFamily="34" charset="0"/>
                <a:ea typeface="Calibri" pitchFamily="34" charset="-122"/>
                <a:cs typeface="Calibri" pitchFamily="34" charset="-120"/>
              </a:rPr>
              <a:t>Trusted KPIs replace manual spreadsheet pulls</a:t>
            </a:r>
            <a:endParaRPr lang="en-US" sz="1050" dirty="0"/>
          </a:p>
        </p:txBody>
      </p:sp>
      <p:sp>
        <p:nvSpPr>
          <p:cNvPr id="14" name="Shape 12"/>
          <p:cNvSpPr/>
          <p:nvPr/>
        </p:nvSpPr>
        <p:spPr>
          <a:xfrm>
            <a:off x="7498080" y="3063240"/>
            <a:ext cx="384048" cy="384048"/>
          </a:xfrm>
          <a:prstGeom prst="ellipse">
            <a:avLst/>
          </a:prstGeom>
          <a:solidFill>
            <a:srgbClr val="C9A227"/>
          </a:solidFill>
          <a:ln/>
        </p:spPr>
      </p:sp>
      <p:sp>
        <p:nvSpPr>
          <p:cNvPr id="15" name="Text 13"/>
          <p:cNvSpPr/>
          <p:nvPr/>
        </p:nvSpPr>
        <p:spPr>
          <a:xfrm>
            <a:off x="7498080" y="3063240"/>
            <a:ext cx="384048" cy="384048"/>
          </a:xfrm>
          <a:prstGeom prst="rect">
            <a:avLst/>
          </a:prstGeom>
          <a:noFill/>
          <a:ln/>
        </p:spPr>
        <p:txBody>
          <a:bodyPr wrap="square" lIns="0" tIns="0" rIns="0" bIns="0" rtlCol="0" anchor="ctr"/>
          <a:lstStyle/>
          <a:p>
            <a:pPr marL="0" indent="0" algn="ctr">
              <a:buNone/>
            </a:pPr>
            <a:r>
              <a:rPr lang="en-US" sz="1600" b="1" dirty="0">
                <a:solidFill>
                  <a:srgbClr val="141B44"/>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8046720" y="3035808"/>
            <a:ext cx="34290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Loan performance monitoring</a:t>
            </a:r>
            <a:endParaRPr lang="en-US" sz="1300" dirty="0"/>
          </a:p>
        </p:txBody>
      </p:sp>
      <p:sp>
        <p:nvSpPr>
          <p:cNvPr id="17" name="Text 15"/>
          <p:cNvSpPr/>
          <p:nvPr/>
        </p:nvSpPr>
        <p:spPr>
          <a:xfrm>
            <a:off x="8046720" y="3355848"/>
            <a:ext cx="3429000" cy="502920"/>
          </a:xfrm>
          <a:prstGeom prst="rect">
            <a:avLst/>
          </a:prstGeom>
          <a:noFill/>
          <a:ln/>
        </p:spPr>
        <p:txBody>
          <a:bodyPr wrap="square" rtlCol="0" anchor="ctr"/>
          <a:lstStyle/>
          <a:p>
            <a:pPr marL="0" indent="0">
              <a:lnSpc>
                <a:spcPct val="115000"/>
              </a:lnSpc>
              <a:buNone/>
            </a:pPr>
            <a:r>
              <a:rPr lang="en-US" sz="1050" dirty="0">
                <a:solidFill>
                  <a:srgbClr val="CADCFC"/>
                </a:solidFill>
                <a:latin typeface="Calibri" pitchFamily="34" charset="0"/>
                <a:ea typeface="Calibri" pitchFamily="34" charset="-122"/>
                <a:cs typeface="Calibri" pitchFamily="34" charset="-120"/>
              </a:rPr>
              <a:t>Funded amount, collections, and MoM trend in one view</a:t>
            </a:r>
            <a:endParaRPr lang="en-US" sz="1050" dirty="0"/>
          </a:p>
        </p:txBody>
      </p:sp>
      <p:sp>
        <p:nvSpPr>
          <p:cNvPr id="18" name="Shape 16"/>
          <p:cNvSpPr/>
          <p:nvPr/>
        </p:nvSpPr>
        <p:spPr>
          <a:xfrm>
            <a:off x="7498080" y="3931920"/>
            <a:ext cx="384048" cy="384048"/>
          </a:xfrm>
          <a:prstGeom prst="ellipse">
            <a:avLst/>
          </a:prstGeom>
          <a:solidFill>
            <a:srgbClr val="C9A227"/>
          </a:solidFill>
          <a:ln/>
        </p:spPr>
      </p:sp>
      <p:sp>
        <p:nvSpPr>
          <p:cNvPr id="19" name="Text 17"/>
          <p:cNvSpPr/>
          <p:nvPr/>
        </p:nvSpPr>
        <p:spPr>
          <a:xfrm>
            <a:off x="7498080" y="3931920"/>
            <a:ext cx="384048" cy="384048"/>
          </a:xfrm>
          <a:prstGeom prst="rect">
            <a:avLst/>
          </a:prstGeom>
          <a:noFill/>
          <a:ln/>
        </p:spPr>
        <p:txBody>
          <a:bodyPr wrap="square" lIns="0" tIns="0" rIns="0" bIns="0" rtlCol="0" anchor="ctr"/>
          <a:lstStyle/>
          <a:p>
            <a:pPr marL="0" indent="0" algn="ctr">
              <a:buNone/>
            </a:pPr>
            <a:r>
              <a:rPr lang="en-US" sz="1600" b="1" dirty="0">
                <a:solidFill>
                  <a:srgbClr val="141B44"/>
                </a:solidFill>
                <a:latin typeface="Calibri" pitchFamily="34" charset="0"/>
                <a:ea typeface="Calibri" pitchFamily="34" charset="-122"/>
                <a:cs typeface="Calibri" pitchFamily="34" charset="-120"/>
              </a:rPr>
              <a:t>✓</a:t>
            </a:r>
            <a:endParaRPr lang="en-US" sz="1600" dirty="0"/>
          </a:p>
        </p:txBody>
      </p:sp>
      <p:sp>
        <p:nvSpPr>
          <p:cNvPr id="20" name="Text 18"/>
          <p:cNvSpPr/>
          <p:nvPr/>
        </p:nvSpPr>
        <p:spPr>
          <a:xfrm>
            <a:off x="8046720" y="3904488"/>
            <a:ext cx="34290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Risk identification</a:t>
            </a:r>
            <a:endParaRPr lang="en-US" sz="1300" dirty="0"/>
          </a:p>
        </p:txBody>
      </p:sp>
      <p:sp>
        <p:nvSpPr>
          <p:cNvPr id="21" name="Text 19"/>
          <p:cNvSpPr/>
          <p:nvPr/>
        </p:nvSpPr>
        <p:spPr>
          <a:xfrm>
            <a:off x="8046720" y="4224528"/>
            <a:ext cx="3429000" cy="502920"/>
          </a:xfrm>
          <a:prstGeom prst="rect">
            <a:avLst/>
          </a:prstGeom>
          <a:noFill/>
          <a:ln/>
        </p:spPr>
        <p:txBody>
          <a:bodyPr wrap="square" rtlCol="0" anchor="ctr"/>
          <a:lstStyle/>
          <a:p>
            <a:pPr marL="0" indent="0">
              <a:lnSpc>
                <a:spcPct val="115000"/>
              </a:lnSpc>
              <a:buNone/>
            </a:pPr>
            <a:r>
              <a:rPr lang="en-US" sz="1050" dirty="0">
                <a:solidFill>
                  <a:srgbClr val="CADCFC"/>
                </a:solidFill>
                <a:latin typeface="Calibri" pitchFamily="34" charset="0"/>
                <a:ea typeface="Calibri" pitchFamily="34" charset="-122"/>
                <a:cs typeface="Calibri" pitchFamily="34" charset="-120"/>
              </a:rPr>
              <a:t>Good vs bad loan split, surfaced by grade, term, purpose</a:t>
            </a:r>
            <a:endParaRPr lang="en-US" sz="1050" dirty="0"/>
          </a:p>
        </p:txBody>
      </p:sp>
      <p:sp>
        <p:nvSpPr>
          <p:cNvPr id="22" name="Shape 20"/>
          <p:cNvSpPr/>
          <p:nvPr/>
        </p:nvSpPr>
        <p:spPr>
          <a:xfrm>
            <a:off x="7498080" y="4800600"/>
            <a:ext cx="384048" cy="384048"/>
          </a:xfrm>
          <a:prstGeom prst="ellipse">
            <a:avLst/>
          </a:prstGeom>
          <a:solidFill>
            <a:srgbClr val="C9A227"/>
          </a:solidFill>
          <a:ln/>
        </p:spPr>
      </p:sp>
      <p:sp>
        <p:nvSpPr>
          <p:cNvPr id="23" name="Text 21"/>
          <p:cNvSpPr/>
          <p:nvPr/>
        </p:nvSpPr>
        <p:spPr>
          <a:xfrm>
            <a:off x="7498080" y="4800600"/>
            <a:ext cx="384048" cy="384048"/>
          </a:xfrm>
          <a:prstGeom prst="rect">
            <a:avLst/>
          </a:prstGeom>
          <a:noFill/>
          <a:ln/>
        </p:spPr>
        <p:txBody>
          <a:bodyPr wrap="square" lIns="0" tIns="0" rIns="0" bIns="0" rtlCol="0" anchor="ctr"/>
          <a:lstStyle/>
          <a:p>
            <a:pPr marL="0" indent="0" algn="ctr">
              <a:buNone/>
            </a:pPr>
            <a:r>
              <a:rPr lang="en-US" sz="1600" b="1" dirty="0">
                <a:solidFill>
                  <a:srgbClr val="141B44"/>
                </a:solidFill>
                <a:latin typeface="Calibri" pitchFamily="34" charset="0"/>
                <a:ea typeface="Calibri" pitchFamily="34" charset="-122"/>
                <a:cs typeface="Calibri" pitchFamily="34" charset="-120"/>
              </a:rPr>
              <a:t>✓</a:t>
            </a:r>
            <a:endParaRPr lang="en-US" sz="1600" dirty="0"/>
          </a:p>
        </p:txBody>
      </p:sp>
      <p:sp>
        <p:nvSpPr>
          <p:cNvPr id="24" name="Text 22"/>
          <p:cNvSpPr/>
          <p:nvPr/>
        </p:nvSpPr>
        <p:spPr>
          <a:xfrm>
            <a:off x="8046720" y="4773168"/>
            <a:ext cx="34290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Interactive reporting</a:t>
            </a:r>
            <a:endParaRPr lang="en-US" sz="1300" dirty="0"/>
          </a:p>
        </p:txBody>
      </p:sp>
      <p:sp>
        <p:nvSpPr>
          <p:cNvPr id="25" name="Text 23"/>
          <p:cNvSpPr/>
          <p:nvPr/>
        </p:nvSpPr>
        <p:spPr>
          <a:xfrm>
            <a:off x="8046720" y="5093208"/>
            <a:ext cx="3429000" cy="502920"/>
          </a:xfrm>
          <a:prstGeom prst="rect">
            <a:avLst/>
          </a:prstGeom>
          <a:noFill/>
          <a:ln/>
        </p:spPr>
        <p:txBody>
          <a:bodyPr wrap="square" rtlCol="0" anchor="ctr"/>
          <a:lstStyle/>
          <a:p>
            <a:pPr marL="0" indent="0">
              <a:lnSpc>
                <a:spcPct val="115000"/>
              </a:lnSpc>
              <a:buNone/>
            </a:pPr>
            <a:r>
              <a:rPr lang="en-US" sz="1050" dirty="0">
                <a:solidFill>
                  <a:srgbClr val="CADCFC"/>
                </a:solidFill>
                <a:latin typeface="Calibri" pitchFamily="34" charset="0"/>
                <a:ea typeface="Calibri" pitchFamily="34" charset="-122"/>
                <a:cs typeface="Calibri" pitchFamily="34" charset="-120"/>
              </a:rPr>
              <a:t>Slicers for state, grade, and loan purpose — self-serve for any team</a:t>
            </a:r>
            <a:endParaRPr lang="en-US" sz="1050" dirty="0"/>
          </a:p>
        </p:txBody>
      </p:sp>
      <p:sp>
        <p:nvSpPr>
          <p:cNvPr id="26" name="Text 24"/>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5B6B8C"/>
                </a:solidFill>
                <a:latin typeface="Calibri" pitchFamily="34" charset="0"/>
                <a:ea typeface="Calibri" pitchFamily="34" charset="-122"/>
                <a:cs typeface="Calibri" pitchFamily="34" charset="-120"/>
              </a:rPr>
              <a:t>Bank Loan Report Analysis</a:t>
            </a:r>
            <a:endParaRPr lang="en-US" sz="900" dirty="0"/>
          </a:p>
        </p:txBody>
      </p:sp>
      <p:sp>
        <p:nvSpPr>
          <p:cNvPr id="27" name="Text 25"/>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5B6B8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B5433E"/>
                </a:solidFill>
                <a:latin typeface="Calibri" pitchFamily="34" charset="0"/>
                <a:ea typeface="Calibri" pitchFamily="34" charset="-122"/>
                <a:cs typeface="Calibri" pitchFamily="34" charset="-120"/>
              </a:rPr>
              <a:t>BUSINESS PROBLEM</a:t>
            </a:r>
            <a:endParaRPr lang="en-US" sz="1200" dirty="0"/>
          </a:p>
        </p:txBody>
      </p:sp>
      <p:sp>
        <p:nvSpPr>
          <p:cNvPr id="3" name="Text 1"/>
          <p:cNvSpPr/>
          <p:nvPr/>
        </p:nvSpPr>
        <p:spPr>
          <a:xfrm>
            <a:off x="548640" y="713232"/>
            <a:ext cx="9601200" cy="548640"/>
          </a:xfrm>
          <a:prstGeom prst="rect">
            <a:avLst/>
          </a:prstGeom>
          <a:noFill/>
          <a:ln/>
        </p:spPr>
        <p:txBody>
          <a:bodyPr wrap="square" rtlCol="0" anchor="ctr"/>
          <a:lstStyle/>
          <a:p>
            <a:pPr marL="0" indent="0">
              <a:buNone/>
            </a:pPr>
            <a:r>
              <a:rPr lang="en-US" sz="2500" b="1" dirty="0">
                <a:solidFill>
                  <a:srgbClr val="1B2340"/>
                </a:solidFill>
                <a:latin typeface="Cambria" pitchFamily="34" charset="0"/>
                <a:ea typeface="Cambria" pitchFamily="34" charset="-122"/>
                <a:cs typeface="Cambria" pitchFamily="34" charset="-120"/>
              </a:rPr>
              <a:t>Manual reporting can't keep pace with loan risk</a:t>
            </a:r>
            <a:endParaRPr lang="en-US" sz="2500" dirty="0"/>
          </a:p>
        </p:txBody>
      </p:sp>
      <p:sp>
        <p:nvSpPr>
          <p:cNvPr id="4" name="Shape 2"/>
          <p:cNvSpPr/>
          <p:nvPr/>
        </p:nvSpPr>
        <p:spPr>
          <a:xfrm>
            <a:off x="548640" y="1508760"/>
            <a:ext cx="5349240" cy="4663440"/>
          </a:xfrm>
          <a:prstGeom prst="roundRect">
            <a:avLst>
              <a:gd name="adj" fmla="val 1569"/>
            </a:avLst>
          </a:prstGeom>
          <a:solidFill>
            <a:srgbClr val="FBF0EF"/>
          </a:solidFill>
          <a:ln/>
        </p:spPr>
      </p:sp>
      <p:sp>
        <p:nvSpPr>
          <p:cNvPr id="5" name="Shape 3"/>
          <p:cNvSpPr/>
          <p:nvPr/>
        </p:nvSpPr>
        <p:spPr>
          <a:xfrm>
            <a:off x="868680" y="1783080"/>
            <a:ext cx="411480" cy="411480"/>
          </a:xfrm>
          <a:prstGeom prst="ellipse">
            <a:avLst/>
          </a:prstGeom>
          <a:solidFill>
            <a:srgbClr val="B5433E"/>
          </a:solidFill>
          <a:ln/>
        </p:spPr>
      </p:sp>
      <p:sp>
        <p:nvSpPr>
          <p:cNvPr id="6" name="Text 4"/>
          <p:cNvSpPr/>
          <p:nvPr/>
        </p:nvSpPr>
        <p:spPr>
          <a:xfrm>
            <a:off x="868680" y="178308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417320" y="1810512"/>
            <a:ext cx="4297680" cy="365760"/>
          </a:xfrm>
          <a:prstGeom prst="rect">
            <a:avLst/>
          </a:prstGeom>
          <a:noFill/>
          <a:ln/>
        </p:spPr>
        <p:txBody>
          <a:bodyPr wrap="square" rtlCol="0" anchor="ctr"/>
          <a:lstStyle/>
          <a:p>
            <a:pPr marL="0" indent="0">
              <a:buNone/>
            </a:pPr>
            <a:r>
              <a:rPr lang="en-US" sz="1500" b="1" dirty="0">
                <a:solidFill>
                  <a:srgbClr val="B5433E"/>
                </a:solidFill>
                <a:latin typeface="Calibri" pitchFamily="34" charset="0"/>
                <a:ea typeface="Calibri" pitchFamily="34" charset="-122"/>
                <a:cs typeface="Calibri" pitchFamily="34" charset="-120"/>
              </a:rPr>
              <a:t>The problem</a:t>
            </a:r>
            <a:endParaRPr lang="en-US" sz="1500" dirty="0"/>
          </a:p>
        </p:txBody>
      </p:sp>
      <p:sp>
        <p:nvSpPr>
          <p:cNvPr id="8" name="Text 6"/>
          <p:cNvSpPr/>
          <p:nvPr/>
        </p:nvSpPr>
        <p:spPr>
          <a:xfrm>
            <a:off x="868680" y="2377440"/>
            <a:ext cx="274320" cy="365760"/>
          </a:xfrm>
          <a:prstGeom prst="rect">
            <a:avLst/>
          </a:prstGeom>
          <a:noFill/>
          <a:ln/>
        </p:spPr>
        <p:txBody>
          <a:bodyPr wrap="square" rtlCol="0" anchor="ctr"/>
          <a:lstStyle/>
          <a:p>
            <a:pPr marL="0" indent="0">
              <a:buNone/>
            </a:pPr>
            <a:r>
              <a:rPr lang="en-US" sz="800" dirty="0">
                <a:solidFill>
                  <a:srgbClr val="B5433E"/>
                </a:solidFill>
                <a:latin typeface="Calibri" pitchFamily="34" charset="0"/>
                <a:ea typeface="Calibri" pitchFamily="34" charset="-122"/>
                <a:cs typeface="Calibri" pitchFamily="34" charset="-120"/>
              </a:rPr>
              <a:t>●</a:t>
            </a:r>
            <a:endParaRPr lang="en-US" sz="800" dirty="0"/>
          </a:p>
        </p:txBody>
      </p:sp>
      <p:sp>
        <p:nvSpPr>
          <p:cNvPr id="9" name="Text 7"/>
          <p:cNvSpPr/>
          <p:nvPr/>
        </p:nvSpPr>
        <p:spPr>
          <a:xfrm>
            <a:off x="1143000" y="2322576"/>
            <a:ext cx="4526280" cy="502920"/>
          </a:xfrm>
          <a:prstGeom prst="rect">
            <a:avLst/>
          </a:prstGeom>
          <a:noFill/>
          <a:ln/>
        </p:spPr>
        <p:txBody>
          <a:bodyPr wrap="square" rtlCol="0" anchor="ctr"/>
          <a:lstStyle/>
          <a:p>
            <a:pPr marL="0" indent="0">
              <a:lnSpc>
                <a:spcPct val="115000"/>
              </a:lnSpc>
              <a:buNone/>
            </a:pPr>
            <a:r>
              <a:rPr lang="en-US" sz="1200" dirty="0">
                <a:solidFill>
                  <a:srgbClr val="1B2340"/>
                </a:solidFill>
                <a:latin typeface="Calibri" pitchFamily="34" charset="0"/>
                <a:ea typeface="Calibri" pitchFamily="34" charset="-122"/>
                <a:cs typeface="Calibri" pitchFamily="34" charset="-120"/>
              </a:rPr>
              <a:t>Rising loan defaults erode portfolio value</a:t>
            </a:r>
            <a:endParaRPr lang="en-US" sz="1200" dirty="0"/>
          </a:p>
        </p:txBody>
      </p:sp>
      <p:sp>
        <p:nvSpPr>
          <p:cNvPr id="10" name="Text 8"/>
          <p:cNvSpPr/>
          <p:nvPr/>
        </p:nvSpPr>
        <p:spPr>
          <a:xfrm>
            <a:off x="868680" y="2999232"/>
            <a:ext cx="274320" cy="365760"/>
          </a:xfrm>
          <a:prstGeom prst="rect">
            <a:avLst/>
          </a:prstGeom>
          <a:noFill/>
          <a:ln/>
        </p:spPr>
        <p:txBody>
          <a:bodyPr wrap="square" rtlCol="0" anchor="ctr"/>
          <a:lstStyle/>
          <a:p>
            <a:pPr marL="0" indent="0">
              <a:buNone/>
            </a:pPr>
            <a:r>
              <a:rPr lang="en-US" sz="800" dirty="0">
                <a:solidFill>
                  <a:srgbClr val="B5433E"/>
                </a:solidFill>
                <a:latin typeface="Calibri" pitchFamily="34" charset="0"/>
                <a:ea typeface="Calibri" pitchFamily="34" charset="-122"/>
                <a:cs typeface="Calibri" pitchFamily="34" charset="-120"/>
              </a:rPr>
              <a:t>●</a:t>
            </a:r>
            <a:endParaRPr lang="en-US" sz="800" dirty="0"/>
          </a:p>
        </p:txBody>
      </p:sp>
      <p:sp>
        <p:nvSpPr>
          <p:cNvPr id="11" name="Text 9"/>
          <p:cNvSpPr/>
          <p:nvPr/>
        </p:nvSpPr>
        <p:spPr>
          <a:xfrm>
            <a:off x="1143000" y="2944368"/>
            <a:ext cx="4526280" cy="502920"/>
          </a:xfrm>
          <a:prstGeom prst="rect">
            <a:avLst/>
          </a:prstGeom>
          <a:noFill/>
          <a:ln/>
        </p:spPr>
        <p:txBody>
          <a:bodyPr wrap="square" rtlCol="0" anchor="ctr"/>
          <a:lstStyle/>
          <a:p>
            <a:pPr marL="0" indent="0">
              <a:lnSpc>
                <a:spcPct val="115000"/>
              </a:lnSpc>
              <a:buNone/>
            </a:pPr>
            <a:r>
              <a:rPr lang="en-US" sz="1200" dirty="0">
                <a:solidFill>
                  <a:srgbClr val="1B2340"/>
                </a:solidFill>
                <a:latin typeface="Calibri" pitchFamily="34" charset="0"/>
                <a:ea typeface="Calibri" pitchFamily="34" charset="-122"/>
                <a:cs typeface="Calibri" pitchFamily="34" charset="-120"/>
              </a:rPr>
              <a:t>Manual, spreadsheet-based reporting is slow and error-prone</a:t>
            </a:r>
            <a:endParaRPr lang="en-US" sz="1200" dirty="0"/>
          </a:p>
        </p:txBody>
      </p:sp>
      <p:sp>
        <p:nvSpPr>
          <p:cNvPr id="12" name="Text 10"/>
          <p:cNvSpPr/>
          <p:nvPr/>
        </p:nvSpPr>
        <p:spPr>
          <a:xfrm>
            <a:off x="868680" y="3621024"/>
            <a:ext cx="274320" cy="365760"/>
          </a:xfrm>
          <a:prstGeom prst="rect">
            <a:avLst/>
          </a:prstGeom>
          <a:noFill/>
          <a:ln/>
        </p:spPr>
        <p:txBody>
          <a:bodyPr wrap="square" rtlCol="0" anchor="ctr"/>
          <a:lstStyle/>
          <a:p>
            <a:pPr marL="0" indent="0">
              <a:buNone/>
            </a:pPr>
            <a:r>
              <a:rPr lang="en-US" sz="800" dirty="0">
                <a:solidFill>
                  <a:srgbClr val="B5433E"/>
                </a:solidFill>
                <a:latin typeface="Calibri" pitchFamily="34" charset="0"/>
                <a:ea typeface="Calibri" pitchFamily="34" charset="-122"/>
                <a:cs typeface="Calibri" pitchFamily="34" charset="-120"/>
              </a:rPr>
              <a:t>●</a:t>
            </a:r>
            <a:endParaRPr lang="en-US" sz="800" dirty="0"/>
          </a:p>
        </p:txBody>
      </p:sp>
      <p:sp>
        <p:nvSpPr>
          <p:cNvPr id="13" name="Text 11"/>
          <p:cNvSpPr/>
          <p:nvPr/>
        </p:nvSpPr>
        <p:spPr>
          <a:xfrm>
            <a:off x="1143000" y="3566160"/>
            <a:ext cx="4526280" cy="502920"/>
          </a:xfrm>
          <a:prstGeom prst="rect">
            <a:avLst/>
          </a:prstGeom>
          <a:noFill/>
          <a:ln/>
        </p:spPr>
        <p:txBody>
          <a:bodyPr wrap="square" rtlCol="0" anchor="ctr"/>
          <a:lstStyle/>
          <a:p>
            <a:pPr marL="0" indent="0">
              <a:lnSpc>
                <a:spcPct val="115000"/>
              </a:lnSpc>
              <a:buNone/>
            </a:pPr>
            <a:r>
              <a:rPr lang="en-US" sz="1200" dirty="0">
                <a:solidFill>
                  <a:srgbClr val="1B2340"/>
                </a:solidFill>
                <a:latin typeface="Calibri" pitchFamily="34" charset="0"/>
                <a:ea typeface="Calibri" pitchFamily="34" charset="-122"/>
                <a:cs typeface="Calibri" pitchFamily="34" charset="-120"/>
              </a:rPr>
              <a:t>Decisions lag behind real-world loan performance</a:t>
            </a:r>
            <a:endParaRPr lang="en-US" sz="1200" dirty="0"/>
          </a:p>
        </p:txBody>
      </p:sp>
      <p:sp>
        <p:nvSpPr>
          <p:cNvPr id="14" name="Text 12"/>
          <p:cNvSpPr/>
          <p:nvPr/>
        </p:nvSpPr>
        <p:spPr>
          <a:xfrm>
            <a:off x="868680" y="4242816"/>
            <a:ext cx="274320" cy="365760"/>
          </a:xfrm>
          <a:prstGeom prst="rect">
            <a:avLst/>
          </a:prstGeom>
          <a:noFill/>
          <a:ln/>
        </p:spPr>
        <p:txBody>
          <a:bodyPr wrap="square" rtlCol="0" anchor="ctr"/>
          <a:lstStyle/>
          <a:p>
            <a:pPr marL="0" indent="0">
              <a:buNone/>
            </a:pPr>
            <a:r>
              <a:rPr lang="en-US" sz="800" dirty="0">
                <a:solidFill>
                  <a:srgbClr val="B5433E"/>
                </a:solidFill>
                <a:latin typeface="Calibri" pitchFamily="34" charset="0"/>
                <a:ea typeface="Calibri" pitchFamily="34" charset="-122"/>
                <a:cs typeface="Calibri" pitchFamily="34" charset="-120"/>
              </a:rPr>
              <a:t>●</a:t>
            </a:r>
            <a:endParaRPr lang="en-US" sz="800" dirty="0"/>
          </a:p>
        </p:txBody>
      </p:sp>
      <p:sp>
        <p:nvSpPr>
          <p:cNvPr id="15" name="Text 13"/>
          <p:cNvSpPr/>
          <p:nvPr/>
        </p:nvSpPr>
        <p:spPr>
          <a:xfrm>
            <a:off x="1143000" y="4187952"/>
            <a:ext cx="4526280" cy="502920"/>
          </a:xfrm>
          <a:prstGeom prst="rect">
            <a:avLst/>
          </a:prstGeom>
          <a:noFill/>
          <a:ln/>
        </p:spPr>
        <p:txBody>
          <a:bodyPr wrap="square" rtlCol="0" anchor="ctr"/>
          <a:lstStyle/>
          <a:p>
            <a:pPr marL="0" indent="0">
              <a:lnSpc>
                <a:spcPct val="115000"/>
              </a:lnSpc>
              <a:buNone/>
            </a:pPr>
            <a:r>
              <a:rPr lang="en-US" sz="1200" dirty="0">
                <a:solidFill>
                  <a:srgbClr val="1B2340"/>
                </a:solidFill>
                <a:latin typeface="Calibri" pitchFamily="34" charset="0"/>
                <a:ea typeface="Calibri" pitchFamily="34" charset="-122"/>
                <a:cs typeface="Calibri" pitchFamily="34" charset="-120"/>
              </a:rPr>
              <a:t>Limited real-time insight into risk concentration</a:t>
            </a:r>
            <a:endParaRPr lang="en-US" sz="1200" dirty="0"/>
          </a:p>
        </p:txBody>
      </p:sp>
      <p:sp>
        <p:nvSpPr>
          <p:cNvPr id="16" name="Text 14"/>
          <p:cNvSpPr/>
          <p:nvPr/>
        </p:nvSpPr>
        <p:spPr>
          <a:xfrm>
            <a:off x="868680" y="4864608"/>
            <a:ext cx="274320" cy="365760"/>
          </a:xfrm>
          <a:prstGeom prst="rect">
            <a:avLst/>
          </a:prstGeom>
          <a:noFill/>
          <a:ln/>
        </p:spPr>
        <p:txBody>
          <a:bodyPr wrap="square" rtlCol="0" anchor="ctr"/>
          <a:lstStyle/>
          <a:p>
            <a:pPr marL="0" indent="0">
              <a:buNone/>
            </a:pPr>
            <a:r>
              <a:rPr lang="en-US" sz="800" dirty="0">
                <a:solidFill>
                  <a:srgbClr val="B5433E"/>
                </a:solidFill>
                <a:latin typeface="Calibri" pitchFamily="34" charset="0"/>
                <a:ea typeface="Calibri" pitchFamily="34" charset="-122"/>
                <a:cs typeface="Calibri" pitchFamily="34" charset="-120"/>
              </a:rPr>
              <a:t>●</a:t>
            </a:r>
            <a:endParaRPr lang="en-US" sz="800" dirty="0"/>
          </a:p>
        </p:txBody>
      </p:sp>
      <p:sp>
        <p:nvSpPr>
          <p:cNvPr id="17" name="Text 15"/>
          <p:cNvSpPr/>
          <p:nvPr/>
        </p:nvSpPr>
        <p:spPr>
          <a:xfrm>
            <a:off x="1143000" y="4809744"/>
            <a:ext cx="4526280" cy="502920"/>
          </a:xfrm>
          <a:prstGeom prst="rect">
            <a:avLst/>
          </a:prstGeom>
          <a:noFill/>
          <a:ln/>
        </p:spPr>
        <p:txBody>
          <a:bodyPr wrap="square" rtlCol="0" anchor="ctr"/>
          <a:lstStyle/>
          <a:p>
            <a:pPr marL="0" indent="0">
              <a:lnSpc>
                <a:spcPct val="115000"/>
              </a:lnSpc>
              <a:buNone/>
            </a:pPr>
            <a:r>
              <a:rPr lang="en-US" sz="1200" dirty="0">
                <a:solidFill>
                  <a:srgbClr val="1B2340"/>
                </a:solidFill>
                <a:latin typeface="Calibri" pitchFamily="34" charset="0"/>
                <a:ea typeface="Calibri" pitchFamily="34" charset="-122"/>
                <a:cs typeface="Calibri" pitchFamily="34" charset="-120"/>
              </a:rPr>
              <a:t>High-risk borrower segments are hard to isolate</a:t>
            </a:r>
            <a:endParaRPr lang="en-US" sz="1200" dirty="0"/>
          </a:p>
        </p:txBody>
      </p:sp>
      <p:sp>
        <p:nvSpPr>
          <p:cNvPr id="18" name="Text 16"/>
          <p:cNvSpPr/>
          <p:nvPr/>
        </p:nvSpPr>
        <p:spPr>
          <a:xfrm>
            <a:off x="868680" y="5486400"/>
            <a:ext cx="274320" cy="365760"/>
          </a:xfrm>
          <a:prstGeom prst="rect">
            <a:avLst/>
          </a:prstGeom>
          <a:noFill/>
          <a:ln/>
        </p:spPr>
        <p:txBody>
          <a:bodyPr wrap="square" rtlCol="0" anchor="ctr"/>
          <a:lstStyle/>
          <a:p>
            <a:pPr marL="0" indent="0">
              <a:buNone/>
            </a:pPr>
            <a:r>
              <a:rPr lang="en-US" sz="800" dirty="0">
                <a:solidFill>
                  <a:srgbClr val="B5433E"/>
                </a:solidFill>
                <a:latin typeface="Calibri" pitchFamily="34" charset="0"/>
                <a:ea typeface="Calibri" pitchFamily="34" charset="-122"/>
                <a:cs typeface="Calibri" pitchFamily="34" charset="-120"/>
              </a:rPr>
              <a:t>●</a:t>
            </a:r>
            <a:endParaRPr lang="en-US" sz="800" dirty="0"/>
          </a:p>
        </p:txBody>
      </p:sp>
      <p:sp>
        <p:nvSpPr>
          <p:cNvPr id="19" name="Text 17"/>
          <p:cNvSpPr/>
          <p:nvPr/>
        </p:nvSpPr>
        <p:spPr>
          <a:xfrm>
            <a:off x="1143000" y="5431536"/>
            <a:ext cx="4526280" cy="502920"/>
          </a:xfrm>
          <a:prstGeom prst="rect">
            <a:avLst/>
          </a:prstGeom>
          <a:noFill/>
          <a:ln/>
        </p:spPr>
        <p:txBody>
          <a:bodyPr wrap="square" rtlCol="0" anchor="ctr"/>
          <a:lstStyle/>
          <a:p>
            <a:pPr marL="0" indent="0">
              <a:lnSpc>
                <a:spcPct val="115000"/>
              </a:lnSpc>
              <a:buNone/>
            </a:pPr>
            <a:r>
              <a:rPr lang="en-US" sz="1200" dirty="0">
                <a:solidFill>
                  <a:srgbClr val="1B2340"/>
                </a:solidFill>
                <a:latin typeface="Calibri" pitchFamily="34" charset="0"/>
                <a:ea typeface="Calibri" pitchFamily="34" charset="-122"/>
                <a:cs typeface="Calibri" pitchFamily="34" charset="-120"/>
              </a:rPr>
              <a:t>Portfolio performance is fragmented across teams</a:t>
            </a:r>
            <a:endParaRPr lang="en-US" sz="1200" dirty="0"/>
          </a:p>
        </p:txBody>
      </p:sp>
      <p:sp>
        <p:nvSpPr>
          <p:cNvPr id="20" name="Shape 18"/>
          <p:cNvSpPr/>
          <p:nvPr/>
        </p:nvSpPr>
        <p:spPr>
          <a:xfrm>
            <a:off x="6263640" y="1508760"/>
            <a:ext cx="5349240" cy="4663440"/>
          </a:xfrm>
          <a:prstGeom prst="roundRect">
            <a:avLst>
              <a:gd name="adj" fmla="val 1569"/>
            </a:avLst>
          </a:prstGeom>
          <a:solidFill>
            <a:srgbClr val="1E2761"/>
          </a:solidFill>
          <a:ln/>
        </p:spPr>
      </p:sp>
      <p:sp>
        <p:nvSpPr>
          <p:cNvPr id="21" name="Shape 19"/>
          <p:cNvSpPr/>
          <p:nvPr/>
        </p:nvSpPr>
        <p:spPr>
          <a:xfrm>
            <a:off x="6583680" y="1783080"/>
            <a:ext cx="411480" cy="411480"/>
          </a:xfrm>
          <a:prstGeom prst="ellipse">
            <a:avLst/>
          </a:prstGeom>
          <a:solidFill>
            <a:srgbClr val="C9A227"/>
          </a:solidFill>
          <a:ln/>
        </p:spPr>
      </p:sp>
      <p:sp>
        <p:nvSpPr>
          <p:cNvPr id="22" name="Text 20"/>
          <p:cNvSpPr/>
          <p:nvPr/>
        </p:nvSpPr>
        <p:spPr>
          <a:xfrm>
            <a:off x="6583680" y="1783080"/>
            <a:ext cx="411480" cy="411480"/>
          </a:xfrm>
          <a:prstGeom prst="rect">
            <a:avLst/>
          </a:prstGeom>
          <a:noFill/>
          <a:ln/>
        </p:spPr>
        <p:txBody>
          <a:bodyPr wrap="square" lIns="0" tIns="0" rIns="0" bIns="0" rtlCol="0" anchor="ctr"/>
          <a:lstStyle/>
          <a:p>
            <a:pPr marL="0" indent="0" algn="ctr">
              <a:buNone/>
            </a:pPr>
            <a:r>
              <a:rPr lang="en-US" sz="1800" b="1" dirty="0">
                <a:solidFill>
                  <a:srgbClr val="141B44"/>
                </a:solidFill>
                <a:latin typeface="Calibri" pitchFamily="34" charset="0"/>
                <a:ea typeface="Calibri" pitchFamily="34" charset="-122"/>
                <a:cs typeface="Calibri" pitchFamily="34" charset="-120"/>
              </a:rPr>
              <a:t>✓</a:t>
            </a:r>
            <a:endParaRPr lang="en-US" sz="1800" dirty="0"/>
          </a:p>
        </p:txBody>
      </p:sp>
      <p:sp>
        <p:nvSpPr>
          <p:cNvPr id="23" name="Text 21"/>
          <p:cNvSpPr/>
          <p:nvPr/>
        </p:nvSpPr>
        <p:spPr>
          <a:xfrm>
            <a:off x="7132320" y="1810512"/>
            <a:ext cx="4297680" cy="365760"/>
          </a:xfrm>
          <a:prstGeom prst="rect">
            <a:avLst/>
          </a:prstGeom>
          <a:noFill/>
          <a:ln/>
        </p:spPr>
        <p:txBody>
          <a:bodyPr wrap="square" rtlCol="0" anchor="ctr"/>
          <a:lstStyle/>
          <a:p>
            <a:pPr marL="0" indent="0">
              <a:buNone/>
            </a:pPr>
            <a:r>
              <a:rPr lang="en-US" sz="1500" b="1" dirty="0">
                <a:solidFill>
                  <a:srgbClr val="C9A227"/>
                </a:solidFill>
                <a:latin typeface="Calibri" pitchFamily="34" charset="0"/>
                <a:ea typeface="Calibri" pitchFamily="34" charset="-122"/>
                <a:cs typeface="Calibri" pitchFamily="34" charset="-120"/>
              </a:rPr>
              <a:t>The analytics solution</a:t>
            </a:r>
            <a:endParaRPr lang="en-US" sz="1500" dirty="0"/>
          </a:p>
        </p:txBody>
      </p:sp>
      <p:sp>
        <p:nvSpPr>
          <p:cNvPr id="24" name="Text 22"/>
          <p:cNvSpPr/>
          <p:nvPr/>
        </p:nvSpPr>
        <p:spPr>
          <a:xfrm>
            <a:off x="6583680" y="2377440"/>
            <a:ext cx="274320" cy="365760"/>
          </a:xfrm>
          <a:prstGeom prst="rect">
            <a:avLst/>
          </a:prstGeom>
          <a:noFill/>
          <a:ln/>
        </p:spPr>
        <p:txBody>
          <a:bodyPr wrap="square" rtlCol="0" anchor="ctr"/>
          <a:lstStyle/>
          <a:p>
            <a:pPr marL="0" indent="0">
              <a:buNone/>
            </a:pPr>
            <a:r>
              <a:rPr lang="en-US" sz="800" dirty="0">
                <a:solidFill>
                  <a:srgbClr val="C9A227"/>
                </a:solidFill>
                <a:latin typeface="Calibri" pitchFamily="34" charset="0"/>
                <a:ea typeface="Calibri" pitchFamily="34" charset="-122"/>
                <a:cs typeface="Calibri" pitchFamily="34" charset="-120"/>
              </a:rPr>
              <a:t>●</a:t>
            </a:r>
            <a:endParaRPr lang="en-US" sz="800" dirty="0"/>
          </a:p>
        </p:txBody>
      </p:sp>
      <p:sp>
        <p:nvSpPr>
          <p:cNvPr id="25" name="Text 23"/>
          <p:cNvSpPr/>
          <p:nvPr/>
        </p:nvSpPr>
        <p:spPr>
          <a:xfrm>
            <a:off x="6858000" y="2322576"/>
            <a:ext cx="4617720" cy="502920"/>
          </a:xfrm>
          <a:prstGeom prst="rect">
            <a:avLst/>
          </a:prstGeom>
          <a:noFill/>
          <a:ln/>
        </p:spPr>
        <p:txBody>
          <a:bodyPr wrap="square" rtlCol="0" anchor="ctr"/>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SQL-validated KPIs give one trusted number for every metric</a:t>
            </a:r>
            <a:endParaRPr lang="en-US" sz="1200" dirty="0"/>
          </a:p>
        </p:txBody>
      </p:sp>
      <p:sp>
        <p:nvSpPr>
          <p:cNvPr id="26" name="Text 24"/>
          <p:cNvSpPr/>
          <p:nvPr/>
        </p:nvSpPr>
        <p:spPr>
          <a:xfrm>
            <a:off x="6583680" y="2999232"/>
            <a:ext cx="274320" cy="365760"/>
          </a:xfrm>
          <a:prstGeom prst="rect">
            <a:avLst/>
          </a:prstGeom>
          <a:noFill/>
          <a:ln/>
        </p:spPr>
        <p:txBody>
          <a:bodyPr wrap="square" rtlCol="0" anchor="ctr"/>
          <a:lstStyle/>
          <a:p>
            <a:pPr marL="0" indent="0">
              <a:buNone/>
            </a:pPr>
            <a:r>
              <a:rPr lang="en-US" sz="800" dirty="0">
                <a:solidFill>
                  <a:srgbClr val="C9A227"/>
                </a:solidFill>
                <a:latin typeface="Calibri" pitchFamily="34" charset="0"/>
                <a:ea typeface="Calibri" pitchFamily="34" charset="-122"/>
                <a:cs typeface="Calibri" pitchFamily="34" charset="-120"/>
              </a:rPr>
              <a:t>●</a:t>
            </a:r>
            <a:endParaRPr lang="en-US" sz="800" dirty="0"/>
          </a:p>
        </p:txBody>
      </p:sp>
      <p:sp>
        <p:nvSpPr>
          <p:cNvPr id="27" name="Text 25"/>
          <p:cNvSpPr/>
          <p:nvPr/>
        </p:nvSpPr>
        <p:spPr>
          <a:xfrm>
            <a:off x="6858000" y="2944368"/>
            <a:ext cx="4617720" cy="502920"/>
          </a:xfrm>
          <a:prstGeom prst="rect">
            <a:avLst/>
          </a:prstGeom>
          <a:noFill/>
          <a:ln/>
        </p:spPr>
        <p:txBody>
          <a:bodyPr wrap="square" rtlCol="0" anchor="ctr"/>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Power BI automates reporting — refresh replaces re-building</a:t>
            </a:r>
            <a:endParaRPr lang="en-US" sz="1200" dirty="0"/>
          </a:p>
        </p:txBody>
      </p:sp>
      <p:sp>
        <p:nvSpPr>
          <p:cNvPr id="28" name="Text 26"/>
          <p:cNvSpPr/>
          <p:nvPr/>
        </p:nvSpPr>
        <p:spPr>
          <a:xfrm>
            <a:off x="6583680" y="3621024"/>
            <a:ext cx="274320" cy="365760"/>
          </a:xfrm>
          <a:prstGeom prst="rect">
            <a:avLst/>
          </a:prstGeom>
          <a:noFill/>
          <a:ln/>
        </p:spPr>
        <p:txBody>
          <a:bodyPr wrap="square" rtlCol="0" anchor="ctr"/>
          <a:lstStyle/>
          <a:p>
            <a:pPr marL="0" indent="0">
              <a:buNone/>
            </a:pPr>
            <a:r>
              <a:rPr lang="en-US" sz="800" dirty="0">
                <a:solidFill>
                  <a:srgbClr val="C9A227"/>
                </a:solidFill>
                <a:latin typeface="Calibri" pitchFamily="34" charset="0"/>
                <a:ea typeface="Calibri" pitchFamily="34" charset="-122"/>
                <a:cs typeface="Calibri" pitchFamily="34" charset="-120"/>
              </a:rPr>
              <a:t>●</a:t>
            </a:r>
            <a:endParaRPr lang="en-US" sz="800" dirty="0"/>
          </a:p>
        </p:txBody>
      </p:sp>
      <p:sp>
        <p:nvSpPr>
          <p:cNvPr id="29" name="Text 27"/>
          <p:cNvSpPr/>
          <p:nvPr/>
        </p:nvSpPr>
        <p:spPr>
          <a:xfrm>
            <a:off x="6858000" y="3566160"/>
            <a:ext cx="4617720" cy="502920"/>
          </a:xfrm>
          <a:prstGeom prst="rect">
            <a:avLst/>
          </a:prstGeom>
          <a:noFill/>
          <a:ln/>
        </p:spPr>
        <p:txBody>
          <a:bodyPr wrap="square" rtlCol="0" anchor="ctr"/>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MTD / MoM tracking flags shifts as they happen</a:t>
            </a:r>
            <a:endParaRPr lang="en-US" sz="1200" dirty="0"/>
          </a:p>
        </p:txBody>
      </p:sp>
      <p:sp>
        <p:nvSpPr>
          <p:cNvPr id="30" name="Text 28"/>
          <p:cNvSpPr/>
          <p:nvPr/>
        </p:nvSpPr>
        <p:spPr>
          <a:xfrm>
            <a:off x="6583680" y="4242816"/>
            <a:ext cx="274320" cy="365760"/>
          </a:xfrm>
          <a:prstGeom prst="rect">
            <a:avLst/>
          </a:prstGeom>
          <a:noFill/>
          <a:ln/>
        </p:spPr>
        <p:txBody>
          <a:bodyPr wrap="square" rtlCol="0" anchor="ctr"/>
          <a:lstStyle/>
          <a:p>
            <a:pPr marL="0" indent="0">
              <a:buNone/>
            </a:pPr>
            <a:r>
              <a:rPr lang="en-US" sz="800" dirty="0">
                <a:solidFill>
                  <a:srgbClr val="C9A227"/>
                </a:solidFill>
                <a:latin typeface="Calibri" pitchFamily="34" charset="0"/>
                <a:ea typeface="Calibri" pitchFamily="34" charset="-122"/>
                <a:cs typeface="Calibri" pitchFamily="34" charset="-120"/>
              </a:rPr>
              <a:t>●</a:t>
            </a:r>
            <a:endParaRPr lang="en-US" sz="800" dirty="0"/>
          </a:p>
        </p:txBody>
      </p:sp>
      <p:sp>
        <p:nvSpPr>
          <p:cNvPr id="31" name="Text 29"/>
          <p:cNvSpPr/>
          <p:nvPr/>
        </p:nvSpPr>
        <p:spPr>
          <a:xfrm>
            <a:off x="6858000" y="4187952"/>
            <a:ext cx="4617720" cy="502920"/>
          </a:xfrm>
          <a:prstGeom prst="rect">
            <a:avLst/>
          </a:prstGeom>
          <a:noFill/>
          <a:ln/>
        </p:spPr>
        <p:txBody>
          <a:bodyPr wrap="square" rtlCol="0" anchor="ctr"/>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Good vs Bad loan split quantifies risk in real time</a:t>
            </a:r>
            <a:endParaRPr lang="en-US" sz="1200" dirty="0"/>
          </a:p>
        </p:txBody>
      </p:sp>
      <p:sp>
        <p:nvSpPr>
          <p:cNvPr id="32" name="Text 30"/>
          <p:cNvSpPr/>
          <p:nvPr/>
        </p:nvSpPr>
        <p:spPr>
          <a:xfrm>
            <a:off x="6583680" y="4864608"/>
            <a:ext cx="274320" cy="365760"/>
          </a:xfrm>
          <a:prstGeom prst="rect">
            <a:avLst/>
          </a:prstGeom>
          <a:noFill/>
          <a:ln/>
        </p:spPr>
        <p:txBody>
          <a:bodyPr wrap="square" rtlCol="0" anchor="ctr"/>
          <a:lstStyle/>
          <a:p>
            <a:pPr marL="0" indent="0">
              <a:buNone/>
            </a:pPr>
            <a:r>
              <a:rPr lang="en-US" sz="800" dirty="0">
                <a:solidFill>
                  <a:srgbClr val="C9A227"/>
                </a:solidFill>
                <a:latin typeface="Calibri" pitchFamily="34" charset="0"/>
                <a:ea typeface="Calibri" pitchFamily="34" charset="-122"/>
                <a:cs typeface="Calibri" pitchFamily="34" charset="-120"/>
              </a:rPr>
              <a:t>●</a:t>
            </a:r>
            <a:endParaRPr lang="en-US" sz="800" dirty="0"/>
          </a:p>
        </p:txBody>
      </p:sp>
      <p:sp>
        <p:nvSpPr>
          <p:cNvPr id="33" name="Text 31"/>
          <p:cNvSpPr/>
          <p:nvPr/>
        </p:nvSpPr>
        <p:spPr>
          <a:xfrm>
            <a:off x="6858000" y="4809744"/>
            <a:ext cx="4617720" cy="502920"/>
          </a:xfrm>
          <a:prstGeom prst="rect">
            <a:avLst/>
          </a:prstGeom>
          <a:noFill/>
          <a:ln/>
        </p:spPr>
        <p:txBody>
          <a:bodyPr wrap="square" rtlCol="0" anchor="ctr"/>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Grade, purpose, and term breakdowns isolate risk drivers</a:t>
            </a:r>
            <a:endParaRPr lang="en-US" sz="1200" dirty="0"/>
          </a:p>
        </p:txBody>
      </p:sp>
      <p:sp>
        <p:nvSpPr>
          <p:cNvPr id="34" name="Text 32"/>
          <p:cNvSpPr/>
          <p:nvPr/>
        </p:nvSpPr>
        <p:spPr>
          <a:xfrm>
            <a:off x="6583680" y="5486400"/>
            <a:ext cx="274320" cy="365760"/>
          </a:xfrm>
          <a:prstGeom prst="rect">
            <a:avLst/>
          </a:prstGeom>
          <a:noFill/>
          <a:ln/>
        </p:spPr>
        <p:txBody>
          <a:bodyPr wrap="square" rtlCol="0" anchor="ctr"/>
          <a:lstStyle/>
          <a:p>
            <a:pPr marL="0" indent="0">
              <a:buNone/>
            </a:pPr>
            <a:r>
              <a:rPr lang="en-US" sz="800" dirty="0">
                <a:solidFill>
                  <a:srgbClr val="C9A227"/>
                </a:solidFill>
                <a:latin typeface="Calibri" pitchFamily="34" charset="0"/>
                <a:ea typeface="Calibri" pitchFamily="34" charset="-122"/>
                <a:cs typeface="Calibri" pitchFamily="34" charset="-120"/>
              </a:rPr>
              <a:t>●</a:t>
            </a:r>
            <a:endParaRPr lang="en-US" sz="800" dirty="0"/>
          </a:p>
        </p:txBody>
      </p:sp>
      <p:sp>
        <p:nvSpPr>
          <p:cNvPr id="35" name="Text 33"/>
          <p:cNvSpPr/>
          <p:nvPr/>
        </p:nvSpPr>
        <p:spPr>
          <a:xfrm>
            <a:off x="6858000" y="5431536"/>
            <a:ext cx="4617720" cy="502920"/>
          </a:xfrm>
          <a:prstGeom prst="rect">
            <a:avLst/>
          </a:prstGeom>
          <a:noFill/>
          <a:ln/>
        </p:spPr>
        <p:txBody>
          <a:bodyPr wrap="square" rtlCol="0" anchor="ctr"/>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One interactive report, shared across every stakeholder</a:t>
            </a:r>
            <a:endParaRPr lang="en-US" sz="1200" dirty="0"/>
          </a:p>
        </p:txBody>
      </p:sp>
      <p:sp>
        <p:nvSpPr>
          <p:cNvPr id="36" name="Text 34"/>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5B6B8C"/>
                </a:solidFill>
                <a:latin typeface="Calibri" pitchFamily="34" charset="0"/>
                <a:ea typeface="Calibri" pitchFamily="34" charset="-122"/>
                <a:cs typeface="Calibri" pitchFamily="34" charset="-120"/>
              </a:rPr>
              <a:t>Bank Loan Report Analysis</a:t>
            </a:r>
            <a:endParaRPr lang="en-US" sz="900" dirty="0"/>
          </a:p>
        </p:txBody>
      </p:sp>
      <p:sp>
        <p:nvSpPr>
          <p:cNvPr id="37" name="Text 35"/>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5B6B8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3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PROJECT OBJECTIVES</a:t>
            </a:r>
            <a:endParaRPr lang="en-US" sz="1200" dirty="0"/>
          </a:p>
        </p:txBody>
      </p:sp>
      <p:sp>
        <p:nvSpPr>
          <p:cNvPr id="3" name="Text 1"/>
          <p:cNvSpPr/>
          <p:nvPr/>
        </p:nvSpPr>
        <p:spPr>
          <a:xfrm>
            <a:off x="548640" y="713232"/>
            <a:ext cx="8229600" cy="548640"/>
          </a:xfrm>
          <a:prstGeom prst="rect">
            <a:avLst/>
          </a:prstGeom>
          <a:noFill/>
          <a:ln/>
        </p:spPr>
        <p:txBody>
          <a:bodyPr wrap="square" rtlCol="0" anchor="ctr"/>
          <a:lstStyle/>
          <a:p>
            <a:pPr marL="0" indent="0">
              <a:buNone/>
            </a:pPr>
            <a:r>
              <a:rPr lang="en-US" sz="2700" b="1" dirty="0">
                <a:solidFill>
                  <a:srgbClr val="1B2340"/>
                </a:solidFill>
                <a:latin typeface="Cambria" pitchFamily="34" charset="0"/>
                <a:ea typeface="Cambria" pitchFamily="34" charset="-122"/>
                <a:cs typeface="Cambria" pitchFamily="34" charset="-120"/>
              </a:rPr>
              <a:t>What this project set out to do</a:t>
            </a:r>
            <a:endParaRPr lang="en-US" sz="2700" dirty="0"/>
          </a:p>
        </p:txBody>
      </p:sp>
      <p:sp>
        <p:nvSpPr>
          <p:cNvPr id="4" name="Shape 2"/>
          <p:cNvSpPr/>
          <p:nvPr/>
        </p:nvSpPr>
        <p:spPr>
          <a:xfrm>
            <a:off x="548640" y="1508760"/>
            <a:ext cx="2651760" cy="1965960"/>
          </a:xfrm>
          <a:prstGeom prst="roundRect">
            <a:avLst>
              <a:gd name="adj" fmla="val 3721"/>
            </a:avLst>
          </a:prstGeom>
          <a:solidFill>
            <a:srgbClr val="FFFFFF"/>
          </a:solidFill>
          <a:ln/>
          <a:effectLst>
            <a:outerShdw blurRad="76200" dist="25400" dir="5400000" algn="bl" rotWithShape="0">
              <a:srgbClr val="1B2340">
                <a:alpha val="12000"/>
              </a:srgbClr>
            </a:outerShdw>
          </a:effectLst>
        </p:spPr>
      </p:sp>
      <p:sp>
        <p:nvSpPr>
          <p:cNvPr id="5" name="Shape 3"/>
          <p:cNvSpPr/>
          <p:nvPr/>
        </p:nvSpPr>
        <p:spPr>
          <a:xfrm>
            <a:off x="749808" y="1709928"/>
            <a:ext cx="457200" cy="457200"/>
          </a:xfrm>
          <a:prstGeom prst="ellipse">
            <a:avLst/>
          </a:prstGeom>
          <a:solidFill>
            <a:srgbClr val="1E2761"/>
          </a:solidFill>
          <a:ln/>
        </p:spPr>
      </p:sp>
      <p:sp>
        <p:nvSpPr>
          <p:cNvPr id="6" name="Text 4"/>
          <p:cNvSpPr/>
          <p:nvPr/>
        </p:nvSpPr>
        <p:spPr>
          <a:xfrm>
            <a:off x="749808" y="170992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731520" y="2295144"/>
            <a:ext cx="2286000" cy="502920"/>
          </a:xfrm>
          <a:prstGeom prst="rect">
            <a:avLst/>
          </a:prstGeom>
          <a:noFill/>
          <a:ln/>
        </p:spPr>
        <p:txBody>
          <a:bodyPr wrap="square" rtlCol="0" anchor="ctr"/>
          <a:lstStyle/>
          <a:p>
            <a:pPr marL="0" indent="0">
              <a:lnSpc>
                <a:spcPct val="110000"/>
              </a:lnSpc>
              <a:buNone/>
            </a:pPr>
            <a:r>
              <a:rPr lang="en-US" sz="1250" b="1" dirty="0">
                <a:solidFill>
                  <a:srgbClr val="1B2340"/>
                </a:solidFill>
                <a:latin typeface="Calibri" pitchFamily="34" charset="0"/>
                <a:ea typeface="Calibri" pitchFamily="34" charset="-122"/>
                <a:cs typeface="Calibri" pitchFamily="34" charset="-120"/>
              </a:rPr>
              <a:t>Analyze applications</a:t>
            </a:r>
            <a:endParaRPr lang="en-US" sz="1250" dirty="0"/>
          </a:p>
        </p:txBody>
      </p:sp>
      <p:sp>
        <p:nvSpPr>
          <p:cNvPr id="8" name="Text 6"/>
          <p:cNvSpPr/>
          <p:nvPr/>
        </p:nvSpPr>
        <p:spPr>
          <a:xfrm>
            <a:off x="731520" y="2743200"/>
            <a:ext cx="2286000" cy="594360"/>
          </a:xfrm>
          <a:prstGeom prst="rect">
            <a:avLst/>
          </a:prstGeom>
          <a:noFill/>
          <a:ln/>
        </p:spPr>
        <p:txBody>
          <a:bodyPr wrap="square" rtlCol="0" anchor="ctr"/>
          <a:lstStyle/>
          <a:p>
            <a:pPr marL="0" indent="0">
              <a:lnSpc>
                <a:spcPct val="115000"/>
              </a:lnSpc>
              <a:buNone/>
            </a:pPr>
            <a:r>
              <a:rPr lang="en-US" sz="950" dirty="0">
                <a:solidFill>
                  <a:srgbClr val="5B6B8C"/>
                </a:solidFill>
                <a:latin typeface="Calibri" pitchFamily="34" charset="0"/>
                <a:ea typeface="Calibri" pitchFamily="34" charset="-122"/>
                <a:cs typeface="Calibri" pitchFamily="34" charset="-120"/>
              </a:rPr>
              <a:t>Track volume and composition of loan applications</a:t>
            </a:r>
            <a:endParaRPr lang="en-US" sz="950" dirty="0"/>
          </a:p>
        </p:txBody>
      </p:sp>
      <p:sp>
        <p:nvSpPr>
          <p:cNvPr id="9" name="Shape 7"/>
          <p:cNvSpPr/>
          <p:nvPr/>
        </p:nvSpPr>
        <p:spPr>
          <a:xfrm>
            <a:off x="3364992" y="1508760"/>
            <a:ext cx="2651760" cy="1965960"/>
          </a:xfrm>
          <a:prstGeom prst="roundRect">
            <a:avLst>
              <a:gd name="adj" fmla="val 3721"/>
            </a:avLst>
          </a:prstGeom>
          <a:solidFill>
            <a:srgbClr val="FFFFFF"/>
          </a:solidFill>
          <a:ln/>
          <a:effectLst>
            <a:outerShdw blurRad="76200" dist="25400" dir="5400000" algn="bl" rotWithShape="0">
              <a:srgbClr val="1B2340">
                <a:alpha val="12000"/>
              </a:srgbClr>
            </a:outerShdw>
          </a:effectLst>
        </p:spPr>
      </p:sp>
      <p:sp>
        <p:nvSpPr>
          <p:cNvPr id="10" name="Shape 8"/>
          <p:cNvSpPr/>
          <p:nvPr/>
        </p:nvSpPr>
        <p:spPr>
          <a:xfrm>
            <a:off x="3566160" y="1709928"/>
            <a:ext cx="457200" cy="457200"/>
          </a:xfrm>
          <a:prstGeom prst="ellipse">
            <a:avLst/>
          </a:prstGeom>
          <a:solidFill>
            <a:srgbClr val="1E2761"/>
          </a:solidFill>
          <a:ln/>
        </p:spPr>
      </p:sp>
      <p:sp>
        <p:nvSpPr>
          <p:cNvPr id="11" name="Text 9"/>
          <p:cNvSpPr/>
          <p:nvPr/>
        </p:nvSpPr>
        <p:spPr>
          <a:xfrm>
            <a:off x="3566160" y="170992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3547872" y="2295144"/>
            <a:ext cx="2286000" cy="502920"/>
          </a:xfrm>
          <a:prstGeom prst="rect">
            <a:avLst/>
          </a:prstGeom>
          <a:noFill/>
          <a:ln/>
        </p:spPr>
        <p:txBody>
          <a:bodyPr wrap="square" rtlCol="0" anchor="ctr"/>
          <a:lstStyle/>
          <a:p>
            <a:pPr marL="0" indent="0">
              <a:lnSpc>
                <a:spcPct val="110000"/>
              </a:lnSpc>
              <a:buNone/>
            </a:pPr>
            <a:r>
              <a:rPr lang="en-US" sz="1250" b="1" dirty="0">
                <a:solidFill>
                  <a:srgbClr val="1B2340"/>
                </a:solidFill>
                <a:latin typeface="Calibri" pitchFamily="34" charset="0"/>
                <a:ea typeface="Calibri" pitchFamily="34" charset="-122"/>
                <a:cs typeface="Calibri" pitchFamily="34" charset="-120"/>
              </a:rPr>
              <a:t>Track funded amounts</a:t>
            </a:r>
            <a:endParaRPr lang="en-US" sz="1250" dirty="0"/>
          </a:p>
        </p:txBody>
      </p:sp>
      <p:sp>
        <p:nvSpPr>
          <p:cNvPr id="13" name="Text 11"/>
          <p:cNvSpPr/>
          <p:nvPr/>
        </p:nvSpPr>
        <p:spPr>
          <a:xfrm>
            <a:off x="3547872" y="2743200"/>
            <a:ext cx="2286000" cy="594360"/>
          </a:xfrm>
          <a:prstGeom prst="rect">
            <a:avLst/>
          </a:prstGeom>
          <a:noFill/>
          <a:ln/>
        </p:spPr>
        <p:txBody>
          <a:bodyPr wrap="square" rtlCol="0" anchor="ctr"/>
          <a:lstStyle/>
          <a:p>
            <a:pPr marL="0" indent="0">
              <a:lnSpc>
                <a:spcPct val="115000"/>
              </a:lnSpc>
              <a:buNone/>
            </a:pPr>
            <a:r>
              <a:rPr lang="en-US" sz="950" dirty="0">
                <a:solidFill>
                  <a:srgbClr val="5B6B8C"/>
                </a:solidFill>
                <a:latin typeface="Calibri" pitchFamily="34" charset="0"/>
                <a:ea typeface="Calibri" pitchFamily="34" charset="-122"/>
                <a:cs typeface="Calibri" pitchFamily="34" charset="-120"/>
              </a:rPr>
              <a:t>Measure capital deployed across the portfolio</a:t>
            </a:r>
            <a:endParaRPr lang="en-US" sz="950" dirty="0"/>
          </a:p>
        </p:txBody>
      </p:sp>
      <p:sp>
        <p:nvSpPr>
          <p:cNvPr id="14" name="Shape 12"/>
          <p:cNvSpPr/>
          <p:nvPr/>
        </p:nvSpPr>
        <p:spPr>
          <a:xfrm>
            <a:off x="6181344" y="1508760"/>
            <a:ext cx="2651760" cy="1965960"/>
          </a:xfrm>
          <a:prstGeom prst="roundRect">
            <a:avLst>
              <a:gd name="adj" fmla="val 3721"/>
            </a:avLst>
          </a:prstGeom>
          <a:solidFill>
            <a:srgbClr val="FFFFFF"/>
          </a:solidFill>
          <a:ln/>
          <a:effectLst>
            <a:outerShdw blurRad="76200" dist="25400" dir="5400000" algn="bl" rotWithShape="0">
              <a:srgbClr val="1B2340">
                <a:alpha val="12000"/>
              </a:srgbClr>
            </a:outerShdw>
          </a:effectLst>
        </p:spPr>
      </p:sp>
      <p:sp>
        <p:nvSpPr>
          <p:cNvPr id="15" name="Shape 13"/>
          <p:cNvSpPr/>
          <p:nvPr/>
        </p:nvSpPr>
        <p:spPr>
          <a:xfrm>
            <a:off x="6382512" y="1709928"/>
            <a:ext cx="457200" cy="457200"/>
          </a:xfrm>
          <a:prstGeom prst="ellipse">
            <a:avLst/>
          </a:prstGeom>
          <a:solidFill>
            <a:srgbClr val="1E2761"/>
          </a:solidFill>
          <a:ln/>
        </p:spPr>
      </p:sp>
      <p:sp>
        <p:nvSpPr>
          <p:cNvPr id="16" name="Text 14"/>
          <p:cNvSpPr/>
          <p:nvPr/>
        </p:nvSpPr>
        <p:spPr>
          <a:xfrm>
            <a:off x="6382512" y="170992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6364224" y="2295144"/>
            <a:ext cx="2286000" cy="502920"/>
          </a:xfrm>
          <a:prstGeom prst="rect">
            <a:avLst/>
          </a:prstGeom>
          <a:noFill/>
          <a:ln/>
        </p:spPr>
        <p:txBody>
          <a:bodyPr wrap="square" rtlCol="0" anchor="ctr"/>
          <a:lstStyle/>
          <a:p>
            <a:pPr marL="0" indent="0">
              <a:lnSpc>
                <a:spcPct val="110000"/>
              </a:lnSpc>
              <a:buNone/>
            </a:pPr>
            <a:r>
              <a:rPr lang="en-US" sz="1250" b="1" dirty="0">
                <a:solidFill>
                  <a:srgbClr val="1B2340"/>
                </a:solidFill>
                <a:latin typeface="Calibri" pitchFamily="34" charset="0"/>
                <a:ea typeface="Calibri" pitchFamily="34" charset="-122"/>
                <a:cs typeface="Calibri" pitchFamily="34" charset="-120"/>
              </a:rPr>
              <a:t>Monitor repayments</a:t>
            </a:r>
            <a:endParaRPr lang="en-US" sz="1250" dirty="0"/>
          </a:p>
        </p:txBody>
      </p:sp>
      <p:sp>
        <p:nvSpPr>
          <p:cNvPr id="18" name="Text 16"/>
          <p:cNvSpPr/>
          <p:nvPr/>
        </p:nvSpPr>
        <p:spPr>
          <a:xfrm>
            <a:off x="6364224" y="2743200"/>
            <a:ext cx="2286000" cy="594360"/>
          </a:xfrm>
          <a:prstGeom prst="rect">
            <a:avLst/>
          </a:prstGeom>
          <a:noFill/>
          <a:ln/>
        </p:spPr>
        <p:txBody>
          <a:bodyPr wrap="square" rtlCol="0" anchor="ctr"/>
          <a:lstStyle/>
          <a:p>
            <a:pPr marL="0" indent="0">
              <a:lnSpc>
                <a:spcPct val="115000"/>
              </a:lnSpc>
              <a:buNone/>
            </a:pPr>
            <a:r>
              <a:rPr lang="en-US" sz="950" dirty="0">
                <a:solidFill>
                  <a:srgbClr val="5B6B8C"/>
                </a:solidFill>
                <a:latin typeface="Calibri" pitchFamily="34" charset="0"/>
                <a:ea typeface="Calibri" pitchFamily="34" charset="-122"/>
                <a:cs typeface="Calibri" pitchFamily="34" charset="-120"/>
              </a:rPr>
              <a:t>Compare amount received against amount funded</a:t>
            </a:r>
            <a:endParaRPr lang="en-US" sz="950" dirty="0"/>
          </a:p>
        </p:txBody>
      </p:sp>
      <p:sp>
        <p:nvSpPr>
          <p:cNvPr id="19" name="Shape 17"/>
          <p:cNvSpPr/>
          <p:nvPr/>
        </p:nvSpPr>
        <p:spPr>
          <a:xfrm>
            <a:off x="8997696" y="1508760"/>
            <a:ext cx="2651760" cy="1965960"/>
          </a:xfrm>
          <a:prstGeom prst="roundRect">
            <a:avLst>
              <a:gd name="adj" fmla="val 3721"/>
            </a:avLst>
          </a:prstGeom>
          <a:solidFill>
            <a:srgbClr val="FFFFFF"/>
          </a:solidFill>
          <a:ln/>
          <a:effectLst>
            <a:outerShdw blurRad="76200" dist="25400" dir="5400000" algn="bl" rotWithShape="0">
              <a:srgbClr val="1B2340">
                <a:alpha val="12000"/>
              </a:srgbClr>
            </a:outerShdw>
          </a:effectLst>
        </p:spPr>
      </p:sp>
      <p:sp>
        <p:nvSpPr>
          <p:cNvPr id="20" name="Shape 18"/>
          <p:cNvSpPr/>
          <p:nvPr/>
        </p:nvSpPr>
        <p:spPr>
          <a:xfrm>
            <a:off x="9198864" y="1709928"/>
            <a:ext cx="457200" cy="457200"/>
          </a:xfrm>
          <a:prstGeom prst="ellipse">
            <a:avLst/>
          </a:prstGeom>
          <a:solidFill>
            <a:srgbClr val="1E2761"/>
          </a:solidFill>
          <a:ln/>
        </p:spPr>
      </p:sp>
      <p:sp>
        <p:nvSpPr>
          <p:cNvPr id="21" name="Text 19"/>
          <p:cNvSpPr/>
          <p:nvPr/>
        </p:nvSpPr>
        <p:spPr>
          <a:xfrm>
            <a:off x="9198864" y="170992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9180576" y="2295144"/>
            <a:ext cx="2286000" cy="502920"/>
          </a:xfrm>
          <a:prstGeom prst="rect">
            <a:avLst/>
          </a:prstGeom>
          <a:noFill/>
          <a:ln/>
        </p:spPr>
        <p:txBody>
          <a:bodyPr wrap="square" rtlCol="0" anchor="ctr"/>
          <a:lstStyle/>
          <a:p>
            <a:pPr marL="0" indent="0">
              <a:lnSpc>
                <a:spcPct val="110000"/>
              </a:lnSpc>
              <a:buNone/>
            </a:pPr>
            <a:r>
              <a:rPr lang="en-US" sz="1250" b="1" dirty="0">
                <a:solidFill>
                  <a:srgbClr val="1B2340"/>
                </a:solidFill>
                <a:latin typeface="Calibri" pitchFamily="34" charset="0"/>
                <a:ea typeface="Calibri" pitchFamily="34" charset="-122"/>
                <a:cs typeface="Calibri" pitchFamily="34" charset="-120"/>
              </a:rPr>
              <a:t>Measure loan quality</a:t>
            </a:r>
            <a:endParaRPr lang="en-US" sz="1250" dirty="0"/>
          </a:p>
        </p:txBody>
      </p:sp>
      <p:sp>
        <p:nvSpPr>
          <p:cNvPr id="23" name="Text 21"/>
          <p:cNvSpPr/>
          <p:nvPr/>
        </p:nvSpPr>
        <p:spPr>
          <a:xfrm>
            <a:off x="9180576" y="2743200"/>
            <a:ext cx="2286000" cy="594360"/>
          </a:xfrm>
          <a:prstGeom prst="rect">
            <a:avLst/>
          </a:prstGeom>
          <a:noFill/>
          <a:ln/>
        </p:spPr>
        <p:txBody>
          <a:bodyPr wrap="square" rtlCol="0" anchor="ctr"/>
          <a:lstStyle/>
          <a:p>
            <a:pPr marL="0" indent="0">
              <a:lnSpc>
                <a:spcPct val="115000"/>
              </a:lnSpc>
              <a:buNone/>
            </a:pPr>
            <a:r>
              <a:rPr lang="en-US" sz="950" dirty="0">
                <a:solidFill>
                  <a:srgbClr val="5B6B8C"/>
                </a:solidFill>
                <a:latin typeface="Calibri" pitchFamily="34" charset="0"/>
                <a:ea typeface="Calibri" pitchFamily="34" charset="-122"/>
                <a:cs typeface="Calibri" pitchFamily="34" charset="-120"/>
              </a:rPr>
              <a:t>Classify loans as Good or Bad by outcome</a:t>
            </a:r>
            <a:endParaRPr lang="en-US" sz="950" dirty="0"/>
          </a:p>
        </p:txBody>
      </p:sp>
      <p:sp>
        <p:nvSpPr>
          <p:cNvPr id="24" name="Shape 22"/>
          <p:cNvSpPr/>
          <p:nvPr/>
        </p:nvSpPr>
        <p:spPr>
          <a:xfrm>
            <a:off x="548640" y="3703320"/>
            <a:ext cx="2651760" cy="1965960"/>
          </a:xfrm>
          <a:prstGeom prst="roundRect">
            <a:avLst>
              <a:gd name="adj" fmla="val 3721"/>
            </a:avLst>
          </a:prstGeom>
          <a:solidFill>
            <a:srgbClr val="FFFFFF"/>
          </a:solidFill>
          <a:ln/>
          <a:effectLst>
            <a:outerShdw blurRad="76200" dist="25400" dir="5400000" algn="bl" rotWithShape="0">
              <a:srgbClr val="1B2340">
                <a:alpha val="12000"/>
              </a:srgbClr>
            </a:outerShdw>
          </a:effectLst>
        </p:spPr>
      </p:sp>
      <p:sp>
        <p:nvSpPr>
          <p:cNvPr id="25" name="Shape 23"/>
          <p:cNvSpPr/>
          <p:nvPr/>
        </p:nvSpPr>
        <p:spPr>
          <a:xfrm>
            <a:off x="749808" y="3904488"/>
            <a:ext cx="457200" cy="457200"/>
          </a:xfrm>
          <a:prstGeom prst="ellipse">
            <a:avLst/>
          </a:prstGeom>
          <a:solidFill>
            <a:srgbClr val="1E2761"/>
          </a:solidFill>
          <a:ln/>
        </p:spPr>
      </p:sp>
      <p:sp>
        <p:nvSpPr>
          <p:cNvPr id="26" name="Text 24"/>
          <p:cNvSpPr/>
          <p:nvPr/>
        </p:nvSpPr>
        <p:spPr>
          <a:xfrm>
            <a:off x="749808" y="39044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p:nvPr/>
        </p:nvSpPr>
        <p:spPr>
          <a:xfrm>
            <a:off x="731520" y="4489704"/>
            <a:ext cx="2286000" cy="502920"/>
          </a:xfrm>
          <a:prstGeom prst="rect">
            <a:avLst/>
          </a:prstGeom>
          <a:noFill/>
          <a:ln/>
        </p:spPr>
        <p:txBody>
          <a:bodyPr wrap="square" rtlCol="0" anchor="ctr"/>
          <a:lstStyle/>
          <a:p>
            <a:pPr marL="0" indent="0">
              <a:lnSpc>
                <a:spcPct val="110000"/>
              </a:lnSpc>
              <a:buNone/>
            </a:pPr>
            <a:r>
              <a:rPr lang="en-US" sz="1250" b="1" dirty="0">
                <a:solidFill>
                  <a:srgbClr val="1B2340"/>
                </a:solidFill>
                <a:latin typeface="Calibri" pitchFamily="34" charset="0"/>
                <a:ea typeface="Calibri" pitchFamily="34" charset="-122"/>
                <a:cs typeface="Calibri" pitchFamily="34" charset="-120"/>
              </a:rPr>
              <a:t>Evaluate customer risk</a:t>
            </a:r>
            <a:endParaRPr lang="en-US" sz="1250" dirty="0"/>
          </a:p>
        </p:txBody>
      </p:sp>
      <p:sp>
        <p:nvSpPr>
          <p:cNvPr id="28" name="Text 26"/>
          <p:cNvSpPr/>
          <p:nvPr/>
        </p:nvSpPr>
        <p:spPr>
          <a:xfrm>
            <a:off x="731520" y="4937760"/>
            <a:ext cx="2286000" cy="594360"/>
          </a:xfrm>
          <a:prstGeom prst="rect">
            <a:avLst/>
          </a:prstGeom>
          <a:noFill/>
          <a:ln/>
        </p:spPr>
        <p:txBody>
          <a:bodyPr wrap="square" rtlCol="0" anchor="ctr"/>
          <a:lstStyle/>
          <a:p>
            <a:pPr marL="0" indent="0">
              <a:lnSpc>
                <a:spcPct val="115000"/>
              </a:lnSpc>
              <a:buNone/>
            </a:pPr>
            <a:r>
              <a:rPr lang="en-US" sz="950" dirty="0">
                <a:solidFill>
                  <a:srgbClr val="5B6B8C"/>
                </a:solidFill>
                <a:latin typeface="Calibri" pitchFamily="34" charset="0"/>
                <a:ea typeface="Calibri" pitchFamily="34" charset="-122"/>
                <a:cs typeface="Calibri" pitchFamily="34" charset="-120"/>
              </a:rPr>
              <a:t>Surface risk by grade, DTI, and interest rate</a:t>
            </a:r>
            <a:endParaRPr lang="en-US" sz="950" dirty="0"/>
          </a:p>
        </p:txBody>
      </p:sp>
      <p:sp>
        <p:nvSpPr>
          <p:cNvPr id="29" name="Shape 27"/>
          <p:cNvSpPr/>
          <p:nvPr/>
        </p:nvSpPr>
        <p:spPr>
          <a:xfrm>
            <a:off x="3364992" y="3703320"/>
            <a:ext cx="2651760" cy="1965960"/>
          </a:xfrm>
          <a:prstGeom prst="roundRect">
            <a:avLst>
              <a:gd name="adj" fmla="val 3721"/>
            </a:avLst>
          </a:prstGeom>
          <a:solidFill>
            <a:srgbClr val="FFFFFF"/>
          </a:solidFill>
          <a:ln/>
          <a:effectLst>
            <a:outerShdw blurRad="76200" dist="25400" dir="5400000" algn="bl" rotWithShape="0">
              <a:srgbClr val="1B2340">
                <a:alpha val="12000"/>
              </a:srgbClr>
            </a:outerShdw>
          </a:effectLst>
        </p:spPr>
      </p:sp>
      <p:sp>
        <p:nvSpPr>
          <p:cNvPr id="30" name="Shape 28"/>
          <p:cNvSpPr/>
          <p:nvPr/>
        </p:nvSpPr>
        <p:spPr>
          <a:xfrm>
            <a:off x="3566160" y="3904488"/>
            <a:ext cx="457200" cy="457200"/>
          </a:xfrm>
          <a:prstGeom prst="ellipse">
            <a:avLst/>
          </a:prstGeom>
          <a:solidFill>
            <a:srgbClr val="1E2761"/>
          </a:solidFill>
          <a:ln/>
        </p:spPr>
      </p:sp>
      <p:sp>
        <p:nvSpPr>
          <p:cNvPr id="31" name="Text 29"/>
          <p:cNvSpPr/>
          <p:nvPr/>
        </p:nvSpPr>
        <p:spPr>
          <a:xfrm>
            <a:off x="3566160" y="39044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2" name="Text 30"/>
          <p:cNvSpPr/>
          <p:nvPr/>
        </p:nvSpPr>
        <p:spPr>
          <a:xfrm>
            <a:off x="3547872" y="4489704"/>
            <a:ext cx="2286000" cy="502920"/>
          </a:xfrm>
          <a:prstGeom prst="rect">
            <a:avLst/>
          </a:prstGeom>
          <a:noFill/>
          <a:ln/>
        </p:spPr>
        <p:txBody>
          <a:bodyPr wrap="square" rtlCol="0" anchor="ctr"/>
          <a:lstStyle/>
          <a:p>
            <a:pPr marL="0" indent="0">
              <a:lnSpc>
                <a:spcPct val="110000"/>
              </a:lnSpc>
              <a:buNone/>
            </a:pPr>
            <a:r>
              <a:rPr lang="en-US" sz="1250" b="1" dirty="0">
                <a:solidFill>
                  <a:srgbClr val="1B2340"/>
                </a:solidFill>
                <a:latin typeface="Calibri" pitchFamily="34" charset="0"/>
                <a:ea typeface="Calibri" pitchFamily="34" charset="-122"/>
                <a:cs typeface="Calibri" pitchFamily="34" charset="-120"/>
              </a:rPr>
              <a:t>Analyze regional trends</a:t>
            </a:r>
            <a:endParaRPr lang="en-US" sz="1250" dirty="0"/>
          </a:p>
        </p:txBody>
      </p:sp>
      <p:sp>
        <p:nvSpPr>
          <p:cNvPr id="33" name="Text 31"/>
          <p:cNvSpPr/>
          <p:nvPr/>
        </p:nvSpPr>
        <p:spPr>
          <a:xfrm>
            <a:off x="3547872" y="4937760"/>
            <a:ext cx="2286000" cy="594360"/>
          </a:xfrm>
          <a:prstGeom prst="rect">
            <a:avLst/>
          </a:prstGeom>
          <a:noFill/>
          <a:ln/>
        </p:spPr>
        <p:txBody>
          <a:bodyPr wrap="square" rtlCol="0" anchor="ctr"/>
          <a:lstStyle/>
          <a:p>
            <a:pPr marL="0" indent="0">
              <a:lnSpc>
                <a:spcPct val="115000"/>
              </a:lnSpc>
              <a:buNone/>
            </a:pPr>
            <a:r>
              <a:rPr lang="en-US" sz="950" dirty="0">
                <a:solidFill>
                  <a:srgbClr val="5B6B8C"/>
                </a:solidFill>
                <a:latin typeface="Calibri" pitchFamily="34" charset="0"/>
                <a:ea typeface="Calibri" pitchFamily="34" charset="-122"/>
                <a:cs typeface="Calibri" pitchFamily="34" charset="-120"/>
              </a:rPr>
              <a:t>Compare performance across all 50 states</a:t>
            </a:r>
            <a:endParaRPr lang="en-US" sz="950" dirty="0"/>
          </a:p>
        </p:txBody>
      </p:sp>
      <p:sp>
        <p:nvSpPr>
          <p:cNvPr id="34" name="Shape 32"/>
          <p:cNvSpPr/>
          <p:nvPr/>
        </p:nvSpPr>
        <p:spPr>
          <a:xfrm>
            <a:off x="6181344" y="3703320"/>
            <a:ext cx="2651760" cy="1965960"/>
          </a:xfrm>
          <a:prstGeom prst="roundRect">
            <a:avLst>
              <a:gd name="adj" fmla="val 3721"/>
            </a:avLst>
          </a:prstGeom>
          <a:solidFill>
            <a:srgbClr val="FFFFFF"/>
          </a:solidFill>
          <a:ln/>
          <a:effectLst>
            <a:outerShdw blurRad="76200" dist="25400" dir="5400000" algn="bl" rotWithShape="0">
              <a:srgbClr val="1B2340">
                <a:alpha val="12000"/>
              </a:srgbClr>
            </a:outerShdw>
          </a:effectLst>
        </p:spPr>
      </p:sp>
      <p:sp>
        <p:nvSpPr>
          <p:cNvPr id="35" name="Shape 33"/>
          <p:cNvSpPr/>
          <p:nvPr/>
        </p:nvSpPr>
        <p:spPr>
          <a:xfrm>
            <a:off x="6382512" y="3904488"/>
            <a:ext cx="457200" cy="457200"/>
          </a:xfrm>
          <a:prstGeom prst="ellipse">
            <a:avLst/>
          </a:prstGeom>
          <a:solidFill>
            <a:srgbClr val="1E2761"/>
          </a:solidFill>
          <a:ln/>
        </p:spPr>
      </p:sp>
      <p:sp>
        <p:nvSpPr>
          <p:cNvPr id="36" name="Text 34"/>
          <p:cNvSpPr/>
          <p:nvPr/>
        </p:nvSpPr>
        <p:spPr>
          <a:xfrm>
            <a:off x="6382512" y="39044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37" name="Text 35"/>
          <p:cNvSpPr/>
          <p:nvPr/>
        </p:nvSpPr>
        <p:spPr>
          <a:xfrm>
            <a:off x="6364224" y="4489704"/>
            <a:ext cx="2286000" cy="502920"/>
          </a:xfrm>
          <a:prstGeom prst="rect">
            <a:avLst/>
          </a:prstGeom>
          <a:noFill/>
          <a:ln/>
        </p:spPr>
        <p:txBody>
          <a:bodyPr wrap="square" rtlCol="0" anchor="ctr"/>
          <a:lstStyle/>
          <a:p>
            <a:pPr marL="0" indent="0">
              <a:lnSpc>
                <a:spcPct val="110000"/>
              </a:lnSpc>
              <a:buNone/>
            </a:pPr>
            <a:r>
              <a:rPr lang="en-US" sz="1250" b="1" dirty="0">
                <a:solidFill>
                  <a:srgbClr val="1B2340"/>
                </a:solidFill>
                <a:latin typeface="Calibri" pitchFamily="34" charset="0"/>
                <a:ea typeface="Calibri" pitchFamily="34" charset="-122"/>
                <a:cs typeface="Calibri" pitchFamily="34" charset="-120"/>
              </a:rPr>
              <a:t>Build interactive dashboards</a:t>
            </a:r>
            <a:endParaRPr lang="en-US" sz="1250" dirty="0"/>
          </a:p>
        </p:txBody>
      </p:sp>
      <p:sp>
        <p:nvSpPr>
          <p:cNvPr id="38" name="Text 36"/>
          <p:cNvSpPr/>
          <p:nvPr/>
        </p:nvSpPr>
        <p:spPr>
          <a:xfrm>
            <a:off x="6364224" y="4937760"/>
            <a:ext cx="2286000" cy="594360"/>
          </a:xfrm>
          <a:prstGeom prst="rect">
            <a:avLst/>
          </a:prstGeom>
          <a:noFill/>
          <a:ln/>
        </p:spPr>
        <p:txBody>
          <a:bodyPr wrap="square" rtlCol="0" anchor="ctr"/>
          <a:lstStyle/>
          <a:p>
            <a:pPr marL="0" indent="0">
              <a:lnSpc>
                <a:spcPct val="115000"/>
              </a:lnSpc>
              <a:buNone/>
            </a:pPr>
            <a:r>
              <a:rPr lang="en-US" sz="950" dirty="0">
                <a:solidFill>
                  <a:srgbClr val="5B6B8C"/>
                </a:solidFill>
                <a:latin typeface="Calibri" pitchFamily="34" charset="0"/>
                <a:ea typeface="Calibri" pitchFamily="34" charset="-122"/>
                <a:cs typeface="Calibri" pitchFamily="34" charset="-120"/>
              </a:rPr>
              <a:t>Self-serve reporting with slicers and drill-through</a:t>
            </a:r>
            <a:endParaRPr lang="en-US" sz="950" dirty="0"/>
          </a:p>
        </p:txBody>
      </p:sp>
      <p:sp>
        <p:nvSpPr>
          <p:cNvPr id="39" name="Shape 37"/>
          <p:cNvSpPr/>
          <p:nvPr/>
        </p:nvSpPr>
        <p:spPr>
          <a:xfrm>
            <a:off x="8997696" y="3703320"/>
            <a:ext cx="2651760" cy="1965960"/>
          </a:xfrm>
          <a:prstGeom prst="roundRect">
            <a:avLst>
              <a:gd name="adj" fmla="val 3721"/>
            </a:avLst>
          </a:prstGeom>
          <a:solidFill>
            <a:srgbClr val="FFFFFF"/>
          </a:solidFill>
          <a:ln/>
          <a:effectLst>
            <a:outerShdw blurRad="76200" dist="25400" dir="5400000" algn="bl" rotWithShape="0">
              <a:srgbClr val="1B2340">
                <a:alpha val="12000"/>
              </a:srgbClr>
            </a:outerShdw>
          </a:effectLst>
        </p:spPr>
      </p:sp>
      <p:sp>
        <p:nvSpPr>
          <p:cNvPr id="40" name="Shape 38"/>
          <p:cNvSpPr/>
          <p:nvPr/>
        </p:nvSpPr>
        <p:spPr>
          <a:xfrm>
            <a:off x="9198864" y="3904488"/>
            <a:ext cx="457200" cy="457200"/>
          </a:xfrm>
          <a:prstGeom prst="ellipse">
            <a:avLst/>
          </a:prstGeom>
          <a:solidFill>
            <a:srgbClr val="1E2761"/>
          </a:solidFill>
          <a:ln/>
        </p:spPr>
      </p:sp>
      <p:sp>
        <p:nvSpPr>
          <p:cNvPr id="41" name="Text 39"/>
          <p:cNvSpPr/>
          <p:nvPr/>
        </p:nvSpPr>
        <p:spPr>
          <a:xfrm>
            <a:off x="9198864" y="39044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42" name="Text 40"/>
          <p:cNvSpPr/>
          <p:nvPr/>
        </p:nvSpPr>
        <p:spPr>
          <a:xfrm>
            <a:off x="9180576" y="4489704"/>
            <a:ext cx="2286000" cy="502920"/>
          </a:xfrm>
          <a:prstGeom prst="rect">
            <a:avLst/>
          </a:prstGeom>
          <a:noFill/>
          <a:ln/>
        </p:spPr>
        <p:txBody>
          <a:bodyPr wrap="square" rtlCol="0" anchor="ctr"/>
          <a:lstStyle/>
          <a:p>
            <a:pPr marL="0" indent="0">
              <a:lnSpc>
                <a:spcPct val="110000"/>
              </a:lnSpc>
              <a:buNone/>
            </a:pPr>
            <a:r>
              <a:rPr lang="en-US" sz="1250" b="1" dirty="0">
                <a:solidFill>
                  <a:srgbClr val="1B2340"/>
                </a:solidFill>
                <a:latin typeface="Calibri" pitchFamily="34" charset="0"/>
                <a:ea typeface="Calibri" pitchFamily="34" charset="-122"/>
                <a:cs typeface="Calibri" pitchFamily="34" charset="-120"/>
              </a:rPr>
              <a:t>Support decision-making</a:t>
            </a:r>
            <a:endParaRPr lang="en-US" sz="1250" dirty="0"/>
          </a:p>
        </p:txBody>
      </p:sp>
      <p:sp>
        <p:nvSpPr>
          <p:cNvPr id="43" name="Text 41"/>
          <p:cNvSpPr/>
          <p:nvPr/>
        </p:nvSpPr>
        <p:spPr>
          <a:xfrm>
            <a:off x="9180576" y="4937760"/>
            <a:ext cx="2286000" cy="594360"/>
          </a:xfrm>
          <a:prstGeom prst="rect">
            <a:avLst/>
          </a:prstGeom>
          <a:noFill/>
          <a:ln/>
        </p:spPr>
        <p:txBody>
          <a:bodyPr wrap="square" rtlCol="0" anchor="ctr"/>
          <a:lstStyle/>
          <a:p>
            <a:pPr marL="0" indent="0">
              <a:lnSpc>
                <a:spcPct val="115000"/>
              </a:lnSpc>
              <a:buNone/>
            </a:pPr>
            <a:r>
              <a:rPr lang="en-US" sz="950" dirty="0">
                <a:solidFill>
                  <a:srgbClr val="5B6B8C"/>
                </a:solidFill>
                <a:latin typeface="Calibri" pitchFamily="34" charset="0"/>
                <a:ea typeface="Calibri" pitchFamily="34" charset="-122"/>
                <a:cs typeface="Calibri" pitchFamily="34" charset="-120"/>
              </a:rPr>
              <a:t>Turn findings into credit policy recommendations</a:t>
            </a:r>
            <a:endParaRPr lang="en-US" sz="950" dirty="0"/>
          </a:p>
        </p:txBody>
      </p:sp>
      <p:sp>
        <p:nvSpPr>
          <p:cNvPr id="44" name="Text 42"/>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5B6B8C"/>
                </a:solidFill>
                <a:latin typeface="Calibri" pitchFamily="34" charset="0"/>
                <a:ea typeface="Calibri" pitchFamily="34" charset="-122"/>
                <a:cs typeface="Calibri" pitchFamily="34" charset="-120"/>
              </a:rPr>
              <a:t>Bank Loan Report Analysis</a:t>
            </a:r>
            <a:endParaRPr lang="en-US" sz="900" dirty="0"/>
          </a:p>
        </p:txBody>
      </p:sp>
      <p:sp>
        <p:nvSpPr>
          <p:cNvPr id="45" name="Text 43"/>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5B6B8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DATASET OVERVIEW</a:t>
            </a:r>
            <a:endParaRPr lang="en-US" sz="1200" dirty="0"/>
          </a:p>
        </p:txBody>
      </p:sp>
      <p:sp>
        <p:nvSpPr>
          <p:cNvPr id="3" name="Text 1"/>
          <p:cNvSpPr/>
          <p:nvPr/>
        </p:nvSpPr>
        <p:spPr>
          <a:xfrm>
            <a:off x="548640" y="713232"/>
            <a:ext cx="8229600" cy="548640"/>
          </a:xfrm>
          <a:prstGeom prst="rect">
            <a:avLst/>
          </a:prstGeom>
          <a:noFill/>
          <a:ln/>
        </p:spPr>
        <p:txBody>
          <a:bodyPr wrap="square" rtlCol="0" anchor="ctr"/>
          <a:lstStyle/>
          <a:p>
            <a:pPr marL="0" indent="0">
              <a:buNone/>
            </a:pPr>
            <a:r>
              <a:rPr lang="en-US" sz="2700" b="1" dirty="0">
                <a:solidFill>
                  <a:srgbClr val="1B2340"/>
                </a:solidFill>
                <a:latin typeface="Cambria" pitchFamily="34" charset="0"/>
                <a:ea typeface="Cambria" pitchFamily="34" charset="-122"/>
                <a:cs typeface="Cambria" pitchFamily="34" charset="-120"/>
              </a:rPr>
              <a:t>One record per loan, 24 attributes deep</a:t>
            </a:r>
            <a:endParaRPr lang="en-US" sz="2700" dirty="0"/>
          </a:p>
        </p:txBody>
      </p:sp>
      <p:sp>
        <p:nvSpPr>
          <p:cNvPr id="4" name="Shape 2"/>
          <p:cNvSpPr/>
          <p:nvPr/>
        </p:nvSpPr>
        <p:spPr>
          <a:xfrm>
            <a:off x="548640" y="1463040"/>
            <a:ext cx="3200400" cy="1417320"/>
          </a:xfrm>
          <a:prstGeom prst="roundRect">
            <a:avLst>
              <a:gd name="adj" fmla="val 5161"/>
            </a:avLst>
          </a:prstGeom>
          <a:solidFill>
            <a:srgbClr val="1E2761"/>
          </a:solidFill>
          <a:ln/>
        </p:spPr>
      </p:sp>
      <p:sp>
        <p:nvSpPr>
          <p:cNvPr id="5" name="Text 3"/>
          <p:cNvSpPr/>
          <p:nvPr/>
        </p:nvSpPr>
        <p:spPr>
          <a:xfrm>
            <a:off x="548640" y="1536192"/>
            <a:ext cx="3200400" cy="731520"/>
          </a:xfrm>
          <a:prstGeom prst="rect">
            <a:avLst/>
          </a:prstGeom>
          <a:noFill/>
          <a:ln/>
        </p:spPr>
        <p:txBody>
          <a:bodyPr wrap="square" rtlCol="0" anchor="ctr"/>
          <a:lstStyle/>
          <a:p>
            <a:pPr marL="0" indent="0" algn="ctr">
              <a:buNone/>
            </a:pPr>
            <a:r>
              <a:rPr lang="en-US" sz="3400" b="1" dirty="0">
                <a:solidFill>
                  <a:srgbClr val="C9A227"/>
                </a:solidFill>
                <a:latin typeface="Cambria" pitchFamily="34" charset="0"/>
                <a:ea typeface="Cambria" pitchFamily="34" charset="-122"/>
                <a:cs typeface="Cambria" pitchFamily="34" charset="-120"/>
              </a:rPr>
              <a:t>38,576</a:t>
            </a:r>
            <a:endParaRPr lang="en-US" sz="3400" dirty="0"/>
          </a:p>
        </p:txBody>
      </p:sp>
      <p:sp>
        <p:nvSpPr>
          <p:cNvPr id="6" name="Text 4"/>
          <p:cNvSpPr/>
          <p:nvPr/>
        </p:nvSpPr>
        <p:spPr>
          <a:xfrm>
            <a:off x="548640" y="2240280"/>
            <a:ext cx="3200400" cy="36576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Loan records</a:t>
            </a:r>
            <a:endParaRPr lang="en-US" sz="1200" dirty="0"/>
          </a:p>
        </p:txBody>
      </p:sp>
      <p:sp>
        <p:nvSpPr>
          <p:cNvPr id="7" name="Shape 5"/>
          <p:cNvSpPr/>
          <p:nvPr/>
        </p:nvSpPr>
        <p:spPr>
          <a:xfrm>
            <a:off x="548640" y="3017520"/>
            <a:ext cx="3200400" cy="1417320"/>
          </a:xfrm>
          <a:prstGeom prst="roundRect">
            <a:avLst>
              <a:gd name="adj" fmla="val 5161"/>
            </a:avLst>
          </a:prstGeom>
          <a:solidFill>
            <a:srgbClr val="1E2761"/>
          </a:solidFill>
          <a:ln/>
        </p:spPr>
      </p:sp>
      <p:sp>
        <p:nvSpPr>
          <p:cNvPr id="8" name="Text 6"/>
          <p:cNvSpPr/>
          <p:nvPr/>
        </p:nvSpPr>
        <p:spPr>
          <a:xfrm>
            <a:off x="548640" y="3090672"/>
            <a:ext cx="3200400" cy="731520"/>
          </a:xfrm>
          <a:prstGeom prst="rect">
            <a:avLst/>
          </a:prstGeom>
          <a:noFill/>
          <a:ln/>
        </p:spPr>
        <p:txBody>
          <a:bodyPr wrap="square" rtlCol="0" anchor="ctr"/>
          <a:lstStyle/>
          <a:p>
            <a:pPr marL="0" indent="0" algn="ctr">
              <a:buNone/>
            </a:pPr>
            <a:r>
              <a:rPr lang="en-US" sz="3400" b="1" dirty="0">
                <a:solidFill>
                  <a:srgbClr val="C9A227"/>
                </a:solidFill>
                <a:latin typeface="Cambria" pitchFamily="34" charset="0"/>
                <a:ea typeface="Cambria" pitchFamily="34" charset="-122"/>
                <a:cs typeface="Cambria" pitchFamily="34" charset="-120"/>
              </a:rPr>
              <a:t>24</a:t>
            </a:r>
            <a:endParaRPr lang="en-US" sz="3400" dirty="0"/>
          </a:p>
        </p:txBody>
      </p:sp>
      <p:sp>
        <p:nvSpPr>
          <p:cNvPr id="9" name="Text 7"/>
          <p:cNvSpPr/>
          <p:nvPr/>
        </p:nvSpPr>
        <p:spPr>
          <a:xfrm>
            <a:off x="548640" y="3794760"/>
            <a:ext cx="3200400" cy="36576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Columns / attributes</a:t>
            </a:r>
            <a:endParaRPr lang="en-US" sz="1200" dirty="0"/>
          </a:p>
        </p:txBody>
      </p:sp>
      <p:sp>
        <p:nvSpPr>
          <p:cNvPr id="10" name="Shape 8"/>
          <p:cNvSpPr/>
          <p:nvPr/>
        </p:nvSpPr>
        <p:spPr>
          <a:xfrm>
            <a:off x="548640" y="4572000"/>
            <a:ext cx="3200400" cy="1417320"/>
          </a:xfrm>
          <a:prstGeom prst="roundRect">
            <a:avLst>
              <a:gd name="adj" fmla="val 5161"/>
            </a:avLst>
          </a:prstGeom>
          <a:solidFill>
            <a:srgbClr val="EEF3FC"/>
          </a:solidFill>
          <a:ln/>
        </p:spPr>
      </p:sp>
      <p:sp>
        <p:nvSpPr>
          <p:cNvPr id="11" name="Text 9"/>
          <p:cNvSpPr/>
          <p:nvPr/>
        </p:nvSpPr>
        <p:spPr>
          <a:xfrm>
            <a:off x="548640" y="4645152"/>
            <a:ext cx="3200400" cy="731520"/>
          </a:xfrm>
          <a:prstGeom prst="rect">
            <a:avLst/>
          </a:prstGeom>
          <a:noFill/>
          <a:ln/>
        </p:spPr>
        <p:txBody>
          <a:bodyPr wrap="square" rtlCol="0" anchor="ctr"/>
          <a:lstStyle/>
          <a:p>
            <a:pPr marL="0" indent="0" algn="ctr">
              <a:buNone/>
            </a:pPr>
            <a:r>
              <a:rPr lang="en-US" sz="2200" b="1" dirty="0">
                <a:solidFill>
                  <a:srgbClr val="1E2761"/>
                </a:solidFill>
                <a:latin typeface="Cambria" pitchFamily="34" charset="0"/>
                <a:ea typeface="Cambria" pitchFamily="34" charset="-122"/>
                <a:cs typeface="Cambria" pitchFamily="34" charset="-120"/>
              </a:rPr>
              <a:t>50 states · 2021</a:t>
            </a:r>
            <a:endParaRPr lang="en-US" sz="2200" dirty="0"/>
          </a:p>
        </p:txBody>
      </p:sp>
      <p:sp>
        <p:nvSpPr>
          <p:cNvPr id="12" name="Text 10"/>
          <p:cNvSpPr/>
          <p:nvPr/>
        </p:nvSpPr>
        <p:spPr>
          <a:xfrm>
            <a:off x="548640" y="5257800"/>
            <a:ext cx="3200400" cy="365760"/>
          </a:xfrm>
          <a:prstGeom prst="rect">
            <a:avLst/>
          </a:prstGeom>
          <a:noFill/>
          <a:ln/>
        </p:spPr>
        <p:txBody>
          <a:bodyPr wrap="square" rtlCol="0" anchor="ctr"/>
          <a:lstStyle/>
          <a:p>
            <a:pPr marL="0" indent="0" algn="ctr">
              <a:buNone/>
            </a:pPr>
            <a:r>
              <a:rPr lang="en-US" sz="1200" dirty="0">
                <a:solidFill>
                  <a:srgbClr val="5B6B8C"/>
                </a:solidFill>
                <a:latin typeface="Calibri" pitchFamily="34" charset="0"/>
                <a:ea typeface="Calibri" pitchFamily="34" charset="-122"/>
                <a:cs typeface="Calibri" pitchFamily="34" charset="-120"/>
              </a:rPr>
              <a:t>Geographic &amp; time coverage</a:t>
            </a:r>
            <a:endParaRPr lang="en-US" sz="1200" dirty="0"/>
          </a:p>
        </p:txBody>
      </p:sp>
      <p:sp>
        <p:nvSpPr>
          <p:cNvPr id="13" name="Shape 11"/>
          <p:cNvSpPr/>
          <p:nvPr/>
        </p:nvSpPr>
        <p:spPr>
          <a:xfrm>
            <a:off x="4114800" y="1463040"/>
            <a:ext cx="73152" cy="566928"/>
          </a:xfrm>
          <a:prstGeom prst="rect">
            <a:avLst/>
          </a:prstGeom>
          <a:solidFill>
            <a:srgbClr val="C9A227"/>
          </a:solidFill>
          <a:ln/>
        </p:spPr>
      </p:sp>
      <p:sp>
        <p:nvSpPr>
          <p:cNvPr id="14" name="Text 12"/>
          <p:cNvSpPr/>
          <p:nvPr/>
        </p:nvSpPr>
        <p:spPr>
          <a:xfrm>
            <a:off x="4297680" y="1444752"/>
            <a:ext cx="3611880" cy="292608"/>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Loan ID</a:t>
            </a:r>
            <a:endParaRPr lang="en-US" sz="1150" dirty="0"/>
          </a:p>
        </p:txBody>
      </p:sp>
      <p:sp>
        <p:nvSpPr>
          <p:cNvPr id="15" name="Text 13"/>
          <p:cNvSpPr/>
          <p:nvPr/>
        </p:nvSpPr>
        <p:spPr>
          <a:xfrm>
            <a:off x="4297680" y="1719072"/>
            <a:ext cx="3611880" cy="320040"/>
          </a:xfrm>
          <a:prstGeom prst="rect">
            <a:avLst/>
          </a:prstGeom>
          <a:noFill/>
          <a:ln/>
        </p:spPr>
        <p:txBody>
          <a:bodyPr wrap="square" rtlCol="0" anchor="ctr"/>
          <a:lstStyle/>
          <a:p>
            <a:pPr marL="0" indent="0">
              <a:buNone/>
            </a:pPr>
            <a:r>
              <a:rPr lang="en-US" sz="950" dirty="0">
                <a:solidFill>
                  <a:srgbClr val="5B6B8C"/>
                </a:solidFill>
                <a:latin typeface="Calibri" pitchFamily="34" charset="0"/>
                <a:ea typeface="Calibri" pitchFamily="34" charset="-122"/>
                <a:cs typeface="Calibri" pitchFamily="34" charset="-120"/>
              </a:rPr>
              <a:t>Uniquely identifies each application</a:t>
            </a:r>
            <a:endParaRPr lang="en-US" sz="950" dirty="0"/>
          </a:p>
        </p:txBody>
      </p:sp>
      <p:sp>
        <p:nvSpPr>
          <p:cNvPr id="16" name="Shape 14"/>
          <p:cNvSpPr/>
          <p:nvPr/>
        </p:nvSpPr>
        <p:spPr>
          <a:xfrm>
            <a:off x="8046720" y="1463040"/>
            <a:ext cx="73152" cy="566928"/>
          </a:xfrm>
          <a:prstGeom prst="rect">
            <a:avLst/>
          </a:prstGeom>
          <a:solidFill>
            <a:srgbClr val="C9A227"/>
          </a:solidFill>
          <a:ln/>
        </p:spPr>
      </p:sp>
      <p:sp>
        <p:nvSpPr>
          <p:cNvPr id="17" name="Text 15"/>
          <p:cNvSpPr/>
          <p:nvPr/>
        </p:nvSpPr>
        <p:spPr>
          <a:xfrm>
            <a:off x="8229600" y="1444752"/>
            <a:ext cx="3611880" cy="292608"/>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Loan Amount / Funded Amount</a:t>
            </a:r>
            <a:endParaRPr lang="en-US" sz="1150" dirty="0"/>
          </a:p>
        </p:txBody>
      </p:sp>
      <p:sp>
        <p:nvSpPr>
          <p:cNvPr id="18" name="Text 16"/>
          <p:cNvSpPr/>
          <p:nvPr/>
        </p:nvSpPr>
        <p:spPr>
          <a:xfrm>
            <a:off x="8229600" y="1719072"/>
            <a:ext cx="3611880" cy="320040"/>
          </a:xfrm>
          <a:prstGeom prst="rect">
            <a:avLst/>
          </a:prstGeom>
          <a:noFill/>
          <a:ln/>
        </p:spPr>
        <p:txBody>
          <a:bodyPr wrap="square" rtlCol="0" anchor="ctr"/>
          <a:lstStyle/>
          <a:p>
            <a:pPr marL="0" indent="0">
              <a:buNone/>
            </a:pPr>
            <a:r>
              <a:rPr lang="en-US" sz="950" dirty="0">
                <a:solidFill>
                  <a:srgbClr val="5B6B8C"/>
                </a:solidFill>
                <a:latin typeface="Calibri" pitchFamily="34" charset="0"/>
                <a:ea typeface="Calibri" pitchFamily="34" charset="-122"/>
                <a:cs typeface="Calibri" pitchFamily="34" charset="-120"/>
              </a:rPr>
              <a:t>Capital requested and disbursed</a:t>
            </a:r>
            <a:endParaRPr lang="en-US" sz="950" dirty="0"/>
          </a:p>
        </p:txBody>
      </p:sp>
      <p:sp>
        <p:nvSpPr>
          <p:cNvPr id="19" name="Shape 17"/>
          <p:cNvSpPr/>
          <p:nvPr/>
        </p:nvSpPr>
        <p:spPr>
          <a:xfrm>
            <a:off x="4114800" y="2240280"/>
            <a:ext cx="73152" cy="566928"/>
          </a:xfrm>
          <a:prstGeom prst="rect">
            <a:avLst/>
          </a:prstGeom>
          <a:solidFill>
            <a:srgbClr val="C9A227"/>
          </a:solidFill>
          <a:ln/>
        </p:spPr>
      </p:sp>
      <p:sp>
        <p:nvSpPr>
          <p:cNvPr id="20" name="Text 18"/>
          <p:cNvSpPr/>
          <p:nvPr/>
        </p:nvSpPr>
        <p:spPr>
          <a:xfrm>
            <a:off x="4297680" y="2221992"/>
            <a:ext cx="3611880" cy="292608"/>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Loan Status</a:t>
            </a:r>
            <a:endParaRPr lang="en-US" sz="1150" dirty="0"/>
          </a:p>
        </p:txBody>
      </p:sp>
      <p:sp>
        <p:nvSpPr>
          <p:cNvPr id="21" name="Text 19"/>
          <p:cNvSpPr/>
          <p:nvPr/>
        </p:nvSpPr>
        <p:spPr>
          <a:xfrm>
            <a:off x="4297680" y="2496312"/>
            <a:ext cx="3611880" cy="320040"/>
          </a:xfrm>
          <a:prstGeom prst="rect">
            <a:avLst/>
          </a:prstGeom>
          <a:noFill/>
          <a:ln/>
        </p:spPr>
        <p:txBody>
          <a:bodyPr wrap="square" rtlCol="0" anchor="ctr"/>
          <a:lstStyle/>
          <a:p>
            <a:pPr marL="0" indent="0">
              <a:buNone/>
            </a:pPr>
            <a:r>
              <a:rPr lang="en-US" sz="950" dirty="0">
                <a:solidFill>
                  <a:srgbClr val="5B6B8C"/>
                </a:solidFill>
                <a:latin typeface="Calibri" pitchFamily="34" charset="0"/>
                <a:ea typeface="Calibri" pitchFamily="34" charset="-122"/>
                <a:cs typeface="Calibri" pitchFamily="34" charset="-120"/>
              </a:rPr>
              <a:t>Fully Paid, Current, or Charged Off</a:t>
            </a:r>
            <a:endParaRPr lang="en-US" sz="950" dirty="0"/>
          </a:p>
        </p:txBody>
      </p:sp>
      <p:sp>
        <p:nvSpPr>
          <p:cNvPr id="22" name="Shape 20"/>
          <p:cNvSpPr/>
          <p:nvPr/>
        </p:nvSpPr>
        <p:spPr>
          <a:xfrm>
            <a:off x="8046720" y="2240280"/>
            <a:ext cx="73152" cy="566928"/>
          </a:xfrm>
          <a:prstGeom prst="rect">
            <a:avLst/>
          </a:prstGeom>
          <a:solidFill>
            <a:srgbClr val="C9A227"/>
          </a:solidFill>
          <a:ln/>
        </p:spPr>
      </p:sp>
      <p:sp>
        <p:nvSpPr>
          <p:cNvPr id="23" name="Text 21"/>
          <p:cNvSpPr/>
          <p:nvPr/>
        </p:nvSpPr>
        <p:spPr>
          <a:xfrm>
            <a:off x="8229600" y="2221992"/>
            <a:ext cx="3611880" cy="292608"/>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Purpose</a:t>
            </a:r>
            <a:endParaRPr lang="en-US" sz="1150" dirty="0"/>
          </a:p>
        </p:txBody>
      </p:sp>
      <p:sp>
        <p:nvSpPr>
          <p:cNvPr id="24" name="Text 22"/>
          <p:cNvSpPr/>
          <p:nvPr/>
        </p:nvSpPr>
        <p:spPr>
          <a:xfrm>
            <a:off x="8229600" y="2496312"/>
            <a:ext cx="3611880" cy="320040"/>
          </a:xfrm>
          <a:prstGeom prst="rect">
            <a:avLst/>
          </a:prstGeom>
          <a:noFill/>
          <a:ln/>
        </p:spPr>
        <p:txBody>
          <a:bodyPr wrap="square" rtlCol="0" anchor="ctr"/>
          <a:lstStyle/>
          <a:p>
            <a:pPr marL="0" indent="0">
              <a:buNone/>
            </a:pPr>
            <a:r>
              <a:rPr lang="en-US" sz="950" dirty="0">
                <a:solidFill>
                  <a:srgbClr val="5B6B8C"/>
                </a:solidFill>
                <a:latin typeface="Calibri" pitchFamily="34" charset="0"/>
                <a:ea typeface="Calibri" pitchFamily="34" charset="-122"/>
                <a:cs typeface="Calibri" pitchFamily="34" charset="-120"/>
              </a:rPr>
              <a:t>Stated reason for borrowing</a:t>
            </a:r>
            <a:endParaRPr lang="en-US" sz="950" dirty="0"/>
          </a:p>
        </p:txBody>
      </p:sp>
      <p:sp>
        <p:nvSpPr>
          <p:cNvPr id="25" name="Shape 23"/>
          <p:cNvSpPr/>
          <p:nvPr/>
        </p:nvSpPr>
        <p:spPr>
          <a:xfrm>
            <a:off x="4114800" y="3017520"/>
            <a:ext cx="73152" cy="566928"/>
          </a:xfrm>
          <a:prstGeom prst="rect">
            <a:avLst/>
          </a:prstGeom>
          <a:solidFill>
            <a:srgbClr val="C9A227"/>
          </a:solidFill>
          <a:ln/>
        </p:spPr>
      </p:sp>
      <p:sp>
        <p:nvSpPr>
          <p:cNvPr id="26" name="Text 24"/>
          <p:cNvSpPr/>
          <p:nvPr/>
        </p:nvSpPr>
        <p:spPr>
          <a:xfrm>
            <a:off x="4297680" y="2999232"/>
            <a:ext cx="3611880" cy="292608"/>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Grade / Sub-Grade</a:t>
            </a:r>
            <a:endParaRPr lang="en-US" sz="1150" dirty="0"/>
          </a:p>
        </p:txBody>
      </p:sp>
      <p:sp>
        <p:nvSpPr>
          <p:cNvPr id="27" name="Text 25"/>
          <p:cNvSpPr/>
          <p:nvPr/>
        </p:nvSpPr>
        <p:spPr>
          <a:xfrm>
            <a:off x="4297680" y="3273552"/>
            <a:ext cx="3611880" cy="320040"/>
          </a:xfrm>
          <a:prstGeom prst="rect">
            <a:avLst/>
          </a:prstGeom>
          <a:noFill/>
          <a:ln/>
        </p:spPr>
        <p:txBody>
          <a:bodyPr wrap="square" rtlCol="0" anchor="ctr"/>
          <a:lstStyle/>
          <a:p>
            <a:pPr marL="0" indent="0">
              <a:buNone/>
            </a:pPr>
            <a:r>
              <a:rPr lang="en-US" sz="950" dirty="0">
                <a:solidFill>
                  <a:srgbClr val="5B6B8C"/>
                </a:solidFill>
                <a:latin typeface="Calibri" pitchFamily="34" charset="0"/>
                <a:ea typeface="Calibri" pitchFamily="34" charset="-122"/>
                <a:cs typeface="Calibri" pitchFamily="34" charset="-120"/>
              </a:rPr>
              <a:t>Bank's internal credit risk rating</a:t>
            </a:r>
            <a:endParaRPr lang="en-US" sz="950" dirty="0"/>
          </a:p>
        </p:txBody>
      </p:sp>
      <p:sp>
        <p:nvSpPr>
          <p:cNvPr id="28" name="Shape 26"/>
          <p:cNvSpPr/>
          <p:nvPr/>
        </p:nvSpPr>
        <p:spPr>
          <a:xfrm>
            <a:off x="8046720" y="3017520"/>
            <a:ext cx="73152" cy="566928"/>
          </a:xfrm>
          <a:prstGeom prst="rect">
            <a:avLst/>
          </a:prstGeom>
          <a:solidFill>
            <a:srgbClr val="C9A227"/>
          </a:solidFill>
          <a:ln/>
        </p:spPr>
      </p:sp>
      <p:sp>
        <p:nvSpPr>
          <p:cNvPr id="29" name="Text 27"/>
          <p:cNvSpPr/>
          <p:nvPr/>
        </p:nvSpPr>
        <p:spPr>
          <a:xfrm>
            <a:off x="8229600" y="2999232"/>
            <a:ext cx="3611880" cy="292608"/>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Interest Rate</a:t>
            </a:r>
            <a:endParaRPr lang="en-US" sz="1150" dirty="0"/>
          </a:p>
        </p:txBody>
      </p:sp>
      <p:sp>
        <p:nvSpPr>
          <p:cNvPr id="30" name="Text 28"/>
          <p:cNvSpPr/>
          <p:nvPr/>
        </p:nvSpPr>
        <p:spPr>
          <a:xfrm>
            <a:off x="8229600" y="3273552"/>
            <a:ext cx="3611880" cy="320040"/>
          </a:xfrm>
          <a:prstGeom prst="rect">
            <a:avLst/>
          </a:prstGeom>
          <a:noFill/>
          <a:ln/>
        </p:spPr>
        <p:txBody>
          <a:bodyPr wrap="square" rtlCol="0" anchor="ctr"/>
          <a:lstStyle/>
          <a:p>
            <a:pPr marL="0" indent="0">
              <a:buNone/>
            </a:pPr>
            <a:r>
              <a:rPr lang="en-US" sz="950" dirty="0">
                <a:solidFill>
                  <a:srgbClr val="5B6B8C"/>
                </a:solidFill>
                <a:latin typeface="Calibri" pitchFamily="34" charset="0"/>
                <a:ea typeface="Calibri" pitchFamily="34" charset="-122"/>
                <a:cs typeface="Calibri" pitchFamily="34" charset="-120"/>
              </a:rPr>
              <a:t>Price of risk on the loan</a:t>
            </a:r>
            <a:endParaRPr lang="en-US" sz="950" dirty="0"/>
          </a:p>
        </p:txBody>
      </p:sp>
      <p:sp>
        <p:nvSpPr>
          <p:cNvPr id="31" name="Shape 29"/>
          <p:cNvSpPr/>
          <p:nvPr/>
        </p:nvSpPr>
        <p:spPr>
          <a:xfrm>
            <a:off x="4114800" y="3794760"/>
            <a:ext cx="73152" cy="566928"/>
          </a:xfrm>
          <a:prstGeom prst="rect">
            <a:avLst/>
          </a:prstGeom>
          <a:solidFill>
            <a:srgbClr val="C9A227"/>
          </a:solidFill>
          <a:ln/>
        </p:spPr>
      </p:sp>
      <p:sp>
        <p:nvSpPr>
          <p:cNvPr id="32" name="Text 30"/>
          <p:cNvSpPr/>
          <p:nvPr/>
        </p:nvSpPr>
        <p:spPr>
          <a:xfrm>
            <a:off x="4297680" y="3776472"/>
            <a:ext cx="3611880" cy="292608"/>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Annual Income &amp; DTI</a:t>
            </a:r>
            <a:endParaRPr lang="en-US" sz="1150" dirty="0"/>
          </a:p>
        </p:txBody>
      </p:sp>
      <p:sp>
        <p:nvSpPr>
          <p:cNvPr id="33" name="Text 31"/>
          <p:cNvSpPr/>
          <p:nvPr/>
        </p:nvSpPr>
        <p:spPr>
          <a:xfrm>
            <a:off x="4297680" y="4050792"/>
            <a:ext cx="3611880" cy="320040"/>
          </a:xfrm>
          <a:prstGeom prst="rect">
            <a:avLst/>
          </a:prstGeom>
          <a:noFill/>
          <a:ln/>
        </p:spPr>
        <p:txBody>
          <a:bodyPr wrap="square" rtlCol="0" anchor="ctr"/>
          <a:lstStyle/>
          <a:p>
            <a:pPr marL="0" indent="0">
              <a:buNone/>
            </a:pPr>
            <a:r>
              <a:rPr lang="en-US" sz="950" dirty="0">
                <a:solidFill>
                  <a:srgbClr val="5B6B8C"/>
                </a:solidFill>
                <a:latin typeface="Calibri" pitchFamily="34" charset="0"/>
                <a:ea typeface="Calibri" pitchFamily="34" charset="-122"/>
                <a:cs typeface="Calibri" pitchFamily="34" charset="-120"/>
              </a:rPr>
              <a:t>Borrower's repayment capacity</a:t>
            </a:r>
            <a:endParaRPr lang="en-US" sz="950" dirty="0"/>
          </a:p>
        </p:txBody>
      </p:sp>
      <p:sp>
        <p:nvSpPr>
          <p:cNvPr id="34" name="Shape 32"/>
          <p:cNvSpPr/>
          <p:nvPr/>
        </p:nvSpPr>
        <p:spPr>
          <a:xfrm>
            <a:off x="8046720" y="3794760"/>
            <a:ext cx="73152" cy="566928"/>
          </a:xfrm>
          <a:prstGeom prst="rect">
            <a:avLst/>
          </a:prstGeom>
          <a:solidFill>
            <a:srgbClr val="C9A227"/>
          </a:solidFill>
          <a:ln/>
        </p:spPr>
      </p:sp>
      <p:sp>
        <p:nvSpPr>
          <p:cNvPr id="35" name="Text 33"/>
          <p:cNvSpPr/>
          <p:nvPr/>
        </p:nvSpPr>
        <p:spPr>
          <a:xfrm>
            <a:off x="8229600" y="3776472"/>
            <a:ext cx="3611880" cy="292608"/>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Home Ownership</a:t>
            </a:r>
            <a:endParaRPr lang="en-US" sz="1150" dirty="0"/>
          </a:p>
        </p:txBody>
      </p:sp>
      <p:sp>
        <p:nvSpPr>
          <p:cNvPr id="36" name="Text 34"/>
          <p:cNvSpPr/>
          <p:nvPr/>
        </p:nvSpPr>
        <p:spPr>
          <a:xfrm>
            <a:off x="8229600" y="4050792"/>
            <a:ext cx="3611880" cy="320040"/>
          </a:xfrm>
          <a:prstGeom prst="rect">
            <a:avLst/>
          </a:prstGeom>
          <a:noFill/>
          <a:ln/>
        </p:spPr>
        <p:txBody>
          <a:bodyPr wrap="square" rtlCol="0" anchor="ctr"/>
          <a:lstStyle/>
          <a:p>
            <a:pPr marL="0" indent="0">
              <a:buNone/>
            </a:pPr>
            <a:r>
              <a:rPr lang="en-US" sz="950" dirty="0">
                <a:solidFill>
                  <a:srgbClr val="5B6B8C"/>
                </a:solidFill>
                <a:latin typeface="Calibri" pitchFamily="34" charset="0"/>
                <a:ea typeface="Calibri" pitchFamily="34" charset="-122"/>
                <a:cs typeface="Calibri" pitchFamily="34" charset="-120"/>
              </a:rPr>
              <a:t>Rent, mortgage, or owned</a:t>
            </a:r>
            <a:endParaRPr lang="en-US" sz="950" dirty="0"/>
          </a:p>
        </p:txBody>
      </p:sp>
      <p:sp>
        <p:nvSpPr>
          <p:cNvPr id="37" name="Shape 35"/>
          <p:cNvSpPr/>
          <p:nvPr/>
        </p:nvSpPr>
        <p:spPr>
          <a:xfrm>
            <a:off x="4114800" y="4572000"/>
            <a:ext cx="73152" cy="566928"/>
          </a:xfrm>
          <a:prstGeom prst="rect">
            <a:avLst/>
          </a:prstGeom>
          <a:solidFill>
            <a:srgbClr val="C9A227"/>
          </a:solidFill>
          <a:ln/>
        </p:spPr>
      </p:sp>
      <p:sp>
        <p:nvSpPr>
          <p:cNvPr id="38" name="Text 36"/>
          <p:cNvSpPr/>
          <p:nvPr/>
        </p:nvSpPr>
        <p:spPr>
          <a:xfrm>
            <a:off x="4297680" y="4553712"/>
            <a:ext cx="3611880" cy="292608"/>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Employment Length</a:t>
            </a:r>
            <a:endParaRPr lang="en-US" sz="1150" dirty="0"/>
          </a:p>
        </p:txBody>
      </p:sp>
      <p:sp>
        <p:nvSpPr>
          <p:cNvPr id="39" name="Text 37"/>
          <p:cNvSpPr/>
          <p:nvPr/>
        </p:nvSpPr>
        <p:spPr>
          <a:xfrm>
            <a:off x="4297680" y="4828032"/>
            <a:ext cx="3611880" cy="320040"/>
          </a:xfrm>
          <a:prstGeom prst="rect">
            <a:avLst/>
          </a:prstGeom>
          <a:noFill/>
          <a:ln/>
        </p:spPr>
        <p:txBody>
          <a:bodyPr wrap="square" rtlCol="0" anchor="ctr"/>
          <a:lstStyle/>
          <a:p>
            <a:pPr marL="0" indent="0">
              <a:buNone/>
            </a:pPr>
            <a:r>
              <a:rPr lang="en-US" sz="950" dirty="0">
                <a:solidFill>
                  <a:srgbClr val="5B6B8C"/>
                </a:solidFill>
                <a:latin typeface="Calibri" pitchFamily="34" charset="0"/>
                <a:ea typeface="Calibri" pitchFamily="34" charset="-122"/>
                <a:cs typeface="Calibri" pitchFamily="34" charset="-120"/>
              </a:rPr>
              <a:t>Income stability proxy</a:t>
            </a:r>
            <a:endParaRPr lang="en-US" sz="950" dirty="0"/>
          </a:p>
        </p:txBody>
      </p:sp>
      <p:sp>
        <p:nvSpPr>
          <p:cNvPr id="40" name="Shape 38"/>
          <p:cNvSpPr/>
          <p:nvPr/>
        </p:nvSpPr>
        <p:spPr>
          <a:xfrm>
            <a:off x="8046720" y="4572000"/>
            <a:ext cx="73152" cy="566928"/>
          </a:xfrm>
          <a:prstGeom prst="rect">
            <a:avLst/>
          </a:prstGeom>
          <a:solidFill>
            <a:srgbClr val="C9A227"/>
          </a:solidFill>
          <a:ln/>
        </p:spPr>
      </p:sp>
      <p:sp>
        <p:nvSpPr>
          <p:cNvPr id="41" name="Text 39"/>
          <p:cNvSpPr/>
          <p:nvPr/>
        </p:nvSpPr>
        <p:spPr>
          <a:xfrm>
            <a:off x="8229600" y="4553712"/>
            <a:ext cx="3611880" cy="292608"/>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Issue Date</a:t>
            </a:r>
            <a:endParaRPr lang="en-US" sz="1150" dirty="0"/>
          </a:p>
        </p:txBody>
      </p:sp>
      <p:sp>
        <p:nvSpPr>
          <p:cNvPr id="42" name="Text 40"/>
          <p:cNvSpPr/>
          <p:nvPr/>
        </p:nvSpPr>
        <p:spPr>
          <a:xfrm>
            <a:off x="8229600" y="4828032"/>
            <a:ext cx="3611880" cy="320040"/>
          </a:xfrm>
          <a:prstGeom prst="rect">
            <a:avLst/>
          </a:prstGeom>
          <a:noFill/>
          <a:ln/>
        </p:spPr>
        <p:txBody>
          <a:bodyPr wrap="square" rtlCol="0" anchor="ctr"/>
          <a:lstStyle/>
          <a:p>
            <a:pPr marL="0" indent="0">
              <a:buNone/>
            </a:pPr>
            <a:r>
              <a:rPr lang="en-US" sz="950" dirty="0">
                <a:solidFill>
                  <a:srgbClr val="5B6B8C"/>
                </a:solidFill>
                <a:latin typeface="Calibri" pitchFamily="34" charset="0"/>
                <a:ea typeface="Calibri" pitchFamily="34" charset="-122"/>
                <a:cs typeface="Calibri" pitchFamily="34" charset="-120"/>
              </a:rPr>
              <a:t>Enables trend and cohort analysis</a:t>
            </a:r>
            <a:endParaRPr lang="en-US" sz="950" dirty="0"/>
          </a:p>
        </p:txBody>
      </p:sp>
      <p:sp>
        <p:nvSpPr>
          <p:cNvPr id="43" name="Shape 41"/>
          <p:cNvSpPr/>
          <p:nvPr/>
        </p:nvSpPr>
        <p:spPr>
          <a:xfrm>
            <a:off x="4114800" y="5349240"/>
            <a:ext cx="73152" cy="566928"/>
          </a:xfrm>
          <a:prstGeom prst="rect">
            <a:avLst/>
          </a:prstGeom>
          <a:solidFill>
            <a:srgbClr val="C9A227"/>
          </a:solidFill>
          <a:ln/>
        </p:spPr>
      </p:sp>
      <p:sp>
        <p:nvSpPr>
          <p:cNvPr id="44" name="Text 42"/>
          <p:cNvSpPr/>
          <p:nvPr/>
        </p:nvSpPr>
        <p:spPr>
          <a:xfrm>
            <a:off x="4297680" y="5330952"/>
            <a:ext cx="3611880" cy="292608"/>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State</a:t>
            </a:r>
            <a:endParaRPr lang="en-US" sz="1150" dirty="0"/>
          </a:p>
        </p:txBody>
      </p:sp>
      <p:sp>
        <p:nvSpPr>
          <p:cNvPr id="45" name="Text 43"/>
          <p:cNvSpPr/>
          <p:nvPr/>
        </p:nvSpPr>
        <p:spPr>
          <a:xfrm>
            <a:off x="4297680" y="5605272"/>
            <a:ext cx="3611880" cy="320040"/>
          </a:xfrm>
          <a:prstGeom prst="rect">
            <a:avLst/>
          </a:prstGeom>
          <a:noFill/>
          <a:ln/>
        </p:spPr>
        <p:txBody>
          <a:bodyPr wrap="square" rtlCol="0" anchor="ctr"/>
          <a:lstStyle/>
          <a:p>
            <a:pPr marL="0" indent="0">
              <a:buNone/>
            </a:pPr>
            <a:r>
              <a:rPr lang="en-US" sz="950" dirty="0">
                <a:solidFill>
                  <a:srgbClr val="5B6B8C"/>
                </a:solidFill>
                <a:latin typeface="Calibri" pitchFamily="34" charset="0"/>
                <a:ea typeface="Calibri" pitchFamily="34" charset="-122"/>
                <a:cs typeface="Calibri" pitchFamily="34" charset="-120"/>
              </a:rPr>
              <a:t>Enables regional risk comparison</a:t>
            </a:r>
            <a:endParaRPr lang="en-US" sz="950" dirty="0"/>
          </a:p>
        </p:txBody>
      </p:sp>
      <p:sp>
        <p:nvSpPr>
          <p:cNvPr id="46" name="Text 44"/>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5B6B8C"/>
                </a:solidFill>
                <a:latin typeface="Calibri" pitchFamily="34" charset="0"/>
                <a:ea typeface="Calibri" pitchFamily="34" charset="-122"/>
                <a:cs typeface="Calibri" pitchFamily="34" charset="-120"/>
              </a:rPr>
              <a:t>Bank Loan Report Analysis</a:t>
            </a:r>
            <a:endParaRPr lang="en-US" sz="900" dirty="0"/>
          </a:p>
        </p:txBody>
      </p:sp>
      <p:sp>
        <p:nvSpPr>
          <p:cNvPr id="47" name="Text 45"/>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5B6B8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3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PROJECT WORKFLOW</a:t>
            </a:r>
            <a:endParaRPr lang="en-US" sz="1200" dirty="0"/>
          </a:p>
        </p:txBody>
      </p:sp>
      <p:sp>
        <p:nvSpPr>
          <p:cNvPr id="3" name="Text 1"/>
          <p:cNvSpPr/>
          <p:nvPr/>
        </p:nvSpPr>
        <p:spPr>
          <a:xfrm>
            <a:off x="548640" y="713232"/>
            <a:ext cx="8229600" cy="548640"/>
          </a:xfrm>
          <a:prstGeom prst="rect">
            <a:avLst/>
          </a:prstGeom>
          <a:noFill/>
          <a:ln/>
        </p:spPr>
        <p:txBody>
          <a:bodyPr wrap="square" rtlCol="0" anchor="ctr"/>
          <a:lstStyle/>
          <a:p>
            <a:pPr marL="0" indent="0">
              <a:buNone/>
            </a:pPr>
            <a:r>
              <a:rPr lang="en-US" sz="2700" b="1" dirty="0">
                <a:solidFill>
                  <a:srgbClr val="1B2340"/>
                </a:solidFill>
                <a:latin typeface="Cambria" pitchFamily="34" charset="0"/>
                <a:ea typeface="Cambria" pitchFamily="34" charset="-122"/>
                <a:cs typeface="Cambria" pitchFamily="34" charset="-120"/>
              </a:rPr>
              <a:t>From raw data to a business decision</a:t>
            </a:r>
            <a:endParaRPr lang="en-US" sz="2700" dirty="0"/>
          </a:p>
        </p:txBody>
      </p:sp>
      <p:sp>
        <p:nvSpPr>
          <p:cNvPr id="4" name="Shape 2"/>
          <p:cNvSpPr/>
          <p:nvPr/>
        </p:nvSpPr>
        <p:spPr>
          <a:xfrm>
            <a:off x="905256" y="1691640"/>
            <a:ext cx="3246120" cy="1371600"/>
          </a:xfrm>
          <a:prstGeom prst="roundRect">
            <a:avLst>
              <a:gd name="adj" fmla="val 6000"/>
            </a:avLst>
          </a:prstGeom>
          <a:solidFill>
            <a:srgbClr val="FFFFFF"/>
          </a:solidFill>
          <a:ln/>
          <a:effectLst>
            <a:outerShdw blurRad="76200" dist="25400" dir="5400000" algn="bl" rotWithShape="0">
              <a:srgbClr val="1B2340">
                <a:alpha val="15000"/>
              </a:srgbClr>
            </a:outerShdw>
          </a:effectLst>
        </p:spPr>
      </p:sp>
      <p:sp>
        <p:nvSpPr>
          <p:cNvPr id="5" name="Text 3"/>
          <p:cNvSpPr/>
          <p:nvPr/>
        </p:nvSpPr>
        <p:spPr>
          <a:xfrm>
            <a:off x="1042416" y="1691640"/>
            <a:ext cx="2971800" cy="1371600"/>
          </a:xfrm>
          <a:prstGeom prst="rect">
            <a:avLst/>
          </a:prstGeom>
          <a:noFill/>
          <a:ln/>
        </p:spPr>
        <p:txBody>
          <a:bodyPr wrap="square" rtlCol="0" anchor="ctr"/>
          <a:lstStyle/>
          <a:p>
            <a:pPr marL="0" indent="0" algn="ctr">
              <a:lnSpc>
                <a:spcPct val="115000"/>
              </a:lnSpc>
              <a:buNone/>
            </a:pPr>
            <a:r>
              <a:rPr lang="en-US" sz="1300" b="1" dirty="0">
                <a:solidFill>
                  <a:srgbClr val="1E2761"/>
                </a:solidFill>
                <a:latin typeface="Calibri" pitchFamily="34" charset="0"/>
                <a:ea typeface="Calibri" pitchFamily="34" charset="-122"/>
                <a:cs typeface="Calibri" pitchFamily="34" charset="-120"/>
              </a:rPr>
              <a:t>Business</a:t>
            </a:r>
            <a:endParaRPr lang="en-US" sz="1300" dirty="0"/>
          </a:p>
          <a:p>
            <a:pPr marL="0" indent="0" algn="ctr">
              <a:lnSpc>
                <a:spcPct val="115000"/>
              </a:lnSpc>
              <a:buNone/>
            </a:pPr>
            <a:r>
              <a:rPr lang="en-US" sz="1300" b="1" dirty="0">
                <a:solidFill>
                  <a:srgbClr val="1E2761"/>
                </a:solidFill>
                <a:latin typeface="Calibri" pitchFamily="34" charset="0"/>
                <a:ea typeface="Calibri" pitchFamily="34" charset="-122"/>
                <a:cs typeface="Calibri" pitchFamily="34" charset="-120"/>
              </a:rPr>
              <a:t>Problem</a:t>
            </a:r>
            <a:endParaRPr lang="en-US" sz="1300" dirty="0"/>
          </a:p>
        </p:txBody>
      </p:sp>
      <p:sp>
        <p:nvSpPr>
          <p:cNvPr id="6" name="Text 4"/>
          <p:cNvSpPr/>
          <p:nvPr/>
        </p:nvSpPr>
        <p:spPr>
          <a:xfrm>
            <a:off x="4151376" y="1691640"/>
            <a:ext cx="320040" cy="1371600"/>
          </a:xfrm>
          <a:prstGeom prst="rect">
            <a:avLst/>
          </a:prstGeom>
          <a:noFill/>
          <a:ln/>
        </p:spPr>
        <p:txBody>
          <a:bodyPr wrap="square"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a:t>
            </a:r>
            <a:endParaRPr lang="en-US" sz="2000" dirty="0"/>
          </a:p>
        </p:txBody>
      </p:sp>
      <p:sp>
        <p:nvSpPr>
          <p:cNvPr id="7" name="Shape 5"/>
          <p:cNvSpPr/>
          <p:nvPr/>
        </p:nvSpPr>
        <p:spPr>
          <a:xfrm>
            <a:off x="4471416" y="1691640"/>
            <a:ext cx="3246120" cy="1371600"/>
          </a:xfrm>
          <a:prstGeom prst="roundRect">
            <a:avLst>
              <a:gd name="adj" fmla="val 6000"/>
            </a:avLst>
          </a:prstGeom>
          <a:solidFill>
            <a:srgbClr val="FFFFFF"/>
          </a:solidFill>
          <a:ln/>
          <a:effectLst>
            <a:outerShdw blurRad="76200" dist="25400" dir="5400000" algn="bl" rotWithShape="0">
              <a:srgbClr val="1B2340">
                <a:alpha val="15000"/>
              </a:srgbClr>
            </a:outerShdw>
          </a:effectLst>
        </p:spPr>
      </p:sp>
      <p:sp>
        <p:nvSpPr>
          <p:cNvPr id="8" name="Text 6"/>
          <p:cNvSpPr/>
          <p:nvPr/>
        </p:nvSpPr>
        <p:spPr>
          <a:xfrm>
            <a:off x="4608576" y="1691640"/>
            <a:ext cx="2971800" cy="1371600"/>
          </a:xfrm>
          <a:prstGeom prst="rect">
            <a:avLst/>
          </a:prstGeom>
          <a:noFill/>
          <a:ln/>
        </p:spPr>
        <p:txBody>
          <a:bodyPr wrap="square" rtlCol="0" anchor="ctr"/>
          <a:lstStyle/>
          <a:p>
            <a:pPr marL="0" indent="0" algn="ctr">
              <a:lnSpc>
                <a:spcPct val="115000"/>
              </a:lnSpc>
              <a:buNone/>
            </a:pPr>
            <a:r>
              <a:rPr lang="en-US" sz="1300" b="1" dirty="0">
                <a:solidFill>
                  <a:srgbClr val="1E2761"/>
                </a:solidFill>
                <a:latin typeface="Calibri" pitchFamily="34" charset="0"/>
                <a:ea typeface="Calibri" pitchFamily="34" charset="-122"/>
                <a:cs typeface="Calibri" pitchFamily="34" charset="-120"/>
              </a:rPr>
              <a:t>Raw Excel</a:t>
            </a:r>
            <a:endParaRPr lang="en-US" sz="1300" dirty="0"/>
          </a:p>
          <a:p>
            <a:pPr marL="0" indent="0" algn="ctr">
              <a:lnSpc>
                <a:spcPct val="115000"/>
              </a:lnSpc>
              <a:buNone/>
            </a:pPr>
            <a:r>
              <a:rPr lang="en-US" sz="1300" b="1" dirty="0">
                <a:solidFill>
                  <a:srgbClr val="1E2761"/>
                </a:solidFill>
                <a:latin typeface="Calibri" pitchFamily="34" charset="0"/>
                <a:ea typeface="Calibri" pitchFamily="34" charset="-122"/>
                <a:cs typeface="Calibri" pitchFamily="34" charset="-120"/>
              </a:rPr>
              <a:t>Dataset</a:t>
            </a:r>
            <a:endParaRPr lang="en-US" sz="1300" dirty="0"/>
          </a:p>
        </p:txBody>
      </p:sp>
      <p:sp>
        <p:nvSpPr>
          <p:cNvPr id="9" name="Text 7"/>
          <p:cNvSpPr/>
          <p:nvPr/>
        </p:nvSpPr>
        <p:spPr>
          <a:xfrm>
            <a:off x="7717536" y="1691640"/>
            <a:ext cx="320040" cy="1371600"/>
          </a:xfrm>
          <a:prstGeom prst="rect">
            <a:avLst/>
          </a:prstGeom>
          <a:noFill/>
          <a:ln/>
        </p:spPr>
        <p:txBody>
          <a:bodyPr wrap="square"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8037576" y="1691640"/>
            <a:ext cx="3246120" cy="1371600"/>
          </a:xfrm>
          <a:prstGeom prst="roundRect">
            <a:avLst>
              <a:gd name="adj" fmla="val 6000"/>
            </a:avLst>
          </a:prstGeom>
          <a:solidFill>
            <a:srgbClr val="FFFFFF"/>
          </a:solidFill>
          <a:ln/>
          <a:effectLst>
            <a:outerShdw blurRad="76200" dist="25400" dir="5400000" algn="bl" rotWithShape="0">
              <a:srgbClr val="1B2340">
                <a:alpha val="15000"/>
              </a:srgbClr>
            </a:outerShdw>
          </a:effectLst>
        </p:spPr>
      </p:sp>
      <p:sp>
        <p:nvSpPr>
          <p:cNvPr id="11" name="Text 9"/>
          <p:cNvSpPr/>
          <p:nvPr/>
        </p:nvSpPr>
        <p:spPr>
          <a:xfrm>
            <a:off x="8174736" y="1691640"/>
            <a:ext cx="2971800" cy="1371600"/>
          </a:xfrm>
          <a:prstGeom prst="rect">
            <a:avLst/>
          </a:prstGeom>
          <a:noFill/>
          <a:ln/>
        </p:spPr>
        <p:txBody>
          <a:bodyPr wrap="square" rtlCol="0" anchor="ctr"/>
          <a:lstStyle/>
          <a:p>
            <a:pPr marL="0" indent="0" algn="ctr">
              <a:lnSpc>
                <a:spcPct val="115000"/>
              </a:lnSpc>
              <a:buNone/>
            </a:pPr>
            <a:r>
              <a:rPr lang="en-US" sz="1300" b="1" dirty="0">
                <a:solidFill>
                  <a:srgbClr val="1E2761"/>
                </a:solidFill>
                <a:latin typeface="Calibri" pitchFamily="34" charset="0"/>
                <a:ea typeface="Calibri" pitchFamily="34" charset="-122"/>
                <a:cs typeface="Calibri" pitchFamily="34" charset="-120"/>
              </a:rPr>
              <a:t>SQL Cleaning</a:t>
            </a:r>
            <a:endParaRPr lang="en-US" sz="1300" dirty="0"/>
          </a:p>
          <a:p>
            <a:pPr marL="0" indent="0" algn="ctr">
              <a:lnSpc>
                <a:spcPct val="115000"/>
              </a:lnSpc>
              <a:buNone/>
            </a:pPr>
            <a:r>
              <a:rPr lang="en-US" sz="1300" b="1" dirty="0">
                <a:solidFill>
                  <a:srgbClr val="1E2761"/>
                </a:solidFill>
                <a:latin typeface="Calibri" pitchFamily="34" charset="0"/>
                <a:ea typeface="Calibri" pitchFamily="34" charset="-122"/>
                <a:cs typeface="Calibri" pitchFamily="34" charset="-120"/>
              </a:rPr>
              <a:t>&amp; Analysis</a:t>
            </a:r>
            <a:endParaRPr lang="en-US" sz="1300" dirty="0"/>
          </a:p>
        </p:txBody>
      </p:sp>
      <p:sp>
        <p:nvSpPr>
          <p:cNvPr id="12" name="Text 10"/>
          <p:cNvSpPr/>
          <p:nvPr/>
        </p:nvSpPr>
        <p:spPr>
          <a:xfrm>
            <a:off x="5820156" y="3127248"/>
            <a:ext cx="548640" cy="457200"/>
          </a:xfrm>
          <a:prstGeom prst="rect">
            <a:avLst/>
          </a:prstGeom>
          <a:noFill/>
          <a:ln/>
        </p:spPr>
        <p:txBody>
          <a:bodyPr wrap="square" rtlCol="0" anchor="ctr"/>
          <a:lstStyle/>
          <a:p>
            <a:pPr marL="0" indent="0" algn="ctr">
              <a:buNone/>
            </a:pPr>
            <a:r>
              <a:rPr lang="en-US" sz="2200" b="1" dirty="0">
                <a:solidFill>
                  <a:srgbClr val="1E2761"/>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905256" y="3611880"/>
            <a:ext cx="3246120" cy="1371600"/>
          </a:xfrm>
          <a:prstGeom prst="roundRect">
            <a:avLst>
              <a:gd name="adj" fmla="val 6000"/>
            </a:avLst>
          </a:prstGeom>
          <a:solidFill>
            <a:srgbClr val="1E2761"/>
          </a:solidFill>
          <a:ln/>
          <a:effectLst>
            <a:outerShdw blurRad="76200" dist="25400" dir="5400000" algn="bl" rotWithShape="0">
              <a:srgbClr val="1B2340">
                <a:alpha val="15000"/>
              </a:srgbClr>
            </a:outerShdw>
          </a:effectLst>
        </p:spPr>
      </p:sp>
      <p:sp>
        <p:nvSpPr>
          <p:cNvPr id="14" name="Text 12"/>
          <p:cNvSpPr/>
          <p:nvPr/>
        </p:nvSpPr>
        <p:spPr>
          <a:xfrm>
            <a:off x="1042416" y="3611880"/>
            <a:ext cx="2971800" cy="1371600"/>
          </a:xfrm>
          <a:prstGeom prst="rect">
            <a:avLst/>
          </a:prstGeom>
          <a:noFill/>
          <a:ln/>
        </p:spPr>
        <p:txBody>
          <a:bodyPr wrap="square" rtlCol="0" anchor="ctr"/>
          <a:lstStyle/>
          <a:p>
            <a:pPr marL="0" indent="0" algn="ctr">
              <a:lnSpc>
                <a:spcPct val="115000"/>
              </a:lnSpc>
              <a:buNone/>
            </a:pPr>
            <a:r>
              <a:rPr lang="en-US" sz="1300" b="1" dirty="0">
                <a:solidFill>
                  <a:srgbClr val="FFFFFF"/>
                </a:solidFill>
                <a:latin typeface="Calibri" pitchFamily="34" charset="0"/>
                <a:ea typeface="Calibri" pitchFamily="34" charset="-122"/>
                <a:cs typeface="Calibri" pitchFamily="34" charset="-120"/>
              </a:rPr>
              <a:t>Power Query</a:t>
            </a:r>
            <a:endParaRPr lang="en-US" sz="1300" dirty="0"/>
          </a:p>
          <a:p>
            <a:pPr marL="0" indent="0" algn="ctr">
              <a:lnSpc>
                <a:spcPct val="115000"/>
              </a:lnSpc>
              <a:buNone/>
            </a:pPr>
            <a:r>
              <a:rPr lang="en-US" sz="1300" b="1" dirty="0">
                <a:solidFill>
                  <a:srgbClr val="FFFFFF"/>
                </a:solidFill>
                <a:latin typeface="Calibri" pitchFamily="34" charset="0"/>
                <a:ea typeface="Calibri" pitchFamily="34" charset="-122"/>
                <a:cs typeface="Calibri" pitchFamily="34" charset="-120"/>
              </a:rPr>
              <a:t>&amp; Data Model</a:t>
            </a:r>
            <a:endParaRPr lang="en-US" sz="1300" dirty="0"/>
          </a:p>
        </p:txBody>
      </p:sp>
      <p:sp>
        <p:nvSpPr>
          <p:cNvPr id="15" name="Text 13"/>
          <p:cNvSpPr/>
          <p:nvPr/>
        </p:nvSpPr>
        <p:spPr>
          <a:xfrm>
            <a:off x="4151376" y="3611880"/>
            <a:ext cx="320040" cy="1371600"/>
          </a:xfrm>
          <a:prstGeom prst="rect">
            <a:avLst/>
          </a:prstGeom>
          <a:noFill/>
          <a:ln/>
        </p:spPr>
        <p:txBody>
          <a:bodyPr wrap="square"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4471416" y="3611880"/>
            <a:ext cx="3246120" cy="1371600"/>
          </a:xfrm>
          <a:prstGeom prst="roundRect">
            <a:avLst>
              <a:gd name="adj" fmla="val 6000"/>
            </a:avLst>
          </a:prstGeom>
          <a:solidFill>
            <a:srgbClr val="1E2761"/>
          </a:solidFill>
          <a:ln/>
          <a:effectLst>
            <a:outerShdw blurRad="76200" dist="25400" dir="5400000" algn="bl" rotWithShape="0">
              <a:srgbClr val="1B2340">
                <a:alpha val="15000"/>
              </a:srgbClr>
            </a:outerShdw>
          </a:effectLst>
        </p:spPr>
      </p:sp>
      <p:sp>
        <p:nvSpPr>
          <p:cNvPr id="17" name="Text 15"/>
          <p:cNvSpPr/>
          <p:nvPr/>
        </p:nvSpPr>
        <p:spPr>
          <a:xfrm>
            <a:off x="4608576" y="3611880"/>
            <a:ext cx="2971800" cy="1371600"/>
          </a:xfrm>
          <a:prstGeom prst="rect">
            <a:avLst/>
          </a:prstGeom>
          <a:noFill/>
          <a:ln/>
        </p:spPr>
        <p:txBody>
          <a:bodyPr wrap="square" rtlCol="0" anchor="ctr"/>
          <a:lstStyle/>
          <a:p>
            <a:pPr marL="0" indent="0" algn="ctr">
              <a:lnSpc>
                <a:spcPct val="115000"/>
              </a:lnSpc>
              <a:buNone/>
            </a:pPr>
            <a:r>
              <a:rPr lang="en-US" sz="1300" b="1" dirty="0">
                <a:solidFill>
                  <a:srgbClr val="FFFFFF"/>
                </a:solidFill>
                <a:latin typeface="Calibri" pitchFamily="34" charset="0"/>
                <a:ea typeface="Calibri" pitchFamily="34" charset="-122"/>
                <a:cs typeface="Calibri" pitchFamily="34" charset="-120"/>
              </a:rPr>
              <a:t>DAX Measures</a:t>
            </a:r>
            <a:endParaRPr lang="en-US" sz="1300" dirty="0"/>
          </a:p>
          <a:p>
            <a:pPr marL="0" indent="0" algn="ctr">
              <a:lnSpc>
                <a:spcPct val="115000"/>
              </a:lnSpc>
              <a:buNone/>
            </a:pPr>
            <a:r>
              <a:rPr lang="en-US" sz="1300" b="1" dirty="0">
                <a:solidFill>
                  <a:srgbClr val="FFFFFF"/>
                </a:solidFill>
                <a:latin typeface="Calibri" pitchFamily="34" charset="0"/>
                <a:ea typeface="Calibri" pitchFamily="34" charset="-122"/>
                <a:cs typeface="Calibri" pitchFamily="34" charset="-120"/>
              </a:rPr>
              <a:t>&amp; Power BI</a:t>
            </a:r>
            <a:endParaRPr lang="en-US" sz="1300" dirty="0"/>
          </a:p>
        </p:txBody>
      </p:sp>
      <p:sp>
        <p:nvSpPr>
          <p:cNvPr id="18" name="Text 16"/>
          <p:cNvSpPr/>
          <p:nvPr/>
        </p:nvSpPr>
        <p:spPr>
          <a:xfrm>
            <a:off x="7717536" y="3611880"/>
            <a:ext cx="320040" cy="1371600"/>
          </a:xfrm>
          <a:prstGeom prst="rect">
            <a:avLst/>
          </a:prstGeom>
          <a:noFill/>
          <a:ln/>
        </p:spPr>
        <p:txBody>
          <a:bodyPr wrap="square"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8037576" y="3611880"/>
            <a:ext cx="3246120" cy="1371600"/>
          </a:xfrm>
          <a:prstGeom prst="roundRect">
            <a:avLst>
              <a:gd name="adj" fmla="val 6000"/>
            </a:avLst>
          </a:prstGeom>
          <a:solidFill>
            <a:srgbClr val="1E2761"/>
          </a:solidFill>
          <a:ln/>
          <a:effectLst>
            <a:outerShdw blurRad="76200" dist="25400" dir="5400000" algn="bl" rotWithShape="0">
              <a:srgbClr val="1B2340">
                <a:alpha val="15000"/>
              </a:srgbClr>
            </a:outerShdw>
          </a:effectLst>
        </p:spPr>
      </p:sp>
      <p:sp>
        <p:nvSpPr>
          <p:cNvPr id="20" name="Text 18"/>
          <p:cNvSpPr/>
          <p:nvPr/>
        </p:nvSpPr>
        <p:spPr>
          <a:xfrm>
            <a:off x="8174736" y="3611880"/>
            <a:ext cx="2971800" cy="1371600"/>
          </a:xfrm>
          <a:prstGeom prst="rect">
            <a:avLst/>
          </a:prstGeom>
          <a:noFill/>
          <a:ln/>
        </p:spPr>
        <p:txBody>
          <a:bodyPr wrap="square" rtlCol="0" anchor="ctr"/>
          <a:lstStyle/>
          <a:p>
            <a:pPr marL="0" indent="0" algn="ctr">
              <a:lnSpc>
                <a:spcPct val="115000"/>
              </a:lnSpc>
              <a:buNone/>
            </a:pPr>
            <a:r>
              <a:rPr lang="en-US" sz="1300" b="1" dirty="0">
                <a:solidFill>
                  <a:srgbClr val="FFFFFF"/>
                </a:solidFill>
                <a:latin typeface="Calibri" pitchFamily="34" charset="0"/>
                <a:ea typeface="Calibri" pitchFamily="34" charset="-122"/>
                <a:cs typeface="Calibri" pitchFamily="34" charset="-120"/>
              </a:rPr>
              <a:t>Insights &amp;</a:t>
            </a:r>
            <a:endParaRPr lang="en-US" sz="1300" dirty="0"/>
          </a:p>
          <a:p>
            <a:pPr marL="0" indent="0" algn="ctr">
              <a:lnSpc>
                <a:spcPct val="115000"/>
              </a:lnSpc>
              <a:buNone/>
            </a:pPr>
            <a:r>
              <a:rPr lang="en-US" sz="1300" b="1" dirty="0">
                <a:solidFill>
                  <a:srgbClr val="FFFFFF"/>
                </a:solidFill>
                <a:latin typeface="Calibri" pitchFamily="34" charset="0"/>
                <a:ea typeface="Calibri" pitchFamily="34" charset="-122"/>
                <a:cs typeface="Calibri" pitchFamily="34" charset="-120"/>
              </a:rPr>
              <a:t>Business Decisions</a:t>
            </a:r>
            <a:endParaRPr lang="en-US" sz="1300" dirty="0"/>
          </a:p>
        </p:txBody>
      </p:sp>
      <p:sp>
        <p:nvSpPr>
          <p:cNvPr id="21" name="Text 19"/>
          <p:cNvSpPr/>
          <p:nvPr/>
        </p:nvSpPr>
        <p:spPr>
          <a:xfrm>
            <a:off x="1097280" y="5257800"/>
            <a:ext cx="9966960" cy="548640"/>
          </a:xfrm>
          <a:prstGeom prst="rect">
            <a:avLst/>
          </a:prstGeom>
          <a:noFill/>
          <a:ln/>
        </p:spPr>
        <p:txBody>
          <a:bodyPr wrap="square" rtlCol="0" anchor="ctr"/>
          <a:lstStyle/>
          <a:p>
            <a:pPr marL="0" indent="0" algn="ctr">
              <a:buNone/>
            </a:pPr>
            <a:r>
              <a:rPr lang="en-US" sz="1250" i="1" dirty="0">
                <a:solidFill>
                  <a:srgbClr val="5B6B8C"/>
                </a:solidFill>
                <a:latin typeface="Calibri" pitchFamily="34" charset="0"/>
                <a:ea typeface="Calibri" pitchFamily="34" charset="-122"/>
                <a:cs typeface="Calibri" pitchFamily="34" charset="-120"/>
              </a:rPr>
              <a:t>Each stage hands off a validated artifact to the next — SQL output feeds the Power BI model, and the model output is the dashboard leadership uses to act.</a:t>
            </a:r>
            <a:endParaRPr lang="en-US" sz="1250" dirty="0"/>
          </a:p>
        </p:txBody>
      </p:sp>
      <p:sp>
        <p:nvSpPr>
          <p:cNvPr id="22" name="Text 20"/>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5B6B8C"/>
                </a:solidFill>
                <a:latin typeface="Calibri" pitchFamily="34" charset="0"/>
                <a:ea typeface="Calibri" pitchFamily="34" charset="-122"/>
                <a:cs typeface="Calibri" pitchFamily="34" charset="-120"/>
              </a:rPr>
              <a:t>Bank Loan Report Analysis</a:t>
            </a:r>
            <a:endParaRPr lang="en-US" sz="900" dirty="0"/>
          </a:p>
        </p:txBody>
      </p:sp>
      <p:sp>
        <p:nvSpPr>
          <p:cNvPr id="23" name="Text 21"/>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5B6B8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DATA PREPARATION</a:t>
            </a:r>
            <a:endParaRPr lang="en-US" sz="1200" dirty="0"/>
          </a:p>
        </p:txBody>
      </p:sp>
      <p:sp>
        <p:nvSpPr>
          <p:cNvPr id="3" name="Text 1"/>
          <p:cNvSpPr/>
          <p:nvPr/>
        </p:nvSpPr>
        <p:spPr>
          <a:xfrm>
            <a:off x="548640" y="713232"/>
            <a:ext cx="9601200" cy="548640"/>
          </a:xfrm>
          <a:prstGeom prst="rect">
            <a:avLst/>
          </a:prstGeom>
          <a:noFill/>
          <a:ln/>
        </p:spPr>
        <p:txBody>
          <a:bodyPr wrap="square" rtlCol="0" anchor="ctr"/>
          <a:lstStyle/>
          <a:p>
            <a:pPr marL="0" indent="0">
              <a:buNone/>
            </a:pPr>
            <a:r>
              <a:rPr lang="en-US" sz="2400" b="1" dirty="0">
                <a:solidFill>
                  <a:srgbClr val="1B2340"/>
                </a:solidFill>
                <a:latin typeface="Cambria" pitchFamily="34" charset="0"/>
                <a:ea typeface="Cambria" pitchFamily="34" charset="-122"/>
                <a:cs typeface="Cambria" pitchFamily="34" charset="-120"/>
              </a:rPr>
              <a:t>Clean data is the foundation of a trusted dashboard</a:t>
            </a:r>
            <a:endParaRPr lang="en-US" sz="2400" dirty="0"/>
          </a:p>
        </p:txBody>
      </p:sp>
      <p:sp>
        <p:nvSpPr>
          <p:cNvPr id="4" name="Shape 2"/>
          <p:cNvSpPr/>
          <p:nvPr/>
        </p:nvSpPr>
        <p:spPr>
          <a:xfrm>
            <a:off x="548640" y="1554480"/>
            <a:ext cx="5120640" cy="4617720"/>
          </a:xfrm>
          <a:prstGeom prst="roundRect">
            <a:avLst>
              <a:gd name="adj" fmla="val 1584"/>
            </a:avLst>
          </a:prstGeom>
          <a:solidFill>
            <a:srgbClr val="EEF3FC"/>
          </a:solidFill>
          <a:ln/>
        </p:spPr>
      </p:sp>
      <p:sp>
        <p:nvSpPr>
          <p:cNvPr id="5" name="Text 3"/>
          <p:cNvSpPr/>
          <p:nvPr/>
        </p:nvSpPr>
        <p:spPr>
          <a:xfrm>
            <a:off x="822960" y="1783080"/>
            <a:ext cx="457200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Cleaning steps applied</a:t>
            </a:r>
            <a:endParaRPr lang="en-US" sz="1400" dirty="0"/>
          </a:p>
        </p:txBody>
      </p:sp>
      <p:sp>
        <p:nvSpPr>
          <p:cNvPr id="6" name="Shape 4"/>
          <p:cNvSpPr/>
          <p:nvPr/>
        </p:nvSpPr>
        <p:spPr>
          <a:xfrm>
            <a:off x="822960" y="2286000"/>
            <a:ext cx="329184" cy="329184"/>
          </a:xfrm>
          <a:prstGeom prst="ellipse">
            <a:avLst/>
          </a:prstGeom>
          <a:solidFill>
            <a:srgbClr val="C9A227"/>
          </a:solidFill>
          <a:ln/>
        </p:spPr>
      </p:sp>
      <p:sp>
        <p:nvSpPr>
          <p:cNvPr id="7" name="Text 5"/>
          <p:cNvSpPr/>
          <p:nvPr/>
        </p:nvSpPr>
        <p:spPr>
          <a:xfrm>
            <a:off x="822960" y="2286000"/>
            <a:ext cx="329184" cy="329184"/>
          </a:xfrm>
          <a:prstGeom prst="rect">
            <a:avLst/>
          </a:prstGeom>
          <a:noFill/>
          <a:ln/>
        </p:spPr>
        <p:txBody>
          <a:bodyPr wrap="square" lIns="0" tIns="0" rIns="0" bIns="0" rtlCol="0" anchor="ctr"/>
          <a:lstStyle/>
          <a:p>
            <a:pPr marL="0" indent="0" algn="ctr">
              <a:buNone/>
            </a:pPr>
            <a:r>
              <a:rPr lang="en-US" sz="1200" b="1" dirty="0">
                <a:solidFill>
                  <a:srgbClr val="141B44"/>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298448" y="2267712"/>
            <a:ext cx="4206240" cy="502920"/>
          </a:xfrm>
          <a:prstGeom prst="rect">
            <a:avLst/>
          </a:prstGeom>
          <a:noFill/>
          <a:ln/>
        </p:spPr>
        <p:txBody>
          <a:bodyPr wrap="square" rtlCol="0" anchor="ctr"/>
          <a:lstStyle/>
          <a:p>
            <a:pPr marL="0" indent="0">
              <a:lnSpc>
                <a:spcPct val="115000"/>
              </a:lnSpc>
              <a:buNone/>
            </a:pPr>
            <a:r>
              <a:rPr lang="en-US" sz="1150" dirty="0">
                <a:solidFill>
                  <a:srgbClr val="1B2340"/>
                </a:solidFill>
                <a:latin typeface="Calibri" pitchFamily="34" charset="0"/>
                <a:ea typeface="Calibri" pitchFamily="34" charset="-122"/>
                <a:cs typeface="Calibri" pitchFamily="34" charset="-120"/>
              </a:rPr>
              <a:t>Removing duplicate loan records</a:t>
            </a:r>
            <a:endParaRPr lang="en-US" sz="1150" dirty="0"/>
          </a:p>
        </p:txBody>
      </p:sp>
      <p:sp>
        <p:nvSpPr>
          <p:cNvPr id="9" name="Shape 7"/>
          <p:cNvSpPr/>
          <p:nvPr/>
        </p:nvSpPr>
        <p:spPr>
          <a:xfrm>
            <a:off x="822960" y="2944368"/>
            <a:ext cx="329184" cy="329184"/>
          </a:xfrm>
          <a:prstGeom prst="ellipse">
            <a:avLst/>
          </a:prstGeom>
          <a:solidFill>
            <a:srgbClr val="C9A227"/>
          </a:solidFill>
          <a:ln/>
        </p:spPr>
      </p:sp>
      <p:sp>
        <p:nvSpPr>
          <p:cNvPr id="10" name="Text 8"/>
          <p:cNvSpPr/>
          <p:nvPr/>
        </p:nvSpPr>
        <p:spPr>
          <a:xfrm>
            <a:off x="822960" y="2944368"/>
            <a:ext cx="329184" cy="329184"/>
          </a:xfrm>
          <a:prstGeom prst="rect">
            <a:avLst/>
          </a:prstGeom>
          <a:noFill/>
          <a:ln/>
        </p:spPr>
        <p:txBody>
          <a:bodyPr wrap="square" lIns="0" tIns="0" rIns="0" bIns="0" rtlCol="0" anchor="ctr"/>
          <a:lstStyle/>
          <a:p>
            <a:pPr marL="0" indent="0" algn="ctr">
              <a:buNone/>
            </a:pPr>
            <a:r>
              <a:rPr lang="en-US" sz="1200" b="1" dirty="0">
                <a:solidFill>
                  <a:srgbClr val="141B44"/>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298448" y="2926080"/>
            <a:ext cx="4206240" cy="502920"/>
          </a:xfrm>
          <a:prstGeom prst="rect">
            <a:avLst/>
          </a:prstGeom>
          <a:noFill/>
          <a:ln/>
        </p:spPr>
        <p:txBody>
          <a:bodyPr wrap="square" rtlCol="0" anchor="ctr"/>
          <a:lstStyle/>
          <a:p>
            <a:pPr marL="0" indent="0">
              <a:lnSpc>
                <a:spcPct val="115000"/>
              </a:lnSpc>
              <a:buNone/>
            </a:pPr>
            <a:r>
              <a:rPr lang="en-US" sz="1150" dirty="0">
                <a:solidFill>
                  <a:srgbClr val="1B2340"/>
                </a:solidFill>
                <a:latin typeface="Calibri" pitchFamily="34" charset="0"/>
                <a:ea typeface="Calibri" pitchFamily="34" charset="-122"/>
                <a:cs typeface="Calibri" pitchFamily="34" charset="-120"/>
              </a:rPr>
              <a:t>Handling missing / null values</a:t>
            </a:r>
            <a:endParaRPr lang="en-US" sz="1150" dirty="0"/>
          </a:p>
        </p:txBody>
      </p:sp>
      <p:sp>
        <p:nvSpPr>
          <p:cNvPr id="12" name="Shape 10"/>
          <p:cNvSpPr/>
          <p:nvPr/>
        </p:nvSpPr>
        <p:spPr>
          <a:xfrm>
            <a:off x="822960" y="3602736"/>
            <a:ext cx="329184" cy="329184"/>
          </a:xfrm>
          <a:prstGeom prst="ellipse">
            <a:avLst/>
          </a:prstGeom>
          <a:solidFill>
            <a:srgbClr val="C9A227"/>
          </a:solidFill>
          <a:ln/>
        </p:spPr>
      </p:sp>
      <p:sp>
        <p:nvSpPr>
          <p:cNvPr id="13" name="Text 11"/>
          <p:cNvSpPr/>
          <p:nvPr/>
        </p:nvSpPr>
        <p:spPr>
          <a:xfrm>
            <a:off x="822960" y="3602736"/>
            <a:ext cx="329184" cy="329184"/>
          </a:xfrm>
          <a:prstGeom prst="rect">
            <a:avLst/>
          </a:prstGeom>
          <a:noFill/>
          <a:ln/>
        </p:spPr>
        <p:txBody>
          <a:bodyPr wrap="square" lIns="0" tIns="0" rIns="0" bIns="0" rtlCol="0" anchor="ctr"/>
          <a:lstStyle/>
          <a:p>
            <a:pPr marL="0" indent="0" algn="ctr">
              <a:buNone/>
            </a:pPr>
            <a:r>
              <a:rPr lang="en-US" sz="1200" b="1" dirty="0">
                <a:solidFill>
                  <a:srgbClr val="141B44"/>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298448" y="3584448"/>
            <a:ext cx="4206240" cy="502920"/>
          </a:xfrm>
          <a:prstGeom prst="rect">
            <a:avLst/>
          </a:prstGeom>
          <a:noFill/>
          <a:ln/>
        </p:spPr>
        <p:txBody>
          <a:bodyPr wrap="square" rtlCol="0" anchor="ctr"/>
          <a:lstStyle/>
          <a:p>
            <a:pPr marL="0" indent="0">
              <a:lnSpc>
                <a:spcPct val="115000"/>
              </a:lnSpc>
              <a:buNone/>
            </a:pPr>
            <a:r>
              <a:rPr lang="en-US" sz="1150" dirty="0">
                <a:solidFill>
                  <a:srgbClr val="1B2340"/>
                </a:solidFill>
                <a:latin typeface="Calibri" pitchFamily="34" charset="0"/>
                <a:ea typeface="Calibri" pitchFamily="34" charset="-122"/>
                <a:cs typeface="Calibri" pitchFamily="34" charset="-120"/>
              </a:rPr>
              <a:t>Standardizing categorical fields (status, purpose, grade)</a:t>
            </a:r>
            <a:endParaRPr lang="en-US" sz="1150" dirty="0"/>
          </a:p>
        </p:txBody>
      </p:sp>
      <p:sp>
        <p:nvSpPr>
          <p:cNvPr id="15" name="Shape 13"/>
          <p:cNvSpPr/>
          <p:nvPr/>
        </p:nvSpPr>
        <p:spPr>
          <a:xfrm>
            <a:off x="822960" y="4261104"/>
            <a:ext cx="329184" cy="329184"/>
          </a:xfrm>
          <a:prstGeom prst="ellipse">
            <a:avLst/>
          </a:prstGeom>
          <a:solidFill>
            <a:srgbClr val="C9A227"/>
          </a:solidFill>
          <a:ln/>
        </p:spPr>
      </p:sp>
      <p:sp>
        <p:nvSpPr>
          <p:cNvPr id="16" name="Text 14"/>
          <p:cNvSpPr/>
          <p:nvPr/>
        </p:nvSpPr>
        <p:spPr>
          <a:xfrm>
            <a:off x="822960" y="4261104"/>
            <a:ext cx="329184" cy="329184"/>
          </a:xfrm>
          <a:prstGeom prst="rect">
            <a:avLst/>
          </a:prstGeom>
          <a:noFill/>
          <a:ln/>
        </p:spPr>
        <p:txBody>
          <a:bodyPr wrap="square" lIns="0" tIns="0" rIns="0" bIns="0" rtlCol="0" anchor="ctr"/>
          <a:lstStyle/>
          <a:p>
            <a:pPr marL="0" indent="0" algn="ctr">
              <a:buNone/>
            </a:pPr>
            <a:r>
              <a:rPr lang="en-US" sz="1200" b="1" dirty="0">
                <a:solidFill>
                  <a:srgbClr val="141B44"/>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1298448" y="4242816"/>
            <a:ext cx="4206240" cy="502920"/>
          </a:xfrm>
          <a:prstGeom prst="rect">
            <a:avLst/>
          </a:prstGeom>
          <a:noFill/>
          <a:ln/>
        </p:spPr>
        <p:txBody>
          <a:bodyPr wrap="square" rtlCol="0" anchor="ctr"/>
          <a:lstStyle/>
          <a:p>
            <a:pPr marL="0" indent="0">
              <a:lnSpc>
                <a:spcPct val="115000"/>
              </a:lnSpc>
              <a:buNone/>
            </a:pPr>
            <a:r>
              <a:rPr lang="en-US" sz="1150" dirty="0">
                <a:solidFill>
                  <a:srgbClr val="1B2340"/>
                </a:solidFill>
                <a:latin typeface="Calibri" pitchFamily="34" charset="0"/>
                <a:ea typeface="Calibri" pitchFamily="34" charset="-122"/>
                <a:cs typeface="Calibri" pitchFamily="34" charset="-120"/>
              </a:rPr>
              <a:t>Converting and formatting issue / payment dates</a:t>
            </a:r>
            <a:endParaRPr lang="en-US" sz="1150" dirty="0"/>
          </a:p>
        </p:txBody>
      </p:sp>
      <p:sp>
        <p:nvSpPr>
          <p:cNvPr id="18" name="Shape 16"/>
          <p:cNvSpPr/>
          <p:nvPr/>
        </p:nvSpPr>
        <p:spPr>
          <a:xfrm>
            <a:off x="822960" y="4919472"/>
            <a:ext cx="329184" cy="329184"/>
          </a:xfrm>
          <a:prstGeom prst="ellipse">
            <a:avLst/>
          </a:prstGeom>
          <a:solidFill>
            <a:srgbClr val="C9A227"/>
          </a:solidFill>
          <a:ln/>
        </p:spPr>
      </p:sp>
      <p:sp>
        <p:nvSpPr>
          <p:cNvPr id="19" name="Text 17"/>
          <p:cNvSpPr/>
          <p:nvPr/>
        </p:nvSpPr>
        <p:spPr>
          <a:xfrm>
            <a:off x="822960" y="4919472"/>
            <a:ext cx="329184" cy="329184"/>
          </a:xfrm>
          <a:prstGeom prst="rect">
            <a:avLst/>
          </a:prstGeom>
          <a:noFill/>
          <a:ln/>
        </p:spPr>
        <p:txBody>
          <a:bodyPr wrap="square" lIns="0" tIns="0" rIns="0" bIns="0" rtlCol="0" anchor="ctr"/>
          <a:lstStyle/>
          <a:p>
            <a:pPr marL="0" indent="0" algn="ctr">
              <a:buNone/>
            </a:pPr>
            <a:r>
              <a:rPr lang="en-US" sz="1200" b="1" dirty="0">
                <a:solidFill>
                  <a:srgbClr val="141B44"/>
                </a:solidFill>
                <a:latin typeface="Calibri" pitchFamily="34" charset="0"/>
                <a:ea typeface="Calibri" pitchFamily="34" charset="-122"/>
                <a:cs typeface="Calibri" pitchFamily="34" charset="-120"/>
              </a:rPr>
              <a:t>5</a:t>
            </a:r>
            <a:endParaRPr lang="en-US" sz="1200" dirty="0"/>
          </a:p>
        </p:txBody>
      </p:sp>
      <p:sp>
        <p:nvSpPr>
          <p:cNvPr id="20" name="Text 18"/>
          <p:cNvSpPr/>
          <p:nvPr/>
        </p:nvSpPr>
        <p:spPr>
          <a:xfrm>
            <a:off x="1298448" y="4901184"/>
            <a:ext cx="4206240" cy="502920"/>
          </a:xfrm>
          <a:prstGeom prst="rect">
            <a:avLst/>
          </a:prstGeom>
          <a:noFill/>
          <a:ln/>
        </p:spPr>
        <p:txBody>
          <a:bodyPr wrap="square" rtlCol="0" anchor="ctr"/>
          <a:lstStyle/>
          <a:p>
            <a:pPr marL="0" indent="0">
              <a:lnSpc>
                <a:spcPct val="115000"/>
              </a:lnSpc>
              <a:buNone/>
            </a:pPr>
            <a:r>
              <a:rPr lang="en-US" sz="1150" dirty="0">
                <a:solidFill>
                  <a:srgbClr val="1B2340"/>
                </a:solidFill>
                <a:latin typeface="Calibri" pitchFamily="34" charset="0"/>
                <a:ea typeface="Calibri" pitchFamily="34" charset="-122"/>
                <a:cs typeface="Calibri" pitchFamily="34" charset="-120"/>
              </a:rPr>
              <a:t>Correcting data types (rates, currency, ratios)</a:t>
            </a:r>
            <a:endParaRPr lang="en-US" sz="1150" dirty="0"/>
          </a:p>
        </p:txBody>
      </p:sp>
      <p:sp>
        <p:nvSpPr>
          <p:cNvPr id="21" name="Shape 19"/>
          <p:cNvSpPr/>
          <p:nvPr/>
        </p:nvSpPr>
        <p:spPr>
          <a:xfrm>
            <a:off x="822960" y="5577840"/>
            <a:ext cx="329184" cy="329184"/>
          </a:xfrm>
          <a:prstGeom prst="ellipse">
            <a:avLst/>
          </a:prstGeom>
          <a:solidFill>
            <a:srgbClr val="C9A227"/>
          </a:solidFill>
          <a:ln/>
        </p:spPr>
      </p:sp>
      <p:sp>
        <p:nvSpPr>
          <p:cNvPr id="22" name="Text 20"/>
          <p:cNvSpPr/>
          <p:nvPr/>
        </p:nvSpPr>
        <p:spPr>
          <a:xfrm>
            <a:off x="822960" y="5577840"/>
            <a:ext cx="329184" cy="329184"/>
          </a:xfrm>
          <a:prstGeom prst="rect">
            <a:avLst/>
          </a:prstGeom>
          <a:noFill/>
          <a:ln/>
        </p:spPr>
        <p:txBody>
          <a:bodyPr wrap="square" lIns="0" tIns="0" rIns="0" bIns="0" rtlCol="0" anchor="ctr"/>
          <a:lstStyle/>
          <a:p>
            <a:pPr marL="0" indent="0" algn="ctr">
              <a:buNone/>
            </a:pPr>
            <a:r>
              <a:rPr lang="en-US" sz="1200" b="1" dirty="0">
                <a:solidFill>
                  <a:srgbClr val="141B44"/>
                </a:solidFill>
                <a:latin typeface="Calibri" pitchFamily="34" charset="0"/>
                <a:ea typeface="Calibri" pitchFamily="34" charset="-122"/>
                <a:cs typeface="Calibri" pitchFamily="34" charset="-120"/>
              </a:rPr>
              <a:t>6</a:t>
            </a:r>
            <a:endParaRPr lang="en-US" sz="1200" dirty="0"/>
          </a:p>
        </p:txBody>
      </p:sp>
      <p:sp>
        <p:nvSpPr>
          <p:cNvPr id="23" name="Text 21"/>
          <p:cNvSpPr/>
          <p:nvPr/>
        </p:nvSpPr>
        <p:spPr>
          <a:xfrm>
            <a:off x="1298448" y="5559552"/>
            <a:ext cx="4206240" cy="502920"/>
          </a:xfrm>
          <a:prstGeom prst="rect">
            <a:avLst/>
          </a:prstGeom>
          <a:noFill/>
          <a:ln/>
        </p:spPr>
        <p:txBody>
          <a:bodyPr wrap="square" rtlCol="0" anchor="ctr"/>
          <a:lstStyle/>
          <a:p>
            <a:pPr marL="0" indent="0">
              <a:lnSpc>
                <a:spcPct val="115000"/>
              </a:lnSpc>
              <a:buNone/>
            </a:pPr>
            <a:r>
              <a:rPr lang="en-US" sz="1150" dirty="0">
                <a:solidFill>
                  <a:srgbClr val="1B2340"/>
                </a:solidFill>
                <a:latin typeface="Calibri" pitchFamily="34" charset="0"/>
                <a:ea typeface="Calibri" pitchFamily="34" charset="-122"/>
                <a:cs typeface="Calibri" pitchFamily="34" charset="-120"/>
              </a:rPr>
              <a:t>Validating totals against source before reporting</a:t>
            </a:r>
            <a:endParaRPr lang="en-US" sz="1150" dirty="0"/>
          </a:p>
        </p:txBody>
      </p:sp>
      <p:sp>
        <p:nvSpPr>
          <p:cNvPr id="24" name="Shape 22"/>
          <p:cNvSpPr/>
          <p:nvPr/>
        </p:nvSpPr>
        <p:spPr>
          <a:xfrm>
            <a:off x="5989320" y="1554480"/>
            <a:ext cx="2606040" cy="4617720"/>
          </a:xfrm>
          <a:prstGeom prst="roundRect">
            <a:avLst>
              <a:gd name="adj" fmla="val 2807"/>
            </a:avLst>
          </a:prstGeom>
          <a:solidFill>
            <a:srgbClr val="FBF0EF"/>
          </a:solidFill>
          <a:ln/>
        </p:spPr>
      </p:sp>
      <p:sp>
        <p:nvSpPr>
          <p:cNvPr id="25" name="Text 23"/>
          <p:cNvSpPr/>
          <p:nvPr/>
        </p:nvSpPr>
        <p:spPr>
          <a:xfrm>
            <a:off x="5989320" y="1737360"/>
            <a:ext cx="2606040" cy="365760"/>
          </a:xfrm>
          <a:prstGeom prst="rect">
            <a:avLst/>
          </a:prstGeom>
          <a:noFill/>
          <a:ln/>
        </p:spPr>
        <p:txBody>
          <a:bodyPr wrap="square" rtlCol="0" anchor="ctr"/>
          <a:lstStyle/>
          <a:p>
            <a:pPr marL="0" indent="0" algn="ctr">
              <a:buNone/>
            </a:pPr>
            <a:r>
              <a:rPr lang="en-US" sz="1300" b="1" dirty="0">
                <a:solidFill>
                  <a:srgbClr val="B5433E"/>
                </a:solidFill>
                <a:latin typeface="Calibri" pitchFamily="34" charset="0"/>
                <a:ea typeface="Calibri" pitchFamily="34" charset="-122"/>
                <a:cs typeface="Calibri" pitchFamily="34" charset="-120"/>
              </a:rPr>
              <a:t>Before</a:t>
            </a:r>
            <a:endParaRPr lang="en-US" sz="1300" dirty="0"/>
          </a:p>
        </p:txBody>
      </p:sp>
      <p:sp>
        <p:nvSpPr>
          <p:cNvPr id="26" name="Text 24"/>
          <p:cNvSpPr/>
          <p:nvPr/>
        </p:nvSpPr>
        <p:spPr>
          <a:xfrm>
            <a:off x="6199632" y="2286000"/>
            <a:ext cx="2194560" cy="457200"/>
          </a:xfrm>
          <a:prstGeom prst="rect">
            <a:avLst/>
          </a:prstGeom>
          <a:noFill/>
          <a:ln/>
        </p:spPr>
        <p:txBody>
          <a:bodyPr wrap="square" rtlCol="0" anchor="ctr"/>
          <a:lstStyle/>
          <a:p>
            <a:pPr marL="0" indent="0">
              <a:lnSpc>
                <a:spcPct val="115000"/>
              </a:lnSpc>
              <a:buNone/>
            </a:pPr>
            <a:r>
              <a:rPr lang="en-US" sz="1050" dirty="0">
                <a:solidFill>
                  <a:srgbClr val="B5433E"/>
                </a:solidFill>
                <a:latin typeface="Calibri" pitchFamily="34" charset="0"/>
                <a:ea typeface="Calibri" pitchFamily="34" charset="-122"/>
                <a:cs typeface="Calibri" pitchFamily="34" charset="-120"/>
              </a:rPr>
              <a:t>✕  Inconsistent status labels</a:t>
            </a:r>
            <a:endParaRPr lang="en-US" sz="1050" dirty="0"/>
          </a:p>
        </p:txBody>
      </p:sp>
      <p:sp>
        <p:nvSpPr>
          <p:cNvPr id="27" name="Text 25"/>
          <p:cNvSpPr/>
          <p:nvPr/>
        </p:nvSpPr>
        <p:spPr>
          <a:xfrm>
            <a:off x="6199632" y="2926080"/>
            <a:ext cx="2194560" cy="457200"/>
          </a:xfrm>
          <a:prstGeom prst="rect">
            <a:avLst/>
          </a:prstGeom>
          <a:noFill/>
          <a:ln/>
        </p:spPr>
        <p:txBody>
          <a:bodyPr wrap="square" rtlCol="0" anchor="ctr"/>
          <a:lstStyle/>
          <a:p>
            <a:pPr marL="0" indent="0">
              <a:lnSpc>
                <a:spcPct val="115000"/>
              </a:lnSpc>
              <a:buNone/>
            </a:pPr>
            <a:r>
              <a:rPr lang="en-US" sz="1050" dirty="0">
                <a:solidFill>
                  <a:srgbClr val="B5433E"/>
                </a:solidFill>
                <a:latin typeface="Calibri" pitchFamily="34" charset="0"/>
                <a:ea typeface="Calibri" pitchFamily="34" charset="-122"/>
                <a:cs typeface="Calibri" pitchFamily="34" charset="-120"/>
              </a:rPr>
              <a:t>✕  Unformatted date fields</a:t>
            </a:r>
            <a:endParaRPr lang="en-US" sz="1050" dirty="0"/>
          </a:p>
        </p:txBody>
      </p:sp>
      <p:sp>
        <p:nvSpPr>
          <p:cNvPr id="28" name="Text 26"/>
          <p:cNvSpPr/>
          <p:nvPr/>
        </p:nvSpPr>
        <p:spPr>
          <a:xfrm>
            <a:off x="6199632" y="3566160"/>
            <a:ext cx="2194560" cy="457200"/>
          </a:xfrm>
          <a:prstGeom prst="rect">
            <a:avLst/>
          </a:prstGeom>
          <a:noFill/>
          <a:ln/>
        </p:spPr>
        <p:txBody>
          <a:bodyPr wrap="square" rtlCol="0" anchor="ctr"/>
          <a:lstStyle/>
          <a:p>
            <a:pPr marL="0" indent="0">
              <a:lnSpc>
                <a:spcPct val="115000"/>
              </a:lnSpc>
              <a:buNone/>
            </a:pPr>
            <a:r>
              <a:rPr lang="en-US" sz="1050" dirty="0">
                <a:solidFill>
                  <a:srgbClr val="B5433E"/>
                </a:solidFill>
                <a:latin typeface="Calibri" pitchFamily="34" charset="0"/>
                <a:ea typeface="Calibri" pitchFamily="34" charset="-122"/>
                <a:cs typeface="Calibri" pitchFamily="34" charset="-120"/>
              </a:rPr>
              <a:t>✕  Mixed data types</a:t>
            </a:r>
            <a:endParaRPr lang="en-US" sz="1050" dirty="0"/>
          </a:p>
        </p:txBody>
      </p:sp>
      <p:sp>
        <p:nvSpPr>
          <p:cNvPr id="29" name="Text 27"/>
          <p:cNvSpPr/>
          <p:nvPr/>
        </p:nvSpPr>
        <p:spPr>
          <a:xfrm>
            <a:off x="6199632" y="4206240"/>
            <a:ext cx="2194560" cy="457200"/>
          </a:xfrm>
          <a:prstGeom prst="rect">
            <a:avLst/>
          </a:prstGeom>
          <a:noFill/>
          <a:ln/>
        </p:spPr>
        <p:txBody>
          <a:bodyPr wrap="square" rtlCol="0" anchor="ctr"/>
          <a:lstStyle/>
          <a:p>
            <a:pPr marL="0" indent="0">
              <a:lnSpc>
                <a:spcPct val="115000"/>
              </a:lnSpc>
              <a:buNone/>
            </a:pPr>
            <a:r>
              <a:rPr lang="en-US" sz="1050" dirty="0">
                <a:solidFill>
                  <a:srgbClr val="B5433E"/>
                </a:solidFill>
                <a:latin typeface="Calibri" pitchFamily="34" charset="0"/>
                <a:ea typeface="Calibri" pitchFamily="34" charset="-122"/>
                <a:cs typeface="Calibri" pitchFamily="34" charset="-120"/>
              </a:rPr>
              <a:t>✕  Unverified totals</a:t>
            </a:r>
            <a:endParaRPr lang="en-US" sz="1050" dirty="0"/>
          </a:p>
        </p:txBody>
      </p:sp>
      <p:sp>
        <p:nvSpPr>
          <p:cNvPr id="30" name="Shape 28"/>
          <p:cNvSpPr/>
          <p:nvPr/>
        </p:nvSpPr>
        <p:spPr>
          <a:xfrm>
            <a:off x="8915400" y="1554480"/>
            <a:ext cx="2724912" cy="4617720"/>
          </a:xfrm>
          <a:prstGeom prst="roundRect">
            <a:avLst>
              <a:gd name="adj" fmla="val 2685"/>
            </a:avLst>
          </a:prstGeom>
          <a:solidFill>
            <a:srgbClr val="1E2761"/>
          </a:solidFill>
          <a:ln/>
        </p:spPr>
      </p:sp>
      <p:sp>
        <p:nvSpPr>
          <p:cNvPr id="31" name="Text 29"/>
          <p:cNvSpPr/>
          <p:nvPr/>
        </p:nvSpPr>
        <p:spPr>
          <a:xfrm>
            <a:off x="8915400" y="1737360"/>
            <a:ext cx="2724912" cy="365760"/>
          </a:xfrm>
          <a:prstGeom prst="rect">
            <a:avLst/>
          </a:prstGeom>
          <a:noFill/>
          <a:ln/>
        </p:spPr>
        <p:txBody>
          <a:bodyPr wrap="square" rtlCol="0" anchor="ctr"/>
          <a:lstStyle/>
          <a:p>
            <a:pPr marL="0" indent="0" algn="ctr">
              <a:buNone/>
            </a:pPr>
            <a:r>
              <a:rPr lang="en-US" sz="1300" b="1" dirty="0">
                <a:solidFill>
                  <a:srgbClr val="C9A227"/>
                </a:solidFill>
                <a:latin typeface="Calibri" pitchFamily="34" charset="0"/>
                <a:ea typeface="Calibri" pitchFamily="34" charset="-122"/>
                <a:cs typeface="Calibri" pitchFamily="34" charset="-120"/>
              </a:rPr>
              <a:t>After</a:t>
            </a:r>
            <a:endParaRPr lang="en-US" sz="1300" dirty="0"/>
          </a:p>
        </p:txBody>
      </p:sp>
      <p:sp>
        <p:nvSpPr>
          <p:cNvPr id="32" name="Text 30"/>
          <p:cNvSpPr/>
          <p:nvPr/>
        </p:nvSpPr>
        <p:spPr>
          <a:xfrm>
            <a:off x="9125712" y="2286000"/>
            <a:ext cx="2331720" cy="457200"/>
          </a:xfrm>
          <a:prstGeom prst="rect">
            <a:avLst/>
          </a:prstGeom>
          <a:noFill/>
          <a:ln/>
        </p:spPr>
        <p:txBody>
          <a:bodyPr wrap="square" rtlCol="0" anchor="ctr"/>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  Standardized 3-status field</a:t>
            </a:r>
            <a:endParaRPr lang="en-US" sz="1050" dirty="0"/>
          </a:p>
        </p:txBody>
      </p:sp>
      <p:sp>
        <p:nvSpPr>
          <p:cNvPr id="33" name="Text 31"/>
          <p:cNvSpPr/>
          <p:nvPr/>
        </p:nvSpPr>
        <p:spPr>
          <a:xfrm>
            <a:off x="9125712" y="2926080"/>
            <a:ext cx="2331720" cy="457200"/>
          </a:xfrm>
          <a:prstGeom prst="rect">
            <a:avLst/>
          </a:prstGeom>
          <a:noFill/>
          <a:ln/>
        </p:spPr>
        <p:txBody>
          <a:bodyPr wrap="square" rtlCol="0" anchor="ctr"/>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  Clean date-typed columns</a:t>
            </a:r>
            <a:endParaRPr lang="en-US" sz="1050" dirty="0"/>
          </a:p>
        </p:txBody>
      </p:sp>
      <p:sp>
        <p:nvSpPr>
          <p:cNvPr id="34" name="Text 32"/>
          <p:cNvSpPr/>
          <p:nvPr/>
        </p:nvSpPr>
        <p:spPr>
          <a:xfrm>
            <a:off x="9125712" y="3566160"/>
            <a:ext cx="2331720" cy="457200"/>
          </a:xfrm>
          <a:prstGeom prst="rect">
            <a:avLst/>
          </a:prstGeom>
          <a:noFill/>
          <a:ln/>
        </p:spPr>
        <p:txBody>
          <a:bodyPr wrap="square" rtlCol="0" anchor="ctr"/>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  Correct numeric / % types</a:t>
            </a:r>
            <a:endParaRPr lang="en-US" sz="1050" dirty="0"/>
          </a:p>
        </p:txBody>
      </p:sp>
      <p:sp>
        <p:nvSpPr>
          <p:cNvPr id="35" name="Text 33"/>
          <p:cNvSpPr/>
          <p:nvPr/>
        </p:nvSpPr>
        <p:spPr>
          <a:xfrm>
            <a:off x="9125712" y="4206240"/>
            <a:ext cx="2331720" cy="457200"/>
          </a:xfrm>
          <a:prstGeom prst="rect">
            <a:avLst/>
          </a:prstGeom>
          <a:noFill/>
          <a:ln/>
        </p:spPr>
        <p:txBody>
          <a:bodyPr wrap="square" rtlCol="0" anchor="ctr"/>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  Totals reconciled to source</a:t>
            </a:r>
            <a:endParaRPr lang="en-US" sz="1050" dirty="0"/>
          </a:p>
        </p:txBody>
      </p:sp>
      <p:sp>
        <p:nvSpPr>
          <p:cNvPr id="36" name="Text 34"/>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5B6B8C"/>
                </a:solidFill>
                <a:latin typeface="Calibri" pitchFamily="34" charset="0"/>
                <a:ea typeface="Calibri" pitchFamily="34" charset="-122"/>
                <a:cs typeface="Calibri" pitchFamily="34" charset="-120"/>
              </a:rPr>
              <a:t>Bank Loan Report Analysis</a:t>
            </a:r>
            <a:endParaRPr lang="en-US" sz="900" dirty="0"/>
          </a:p>
        </p:txBody>
      </p:sp>
      <p:sp>
        <p:nvSpPr>
          <p:cNvPr id="37" name="Text 35"/>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5B6B8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B44"/>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SQL DATA ANALYSIS</a:t>
            </a:r>
            <a:endParaRPr lang="en-US" sz="1200" dirty="0"/>
          </a:p>
        </p:txBody>
      </p:sp>
      <p:sp>
        <p:nvSpPr>
          <p:cNvPr id="3" name="Text 1"/>
          <p:cNvSpPr/>
          <p:nvPr/>
        </p:nvSpPr>
        <p:spPr>
          <a:xfrm>
            <a:off x="548640" y="713232"/>
            <a:ext cx="9601200" cy="54864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Every KPI on the dashboard starts as a query</a:t>
            </a:r>
            <a:endParaRPr lang="en-US" sz="2400" dirty="0"/>
          </a:p>
        </p:txBody>
      </p:sp>
      <p:sp>
        <p:nvSpPr>
          <p:cNvPr id="4" name="Shape 2"/>
          <p:cNvSpPr/>
          <p:nvPr/>
        </p:nvSpPr>
        <p:spPr>
          <a:xfrm>
            <a:off x="548640" y="1554480"/>
            <a:ext cx="5806440" cy="4023360"/>
          </a:xfrm>
          <a:prstGeom prst="roundRect">
            <a:avLst>
              <a:gd name="adj" fmla="val 1818"/>
            </a:avLst>
          </a:prstGeom>
          <a:solidFill>
            <a:srgbClr val="0F1533"/>
          </a:solidFill>
          <a:ln w="6350">
            <a:solidFill>
              <a:srgbClr val="CADCFC"/>
            </a:solidFill>
            <a:prstDash val="solid"/>
          </a:ln>
        </p:spPr>
      </p:sp>
      <p:sp>
        <p:nvSpPr>
          <p:cNvPr id="5" name="Text 3"/>
          <p:cNvSpPr/>
          <p:nvPr/>
        </p:nvSpPr>
        <p:spPr>
          <a:xfrm>
            <a:off x="822960" y="1719072"/>
            <a:ext cx="5303520" cy="292608"/>
          </a:xfrm>
          <a:prstGeom prst="rect">
            <a:avLst/>
          </a:prstGeom>
          <a:noFill/>
          <a:ln/>
        </p:spPr>
        <p:txBody>
          <a:bodyPr wrap="square"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Example — Good Loan Percentage</a:t>
            </a:r>
            <a:endParaRPr lang="en-US" sz="1100" dirty="0"/>
          </a:p>
        </p:txBody>
      </p:sp>
      <p:sp>
        <p:nvSpPr>
          <p:cNvPr id="6" name="Text 4"/>
          <p:cNvSpPr/>
          <p:nvPr/>
        </p:nvSpPr>
        <p:spPr>
          <a:xfrm>
            <a:off x="822960" y="2103120"/>
            <a:ext cx="5303520" cy="1371600"/>
          </a:xfrm>
          <a:prstGeom prst="rect">
            <a:avLst/>
          </a:prstGeom>
          <a:noFill/>
          <a:ln/>
        </p:spPr>
        <p:txBody>
          <a:bodyPr wrap="square" rtlCol="0" anchor="ctr"/>
          <a:lstStyle/>
          <a:p>
            <a:pPr marL="0" indent="0">
              <a:lnSpc>
                <a:spcPct val="130000"/>
              </a:lnSpc>
              <a:buNone/>
            </a:pPr>
            <a:r>
              <a:rPr lang="en-US" sz="1150" dirty="0">
                <a:solidFill>
                  <a:srgbClr val="CADCFC"/>
                </a:solidFill>
                <a:latin typeface="Courier New" pitchFamily="34" charset="0"/>
                <a:ea typeface="Courier New" pitchFamily="34" charset="-122"/>
                <a:cs typeface="Courier New" pitchFamily="34" charset="-120"/>
              </a:rPr>
              <a:t>SELECT</a:t>
            </a:r>
            <a:endParaRPr lang="en-US" sz="1150" dirty="0"/>
          </a:p>
          <a:p>
            <a:pPr marL="0" indent="0">
              <a:lnSpc>
                <a:spcPct val="130000"/>
              </a:lnSpc>
              <a:buNone/>
            </a:pPr>
            <a:r>
              <a:rPr lang="en-US" sz="1150" dirty="0">
                <a:solidFill>
                  <a:srgbClr val="CADCFC"/>
                </a:solidFill>
                <a:latin typeface="Courier New" pitchFamily="34" charset="0"/>
                <a:ea typeface="Courier New" pitchFamily="34" charset="-122"/>
                <a:cs typeface="Courier New" pitchFamily="34" charset="-120"/>
              </a:rPr>
              <a:t>  (COUNT(CASE WHEN loan_status = 'Fully Paid'</a:t>
            </a:r>
            <a:endParaRPr lang="en-US" sz="1150" dirty="0"/>
          </a:p>
          <a:p>
            <a:pPr marL="0" indent="0">
              <a:lnSpc>
                <a:spcPct val="130000"/>
              </a:lnSpc>
              <a:buNone/>
            </a:pPr>
            <a:r>
              <a:rPr lang="en-US" sz="1150" dirty="0">
                <a:solidFill>
                  <a:srgbClr val="CADCFC"/>
                </a:solidFill>
                <a:latin typeface="Courier New" pitchFamily="34" charset="0"/>
                <a:ea typeface="Courier New" pitchFamily="34" charset="-122"/>
                <a:cs typeface="Courier New" pitchFamily="34" charset="-120"/>
              </a:rPr>
              <a:t>     OR loan_status = 'Current' THEN id END)</a:t>
            </a:r>
            <a:endParaRPr lang="en-US" sz="1150" dirty="0"/>
          </a:p>
          <a:p>
            <a:pPr marL="0" indent="0">
              <a:lnSpc>
                <a:spcPct val="130000"/>
              </a:lnSpc>
              <a:buNone/>
            </a:pPr>
            <a:r>
              <a:rPr lang="en-US" sz="1150" dirty="0">
                <a:solidFill>
                  <a:srgbClr val="CADCFC"/>
                </a:solidFill>
                <a:latin typeface="Courier New" pitchFamily="34" charset="0"/>
                <a:ea typeface="Courier New" pitchFamily="34" charset="-122"/>
                <a:cs typeface="Courier New" pitchFamily="34" charset="-120"/>
              </a:rPr>
              <a:t>     * 100.0) / COUNT(id) AS Good_Loan_Pct</a:t>
            </a:r>
            <a:endParaRPr lang="en-US" sz="1150" dirty="0"/>
          </a:p>
          <a:p>
            <a:pPr marL="0" indent="0">
              <a:lnSpc>
                <a:spcPct val="130000"/>
              </a:lnSpc>
              <a:buNone/>
            </a:pPr>
            <a:r>
              <a:rPr lang="en-US" sz="1150" dirty="0">
                <a:solidFill>
                  <a:srgbClr val="CADCFC"/>
                </a:solidFill>
                <a:latin typeface="Courier New" pitchFamily="34" charset="0"/>
                <a:ea typeface="Courier New" pitchFamily="34" charset="-122"/>
                <a:cs typeface="Courier New" pitchFamily="34" charset="-120"/>
              </a:rPr>
              <a:t>FROM bank_loan_data;</a:t>
            </a:r>
            <a:endParaRPr lang="en-US" sz="1150" dirty="0"/>
          </a:p>
        </p:txBody>
      </p:sp>
      <p:sp>
        <p:nvSpPr>
          <p:cNvPr id="7" name="Text 5"/>
          <p:cNvSpPr/>
          <p:nvPr/>
        </p:nvSpPr>
        <p:spPr>
          <a:xfrm>
            <a:off x="822960" y="3611880"/>
            <a:ext cx="5303520" cy="292608"/>
          </a:xfrm>
          <a:prstGeom prst="rect">
            <a:avLst/>
          </a:prstGeom>
          <a:noFill/>
          <a:ln/>
        </p:spPr>
        <p:txBody>
          <a:bodyPr wrap="square"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SQL techniques applied</a:t>
            </a:r>
            <a:endParaRPr lang="en-US" sz="1100" dirty="0"/>
          </a:p>
        </p:txBody>
      </p:sp>
      <p:sp>
        <p:nvSpPr>
          <p:cNvPr id="8" name="Shape 6"/>
          <p:cNvSpPr/>
          <p:nvPr/>
        </p:nvSpPr>
        <p:spPr>
          <a:xfrm>
            <a:off x="822960" y="3977640"/>
            <a:ext cx="1014984" cy="365760"/>
          </a:xfrm>
          <a:prstGeom prst="roundRect">
            <a:avLst>
              <a:gd name="adj" fmla="val 50000"/>
            </a:avLst>
          </a:prstGeom>
          <a:solidFill>
            <a:srgbClr val="1E2761"/>
          </a:solidFill>
          <a:ln w="6350">
            <a:solidFill>
              <a:srgbClr val="CADCFC"/>
            </a:solidFill>
            <a:prstDash val="solid"/>
          </a:ln>
        </p:spPr>
      </p:sp>
      <p:sp>
        <p:nvSpPr>
          <p:cNvPr id="9" name="Text 7"/>
          <p:cNvSpPr/>
          <p:nvPr/>
        </p:nvSpPr>
        <p:spPr>
          <a:xfrm>
            <a:off x="822960" y="3977640"/>
            <a:ext cx="1014984" cy="365760"/>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GROUP BY</a:t>
            </a:r>
            <a:endParaRPr lang="en-US" sz="1000" dirty="0"/>
          </a:p>
        </p:txBody>
      </p:sp>
      <p:sp>
        <p:nvSpPr>
          <p:cNvPr id="10" name="Shape 8"/>
          <p:cNvSpPr/>
          <p:nvPr/>
        </p:nvSpPr>
        <p:spPr>
          <a:xfrm>
            <a:off x="1975104" y="3977640"/>
            <a:ext cx="1101852" cy="365760"/>
          </a:xfrm>
          <a:prstGeom prst="roundRect">
            <a:avLst>
              <a:gd name="adj" fmla="val 50000"/>
            </a:avLst>
          </a:prstGeom>
          <a:solidFill>
            <a:srgbClr val="1E2761"/>
          </a:solidFill>
          <a:ln w="6350">
            <a:solidFill>
              <a:srgbClr val="CADCFC"/>
            </a:solidFill>
            <a:prstDash val="solid"/>
          </a:ln>
        </p:spPr>
      </p:sp>
      <p:sp>
        <p:nvSpPr>
          <p:cNvPr id="11" name="Text 9"/>
          <p:cNvSpPr/>
          <p:nvPr/>
        </p:nvSpPr>
        <p:spPr>
          <a:xfrm>
            <a:off x="1975104" y="3977640"/>
            <a:ext cx="1101852" cy="365760"/>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CASE WHEN</a:t>
            </a:r>
            <a:endParaRPr lang="en-US" sz="1000" dirty="0"/>
          </a:p>
        </p:txBody>
      </p:sp>
      <p:sp>
        <p:nvSpPr>
          <p:cNvPr id="12" name="Shape 10"/>
          <p:cNvSpPr/>
          <p:nvPr/>
        </p:nvSpPr>
        <p:spPr>
          <a:xfrm>
            <a:off x="3214116" y="3977640"/>
            <a:ext cx="1970532" cy="365760"/>
          </a:xfrm>
          <a:prstGeom prst="roundRect">
            <a:avLst>
              <a:gd name="adj" fmla="val 50000"/>
            </a:avLst>
          </a:prstGeom>
          <a:solidFill>
            <a:srgbClr val="1E2761"/>
          </a:solidFill>
          <a:ln w="6350">
            <a:solidFill>
              <a:srgbClr val="CADCFC"/>
            </a:solidFill>
            <a:prstDash val="solid"/>
          </a:ln>
        </p:spPr>
      </p:sp>
      <p:sp>
        <p:nvSpPr>
          <p:cNvPr id="13" name="Text 11"/>
          <p:cNvSpPr/>
          <p:nvPr/>
        </p:nvSpPr>
        <p:spPr>
          <a:xfrm>
            <a:off x="3214116" y="3977640"/>
            <a:ext cx="1970532" cy="365760"/>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Aggregate functions</a:t>
            </a:r>
            <a:endParaRPr lang="en-US" sz="1000" dirty="0"/>
          </a:p>
        </p:txBody>
      </p:sp>
      <p:sp>
        <p:nvSpPr>
          <p:cNvPr id="14" name="Shape 12"/>
          <p:cNvSpPr/>
          <p:nvPr/>
        </p:nvSpPr>
        <p:spPr>
          <a:xfrm>
            <a:off x="822960" y="4434840"/>
            <a:ext cx="1709928" cy="365760"/>
          </a:xfrm>
          <a:prstGeom prst="roundRect">
            <a:avLst>
              <a:gd name="adj" fmla="val 50000"/>
            </a:avLst>
          </a:prstGeom>
          <a:solidFill>
            <a:srgbClr val="1E2761"/>
          </a:solidFill>
          <a:ln w="6350">
            <a:solidFill>
              <a:srgbClr val="CADCFC"/>
            </a:solidFill>
            <a:prstDash val="solid"/>
          </a:ln>
        </p:spPr>
      </p:sp>
      <p:sp>
        <p:nvSpPr>
          <p:cNvPr id="15" name="Text 13"/>
          <p:cNvSpPr/>
          <p:nvPr/>
        </p:nvSpPr>
        <p:spPr>
          <a:xfrm>
            <a:off x="822960" y="4434840"/>
            <a:ext cx="1709928" cy="365760"/>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Window functions</a:t>
            </a:r>
            <a:endParaRPr lang="en-US" sz="1000" dirty="0"/>
          </a:p>
        </p:txBody>
      </p:sp>
      <p:sp>
        <p:nvSpPr>
          <p:cNvPr id="16" name="Shape 14"/>
          <p:cNvSpPr/>
          <p:nvPr/>
        </p:nvSpPr>
        <p:spPr>
          <a:xfrm>
            <a:off x="2670048" y="4434840"/>
            <a:ext cx="667512" cy="365760"/>
          </a:xfrm>
          <a:prstGeom prst="roundRect">
            <a:avLst>
              <a:gd name="adj" fmla="val 50000"/>
            </a:avLst>
          </a:prstGeom>
          <a:solidFill>
            <a:srgbClr val="1E2761"/>
          </a:solidFill>
          <a:ln w="6350">
            <a:solidFill>
              <a:srgbClr val="CADCFC"/>
            </a:solidFill>
            <a:prstDash val="solid"/>
          </a:ln>
        </p:spPr>
      </p:sp>
      <p:sp>
        <p:nvSpPr>
          <p:cNvPr id="17" name="Text 15"/>
          <p:cNvSpPr/>
          <p:nvPr/>
        </p:nvSpPr>
        <p:spPr>
          <a:xfrm>
            <a:off x="2670048" y="4434840"/>
            <a:ext cx="667512" cy="365760"/>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CTEs</a:t>
            </a:r>
            <a:endParaRPr lang="en-US" sz="1000" dirty="0"/>
          </a:p>
        </p:txBody>
      </p:sp>
      <p:sp>
        <p:nvSpPr>
          <p:cNvPr id="18" name="Shape 16"/>
          <p:cNvSpPr/>
          <p:nvPr/>
        </p:nvSpPr>
        <p:spPr>
          <a:xfrm>
            <a:off x="3474720" y="4434840"/>
            <a:ext cx="754380" cy="365760"/>
          </a:xfrm>
          <a:prstGeom prst="roundRect">
            <a:avLst>
              <a:gd name="adj" fmla="val 50000"/>
            </a:avLst>
          </a:prstGeom>
          <a:solidFill>
            <a:srgbClr val="1E2761"/>
          </a:solidFill>
          <a:ln w="6350">
            <a:solidFill>
              <a:srgbClr val="CADCFC"/>
            </a:solidFill>
            <a:prstDash val="solid"/>
          </a:ln>
        </p:spPr>
      </p:sp>
      <p:sp>
        <p:nvSpPr>
          <p:cNvPr id="19" name="Text 17"/>
          <p:cNvSpPr/>
          <p:nvPr/>
        </p:nvSpPr>
        <p:spPr>
          <a:xfrm>
            <a:off x="3474720" y="4434840"/>
            <a:ext cx="754380" cy="365760"/>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JOINs</a:t>
            </a:r>
            <a:endParaRPr lang="en-US" sz="1000" dirty="0"/>
          </a:p>
        </p:txBody>
      </p:sp>
      <p:sp>
        <p:nvSpPr>
          <p:cNvPr id="20" name="Shape 18"/>
          <p:cNvSpPr/>
          <p:nvPr/>
        </p:nvSpPr>
        <p:spPr>
          <a:xfrm>
            <a:off x="6675120" y="1554480"/>
            <a:ext cx="4937760" cy="4023360"/>
          </a:xfrm>
          <a:prstGeom prst="roundRect">
            <a:avLst>
              <a:gd name="adj" fmla="val 1818"/>
            </a:avLst>
          </a:prstGeom>
          <a:solidFill>
            <a:srgbClr val="FFFFFF"/>
          </a:solidFill>
          <a:ln/>
        </p:spPr>
      </p:sp>
      <p:sp>
        <p:nvSpPr>
          <p:cNvPr id="21" name="Text 19"/>
          <p:cNvSpPr/>
          <p:nvPr/>
        </p:nvSpPr>
        <p:spPr>
          <a:xfrm>
            <a:off x="6949440" y="1737360"/>
            <a:ext cx="438912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What SQL answered</a:t>
            </a:r>
            <a:endParaRPr lang="en-US" sz="1300" dirty="0"/>
          </a:p>
        </p:txBody>
      </p:sp>
      <p:sp>
        <p:nvSpPr>
          <p:cNvPr id="22" name="Text 20"/>
          <p:cNvSpPr/>
          <p:nvPr/>
        </p:nvSpPr>
        <p:spPr>
          <a:xfrm>
            <a:off x="6949440" y="2240280"/>
            <a:ext cx="228600" cy="365760"/>
          </a:xfrm>
          <a:prstGeom prst="rect">
            <a:avLst/>
          </a:prstGeom>
          <a:noFill/>
          <a:ln/>
        </p:spPr>
        <p:txBody>
          <a:bodyPr wrap="square" rtlCol="0" anchor="ctr"/>
          <a:lstStyle/>
          <a:p>
            <a:pPr marL="0" indent="0">
              <a:buNone/>
            </a:pPr>
            <a:r>
              <a:rPr lang="en-US" sz="1200" b="1" dirty="0">
                <a:solidFill>
                  <a:srgbClr val="C9A227"/>
                </a:solidFill>
                <a:latin typeface="Calibri" pitchFamily="34" charset="0"/>
                <a:ea typeface="Calibri" pitchFamily="34" charset="-122"/>
                <a:cs typeface="Calibri" pitchFamily="34" charset="-120"/>
              </a:rPr>
              <a:t>▸</a:t>
            </a:r>
            <a:endParaRPr lang="en-US" sz="1200" dirty="0"/>
          </a:p>
        </p:txBody>
      </p:sp>
      <p:sp>
        <p:nvSpPr>
          <p:cNvPr id="23" name="Text 21"/>
          <p:cNvSpPr/>
          <p:nvPr/>
        </p:nvSpPr>
        <p:spPr>
          <a:xfrm>
            <a:off x="7223760" y="2212848"/>
            <a:ext cx="4114800" cy="292608"/>
          </a:xfrm>
          <a:prstGeom prst="rect">
            <a:avLst/>
          </a:prstGeom>
          <a:noFill/>
          <a:ln/>
        </p:spPr>
        <p:txBody>
          <a:bodyPr wrap="square" rtlCol="0" anchor="ctr"/>
          <a:lstStyle/>
          <a:p>
            <a:pPr marL="0" indent="0">
              <a:buNone/>
            </a:pPr>
            <a:r>
              <a:rPr lang="en-US" sz="1100" b="1" dirty="0">
                <a:solidFill>
                  <a:srgbClr val="1B2340"/>
                </a:solidFill>
                <a:latin typeface="Calibri" pitchFamily="34" charset="0"/>
                <a:ea typeface="Calibri" pitchFamily="34" charset="-122"/>
                <a:cs typeface="Calibri" pitchFamily="34" charset="-120"/>
              </a:rPr>
              <a:t>Total applications &amp; funded amount</a:t>
            </a:r>
            <a:endParaRPr lang="en-US" sz="1100" dirty="0"/>
          </a:p>
        </p:txBody>
      </p:sp>
      <p:sp>
        <p:nvSpPr>
          <p:cNvPr id="24" name="Text 22"/>
          <p:cNvSpPr/>
          <p:nvPr/>
        </p:nvSpPr>
        <p:spPr>
          <a:xfrm>
            <a:off x="7223760" y="2478024"/>
            <a:ext cx="4114800" cy="292608"/>
          </a:xfrm>
          <a:prstGeom prst="rect">
            <a:avLst/>
          </a:prstGeom>
          <a:noFill/>
          <a:ln/>
        </p:spPr>
        <p:txBody>
          <a:bodyPr wrap="square" rtlCol="0" anchor="ctr"/>
          <a:lstStyle/>
          <a:p>
            <a:pPr marL="0" indent="0">
              <a:buNone/>
            </a:pPr>
            <a:r>
              <a:rPr lang="en-US" sz="1050" dirty="0">
                <a:solidFill>
                  <a:srgbClr val="5B6B8C"/>
                </a:solidFill>
                <a:latin typeface="Calibri" pitchFamily="34" charset="0"/>
                <a:ea typeface="Calibri" pitchFamily="34" charset="-122"/>
                <a:cs typeface="Calibri" pitchFamily="34" charset="-120"/>
              </a:rPr>
              <a:t>38,576 loans · $435.76M</a:t>
            </a:r>
            <a:endParaRPr lang="en-US" sz="1050" dirty="0"/>
          </a:p>
        </p:txBody>
      </p:sp>
      <p:sp>
        <p:nvSpPr>
          <p:cNvPr id="25" name="Text 23"/>
          <p:cNvSpPr/>
          <p:nvPr/>
        </p:nvSpPr>
        <p:spPr>
          <a:xfrm>
            <a:off x="6949440" y="2898648"/>
            <a:ext cx="228600" cy="365760"/>
          </a:xfrm>
          <a:prstGeom prst="rect">
            <a:avLst/>
          </a:prstGeom>
          <a:noFill/>
          <a:ln/>
        </p:spPr>
        <p:txBody>
          <a:bodyPr wrap="square" rtlCol="0" anchor="ctr"/>
          <a:lstStyle/>
          <a:p>
            <a:pPr marL="0" indent="0">
              <a:buNone/>
            </a:pPr>
            <a:r>
              <a:rPr lang="en-US" sz="1200" b="1" dirty="0">
                <a:solidFill>
                  <a:srgbClr val="C9A227"/>
                </a:solidFill>
                <a:latin typeface="Calibri" pitchFamily="34" charset="0"/>
                <a:ea typeface="Calibri" pitchFamily="34" charset="-122"/>
                <a:cs typeface="Calibri" pitchFamily="34" charset="-120"/>
              </a:rPr>
              <a:t>▸</a:t>
            </a:r>
            <a:endParaRPr lang="en-US" sz="1200" dirty="0"/>
          </a:p>
        </p:txBody>
      </p:sp>
      <p:sp>
        <p:nvSpPr>
          <p:cNvPr id="26" name="Text 24"/>
          <p:cNvSpPr/>
          <p:nvPr/>
        </p:nvSpPr>
        <p:spPr>
          <a:xfrm>
            <a:off x="7223760" y="2871216"/>
            <a:ext cx="4114800" cy="292608"/>
          </a:xfrm>
          <a:prstGeom prst="rect">
            <a:avLst/>
          </a:prstGeom>
          <a:noFill/>
          <a:ln/>
        </p:spPr>
        <p:txBody>
          <a:bodyPr wrap="square" rtlCol="0" anchor="ctr"/>
          <a:lstStyle/>
          <a:p>
            <a:pPr marL="0" indent="0">
              <a:buNone/>
            </a:pPr>
            <a:r>
              <a:rPr lang="en-US" sz="1100" b="1" dirty="0">
                <a:solidFill>
                  <a:srgbClr val="1B2340"/>
                </a:solidFill>
                <a:latin typeface="Calibri" pitchFamily="34" charset="0"/>
                <a:ea typeface="Calibri" pitchFamily="34" charset="-122"/>
                <a:cs typeface="Calibri" pitchFamily="34" charset="-120"/>
              </a:rPr>
              <a:t>Amount received vs funded</a:t>
            </a:r>
            <a:endParaRPr lang="en-US" sz="1100" dirty="0"/>
          </a:p>
        </p:txBody>
      </p:sp>
      <p:sp>
        <p:nvSpPr>
          <p:cNvPr id="27" name="Text 25"/>
          <p:cNvSpPr/>
          <p:nvPr/>
        </p:nvSpPr>
        <p:spPr>
          <a:xfrm>
            <a:off x="7223760" y="3136392"/>
            <a:ext cx="4114800" cy="292608"/>
          </a:xfrm>
          <a:prstGeom prst="rect">
            <a:avLst/>
          </a:prstGeom>
          <a:noFill/>
          <a:ln/>
        </p:spPr>
        <p:txBody>
          <a:bodyPr wrap="square" rtlCol="0" anchor="ctr"/>
          <a:lstStyle/>
          <a:p>
            <a:pPr marL="0" indent="0">
              <a:buNone/>
            </a:pPr>
            <a:r>
              <a:rPr lang="en-US" sz="1050" dirty="0">
                <a:solidFill>
                  <a:srgbClr val="5B6B8C"/>
                </a:solidFill>
                <a:latin typeface="Calibri" pitchFamily="34" charset="0"/>
                <a:ea typeface="Calibri" pitchFamily="34" charset="-122"/>
                <a:cs typeface="Calibri" pitchFamily="34" charset="-120"/>
              </a:rPr>
              <a:t>$473.07M received</a:t>
            </a:r>
            <a:endParaRPr lang="en-US" sz="1050" dirty="0"/>
          </a:p>
        </p:txBody>
      </p:sp>
      <p:sp>
        <p:nvSpPr>
          <p:cNvPr id="28" name="Text 26"/>
          <p:cNvSpPr/>
          <p:nvPr/>
        </p:nvSpPr>
        <p:spPr>
          <a:xfrm>
            <a:off x="6949440" y="3557016"/>
            <a:ext cx="228600" cy="365760"/>
          </a:xfrm>
          <a:prstGeom prst="rect">
            <a:avLst/>
          </a:prstGeom>
          <a:noFill/>
          <a:ln/>
        </p:spPr>
        <p:txBody>
          <a:bodyPr wrap="square" rtlCol="0" anchor="ctr"/>
          <a:lstStyle/>
          <a:p>
            <a:pPr marL="0" indent="0">
              <a:buNone/>
            </a:pPr>
            <a:r>
              <a:rPr lang="en-US" sz="1200" b="1" dirty="0">
                <a:solidFill>
                  <a:srgbClr val="C9A227"/>
                </a:solidFill>
                <a:latin typeface="Calibri" pitchFamily="34" charset="0"/>
                <a:ea typeface="Calibri" pitchFamily="34" charset="-122"/>
                <a:cs typeface="Calibri" pitchFamily="34" charset="-120"/>
              </a:rPr>
              <a:t>▸</a:t>
            </a:r>
            <a:endParaRPr lang="en-US" sz="1200" dirty="0"/>
          </a:p>
        </p:txBody>
      </p:sp>
      <p:sp>
        <p:nvSpPr>
          <p:cNvPr id="29" name="Text 27"/>
          <p:cNvSpPr/>
          <p:nvPr/>
        </p:nvSpPr>
        <p:spPr>
          <a:xfrm>
            <a:off x="7223760" y="3529584"/>
            <a:ext cx="4114800" cy="292608"/>
          </a:xfrm>
          <a:prstGeom prst="rect">
            <a:avLst/>
          </a:prstGeom>
          <a:noFill/>
          <a:ln/>
        </p:spPr>
        <p:txBody>
          <a:bodyPr wrap="square" rtlCol="0" anchor="ctr"/>
          <a:lstStyle/>
          <a:p>
            <a:pPr marL="0" indent="0">
              <a:buNone/>
            </a:pPr>
            <a:r>
              <a:rPr lang="en-US" sz="1100" b="1" dirty="0">
                <a:solidFill>
                  <a:srgbClr val="1B2340"/>
                </a:solidFill>
                <a:latin typeface="Calibri" pitchFamily="34" charset="0"/>
                <a:ea typeface="Calibri" pitchFamily="34" charset="-122"/>
                <a:cs typeface="Calibri" pitchFamily="34" charset="-120"/>
              </a:rPr>
              <a:t>Average interest rate &amp; DTI</a:t>
            </a:r>
            <a:endParaRPr lang="en-US" sz="1100" dirty="0"/>
          </a:p>
        </p:txBody>
      </p:sp>
      <p:sp>
        <p:nvSpPr>
          <p:cNvPr id="30" name="Text 28"/>
          <p:cNvSpPr/>
          <p:nvPr/>
        </p:nvSpPr>
        <p:spPr>
          <a:xfrm>
            <a:off x="7223760" y="3794760"/>
            <a:ext cx="4114800" cy="292608"/>
          </a:xfrm>
          <a:prstGeom prst="rect">
            <a:avLst/>
          </a:prstGeom>
          <a:noFill/>
          <a:ln/>
        </p:spPr>
        <p:txBody>
          <a:bodyPr wrap="square" rtlCol="0" anchor="ctr"/>
          <a:lstStyle/>
          <a:p>
            <a:pPr marL="0" indent="0">
              <a:buNone/>
            </a:pPr>
            <a:r>
              <a:rPr lang="en-US" sz="1050" dirty="0">
                <a:solidFill>
                  <a:srgbClr val="5B6B8C"/>
                </a:solidFill>
                <a:latin typeface="Calibri" pitchFamily="34" charset="0"/>
                <a:ea typeface="Calibri" pitchFamily="34" charset="-122"/>
                <a:cs typeface="Calibri" pitchFamily="34" charset="-120"/>
              </a:rPr>
              <a:t>12.05% · 13.33%</a:t>
            </a:r>
            <a:endParaRPr lang="en-US" sz="1050" dirty="0"/>
          </a:p>
        </p:txBody>
      </p:sp>
      <p:sp>
        <p:nvSpPr>
          <p:cNvPr id="31" name="Text 29"/>
          <p:cNvSpPr/>
          <p:nvPr/>
        </p:nvSpPr>
        <p:spPr>
          <a:xfrm>
            <a:off x="6949440" y="4215384"/>
            <a:ext cx="228600" cy="365760"/>
          </a:xfrm>
          <a:prstGeom prst="rect">
            <a:avLst/>
          </a:prstGeom>
          <a:noFill/>
          <a:ln/>
        </p:spPr>
        <p:txBody>
          <a:bodyPr wrap="square" rtlCol="0" anchor="ctr"/>
          <a:lstStyle/>
          <a:p>
            <a:pPr marL="0" indent="0">
              <a:buNone/>
            </a:pPr>
            <a:r>
              <a:rPr lang="en-US" sz="1200" b="1" dirty="0">
                <a:solidFill>
                  <a:srgbClr val="C9A227"/>
                </a:solidFill>
                <a:latin typeface="Calibri" pitchFamily="34" charset="0"/>
                <a:ea typeface="Calibri" pitchFamily="34" charset="-122"/>
                <a:cs typeface="Calibri" pitchFamily="34" charset="-120"/>
              </a:rPr>
              <a:t>▸</a:t>
            </a:r>
            <a:endParaRPr lang="en-US" sz="1200" dirty="0"/>
          </a:p>
        </p:txBody>
      </p:sp>
      <p:sp>
        <p:nvSpPr>
          <p:cNvPr id="32" name="Text 30"/>
          <p:cNvSpPr/>
          <p:nvPr/>
        </p:nvSpPr>
        <p:spPr>
          <a:xfrm>
            <a:off x="7223760" y="4187952"/>
            <a:ext cx="4114800" cy="292608"/>
          </a:xfrm>
          <a:prstGeom prst="rect">
            <a:avLst/>
          </a:prstGeom>
          <a:noFill/>
          <a:ln/>
        </p:spPr>
        <p:txBody>
          <a:bodyPr wrap="square" rtlCol="0" anchor="ctr"/>
          <a:lstStyle/>
          <a:p>
            <a:pPr marL="0" indent="0">
              <a:buNone/>
            </a:pPr>
            <a:r>
              <a:rPr lang="en-US" sz="1100" b="1" dirty="0">
                <a:solidFill>
                  <a:srgbClr val="1B2340"/>
                </a:solidFill>
                <a:latin typeface="Calibri" pitchFamily="34" charset="0"/>
                <a:ea typeface="Calibri" pitchFamily="34" charset="-122"/>
                <a:cs typeface="Calibri" pitchFamily="34" charset="-120"/>
              </a:rPr>
              <a:t>Good vs Bad loan split</a:t>
            </a:r>
            <a:endParaRPr lang="en-US" sz="1100" dirty="0"/>
          </a:p>
        </p:txBody>
      </p:sp>
      <p:sp>
        <p:nvSpPr>
          <p:cNvPr id="33" name="Text 31"/>
          <p:cNvSpPr/>
          <p:nvPr/>
        </p:nvSpPr>
        <p:spPr>
          <a:xfrm>
            <a:off x="7223760" y="4453128"/>
            <a:ext cx="4114800" cy="292608"/>
          </a:xfrm>
          <a:prstGeom prst="rect">
            <a:avLst/>
          </a:prstGeom>
          <a:noFill/>
          <a:ln/>
        </p:spPr>
        <p:txBody>
          <a:bodyPr wrap="square" rtlCol="0" anchor="ctr"/>
          <a:lstStyle/>
          <a:p>
            <a:pPr marL="0" indent="0">
              <a:buNone/>
            </a:pPr>
            <a:r>
              <a:rPr lang="en-US" sz="1050" dirty="0">
                <a:solidFill>
                  <a:srgbClr val="5B6B8C"/>
                </a:solidFill>
                <a:latin typeface="Calibri" pitchFamily="34" charset="0"/>
                <a:ea typeface="Calibri" pitchFamily="34" charset="-122"/>
                <a:cs typeface="Calibri" pitchFamily="34" charset="-120"/>
              </a:rPr>
              <a:t>86.18% · 13.82%</a:t>
            </a:r>
            <a:endParaRPr lang="en-US" sz="1050" dirty="0"/>
          </a:p>
        </p:txBody>
      </p:sp>
      <p:sp>
        <p:nvSpPr>
          <p:cNvPr id="34" name="Text 32"/>
          <p:cNvSpPr/>
          <p:nvPr/>
        </p:nvSpPr>
        <p:spPr>
          <a:xfrm>
            <a:off x="6949440" y="4873752"/>
            <a:ext cx="228600" cy="365760"/>
          </a:xfrm>
          <a:prstGeom prst="rect">
            <a:avLst/>
          </a:prstGeom>
          <a:noFill/>
          <a:ln/>
        </p:spPr>
        <p:txBody>
          <a:bodyPr wrap="square" rtlCol="0" anchor="ctr"/>
          <a:lstStyle/>
          <a:p>
            <a:pPr marL="0" indent="0">
              <a:buNone/>
            </a:pPr>
            <a:r>
              <a:rPr lang="en-US" sz="1200" b="1" dirty="0">
                <a:solidFill>
                  <a:srgbClr val="C9A227"/>
                </a:solidFill>
                <a:latin typeface="Calibri" pitchFamily="34" charset="0"/>
                <a:ea typeface="Calibri" pitchFamily="34" charset="-122"/>
                <a:cs typeface="Calibri" pitchFamily="34" charset="-120"/>
              </a:rPr>
              <a:t>▸</a:t>
            </a:r>
            <a:endParaRPr lang="en-US" sz="1200" dirty="0"/>
          </a:p>
        </p:txBody>
      </p:sp>
      <p:sp>
        <p:nvSpPr>
          <p:cNvPr id="35" name="Text 33"/>
          <p:cNvSpPr/>
          <p:nvPr/>
        </p:nvSpPr>
        <p:spPr>
          <a:xfrm>
            <a:off x="7223760" y="4846320"/>
            <a:ext cx="4114800" cy="292608"/>
          </a:xfrm>
          <a:prstGeom prst="rect">
            <a:avLst/>
          </a:prstGeom>
          <a:noFill/>
          <a:ln/>
        </p:spPr>
        <p:txBody>
          <a:bodyPr wrap="square" rtlCol="0" anchor="ctr"/>
          <a:lstStyle/>
          <a:p>
            <a:pPr marL="0" indent="0">
              <a:buNone/>
            </a:pPr>
            <a:r>
              <a:rPr lang="en-US" sz="1100" b="1" dirty="0">
                <a:solidFill>
                  <a:srgbClr val="1B2340"/>
                </a:solidFill>
                <a:latin typeface="Calibri" pitchFamily="34" charset="0"/>
                <a:ea typeface="Calibri" pitchFamily="34" charset="-122"/>
                <a:cs typeface="Calibri" pitchFamily="34" charset="-120"/>
              </a:rPr>
              <a:t>Trend by month, state, grade, purpose</a:t>
            </a:r>
            <a:endParaRPr lang="en-US" sz="1100" dirty="0"/>
          </a:p>
        </p:txBody>
      </p:sp>
      <p:sp>
        <p:nvSpPr>
          <p:cNvPr id="36" name="Text 34"/>
          <p:cNvSpPr/>
          <p:nvPr/>
        </p:nvSpPr>
        <p:spPr>
          <a:xfrm>
            <a:off x="7223760" y="5111496"/>
            <a:ext cx="4114800" cy="292608"/>
          </a:xfrm>
          <a:prstGeom prst="rect">
            <a:avLst/>
          </a:prstGeom>
          <a:noFill/>
          <a:ln/>
        </p:spPr>
        <p:txBody>
          <a:bodyPr wrap="square" rtlCol="0" anchor="ctr"/>
          <a:lstStyle/>
          <a:p>
            <a:pPr marL="0" indent="0">
              <a:buNone/>
            </a:pPr>
            <a:r>
              <a:rPr lang="en-US" sz="1050" dirty="0">
                <a:solidFill>
                  <a:srgbClr val="5B6B8C"/>
                </a:solidFill>
                <a:latin typeface="Calibri" pitchFamily="34" charset="0"/>
                <a:ea typeface="Calibri" pitchFamily="34" charset="-122"/>
                <a:cs typeface="Calibri" pitchFamily="34" charset="-120"/>
              </a:rPr>
              <a:t>Full breakdown tables</a:t>
            </a:r>
            <a:endParaRPr lang="en-US" sz="1050" dirty="0"/>
          </a:p>
        </p:txBody>
      </p:sp>
      <p:sp>
        <p:nvSpPr>
          <p:cNvPr id="37" name="Text 35"/>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5B6B8C"/>
                </a:solidFill>
                <a:latin typeface="Calibri" pitchFamily="34" charset="0"/>
                <a:ea typeface="Calibri" pitchFamily="34" charset="-122"/>
                <a:cs typeface="Calibri" pitchFamily="34" charset="-120"/>
              </a:rPr>
              <a:t>Bank Loan Report Analysis</a:t>
            </a:r>
            <a:endParaRPr lang="en-US" sz="900" dirty="0"/>
          </a:p>
        </p:txBody>
      </p:sp>
      <p:sp>
        <p:nvSpPr>
          <p:cNvPr id="38" name="Text 36"/>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5B6B8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POWER BI DEVELOPMENT</a:t>
            </a:r>
            <a:endParaRPr lang="en-US" sz="1200" dirty="0"/>
          </a:p>
        </p:txBody>
      </p:sp>
      <p:sp>
        <p:nvSpPr>
          <p:cNvPr id="3" name="Text 1"/>
          <p:cNvSpPr/>
          <p:nvPr/>
        </p:nvSpPr>
        <p:spPr>
          <a:xfrm>
            <a:off x="548640" y="713232"/>
            <a:ext cx="9875520" cy="548640"/>
          </a:xfrm>
          <a:prstGeom prst="rect">
            <a:avLst/>
          </a:prstGeom>
          <a:noFill/>
          <a:ln/>
        </p:spPr>
        <p:txBody>
          <a:bodyPr wrap="square" rtlCol="0" anchor="ctr"/>
          <a:lstStyle/>
          <a:p>
            <a:pPr marL="0" indent="0">
              <a:buNone/>
            </a:pPr>
            <a:r>
              <a:rPr lang="en-US" sz="2300" b="1" dirty="0">
                <a:solidFill>
                  <a:srgbClr val="1B2340"/>
                </a:solidFill>
                <a:latin typeface="Cambria" pitchFamily="34" charset="0"/>
                <a:ea typeface="Cambria" pitchFamily="34" charset="-122"/>
                <a:cs typeface="Cambria" pitchFamily="34" charset="-120"/>
              </a:rPr>
              <a:t>From validated query logic to an interactive report</a:t>
            </a:r>
            <a:endParaRPr lang="en-US" sz="2300" dirty="0"/>
          </a:p>
        </p:txBody>
      </p:sp>
      <p:sp>
        <p:nvSpPr>
          <p:cNvPr id="4" name="Shape 2"/>
          <p:cNvSpPr/>
          <p:nvPr/>
        </p:nvSpPr>
        <p:spPr>
          <a:xfrm>
            <a:off x="548640" y="1600200"/>
            <a:ext cx="3520440" cy="1783080"/>
          </a:xfrm>
          <a:prstGeom prst="roundRect">
            <a:avLst>
              <a:gd name="adj" fmla="val 4103"/>
            </a:avLst>
          </a:prstGeom>
          <a:solidFill>
            <a:srgbClr val="EEF3FC"/>
          </a:solidFill>
          <a:ln/>
        </p:spPr>
      </p:sp>
      <p:sp>
        <p:nvSpPr>
          <p:cNvPr id="5" name="Shape 3"/>
          <p:cNvSpPr/>
          <p:nvPr/>
        </p:nvSpPr>
        <p:spPr>
          <a:xfrm>
            <a:off x="777240" y="1828800"/>
            <a:ext cx="457200" cy="457200"/>
          </a:xfrm>
          <a:prstGeom prst="ellipse">
            <a:avLst/>
          </a:prstGeom>
          <a:solidFill>
            <a:srgbClr val="C9A227"/>
          </a:solidFill>
          <a:ln/>
        </p:spPr>
      </p:sp>
      <p:sp>
        <p:nvSpPr>
          <p:cNvPr id="6" name="Text 4"/>
          <p:cNvSpPr/>
          <p:nvPr/>
        </p:nvSpPr>
        <p:spPr>
          <a:xfrm>
            <a:off x="777240" y="1828800"/>
            <a:ext cx="457200" cy="457200"/>
          </a:xfrm>
          <a:prstGeom prst="rect">
            <a:avLst/>
          </a:prstGeom>
          <a:noFill/>
          <a:ln/>
        </p:spPr>
        <p:txBody>
          <a:bodyPr wrap="square" lIns="0" tIns="0" rIns="0" bIns="0" rtlCol="0" anchor="ctr"/>
          <a:lstStyle/>
          <a:p>
            <a:pPr marL="0" indent="0" algn="ctr">
              <a:buNone/>
            </a:pPr>
            <a:r>
              <a:rPr lang="en-US" sz="1600" b="1" dirty="0">
                <a:solidFill>
                  <a:srgbClr val="141B44"/>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777240" y="2423160"/>
            <a:ext cx="306324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Import data</a:t>
            </a:r>
            <a:endParaRPr lang="en-US" sz="1350" dirty="0"/>
          </a:p>
        </p:txBody>
      </p:sp>
      <p:sp>
        <p:nvSpPr>
          <p:cNvPr id="8" name="Text 6"/>
          <p:cNvSpPr/>
          <p:nvPr/>
        </p:nvSpPr>
        <p:spPr>
          <a:xfrm>
            <a:off x="777240" y="2770632"/>
            <a:ext cx="3063240" cy="457200"/>
          </a:xfrm>
          <a:prstGeom prst="rect">
            <a:avLst/>
          </a:prstGeom>
          <a:noFill/>
          <a:ln/>
        </p:spPr>
        <p:txBody>
          <a:bodyPr wrap="square" rtlCol="0" anchor="ctr"/>
          <a:lstStyle/>
          <a:p>
            <a:pPr marL="0" indent="0">
              <a:lnSpc>
                <a:spcPct val="115000"/>
              </a:lnSpc>
              <a:buNone/>
            </a:pPr>
            <a:r>
              <a:rPr lang="en-US" sz="1000" dirty="0">
                <a:solidFill>
                  <a:srgbClr val="5B6B8C"/>
                </a:solidFill>
                <a:latin typeface="Calibri" pitchFamily="34" charset="0"/>
                <a:ea typeface="Calibri" pitchFamily="34" charset="-122"/>
                <a:cs typeface="Calibri" pitchFamily="34" charset="-120"/>
              </a:rPr>
              <a:t>Excel source loaded into Power BI</a:t>
            </a:r>
            <a:endParaRPr lang="en-US" sz="1000" dirty="0"/>
          </a:p>
        </p:txBody>
      </p:sp>
      <p:sp>
        <p:nvSpPr>
          <p:cNvPr id="9" name="Text 7"/>
          <p:cNvSpPr/>
          <p:nvPr/>
        </p:nvSpPr>
        <p:spPr>
          <a:xfrm>
            <a:off x="4069080" y="1600200"/>
            <a:ext cx="228600" cy="1783080"/>
          </a:xfrm>
          <a:prstGeom prst="rect">
            <a:avLst/>
          </a:prstGeom>
          <a:noFill/>
          <a:ln/>
        </p:spPr>
        <p:txBody>
          <a:bodyPr wrap="square" rtlCol="0" anchor="ctr"/>
          <a:lstStyle/>
          <a:p>
            <a:pPr marL="0" indent="0" algn="ctr">
              <a:buNone/>
            </a:pPr>
            <a:r>
              <a:rPr lang="en-US" sz="1600" b="1" dirty="0">
                <a:solidFill>
                  <a:srgbClr val="5B6B8C"/>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4297680" y="1600200"/>
            <a:ext cx="3520440" cy="1783080"/>
          </a:xfrm>
          <a:prstGeom prst="roundRect">
            <a:avLst>
              <a:gd name="adj" fmla="val 4103"/>
            </a:avLst>
          </a:prstGeom>
          <a:solidFill>
            <a:srgbClr val="EEF3FC"/>
          </a:solidFill>
          <a:ln/>
        </p:spPr>
      </p:sp>
      <p:sp>
        <p:nvSpPr>
          <p:cNvPr id="11" name="Shape 9"/>
          <p:cNvSpPr/>
          <p:nvPr/>
        </p:nvSpPr>
        <p:spPr>
          <a:xfrm>
            <a:off x="4526280" y="1828800"/>
            <a:ext cx="457200" cy="457200"/>
          </a:xfrm>
          <a:prstGeom prst="ellipse">
            <a:avLst/>
          </a:prstGeom>
          <a:solidFill>
            <a:srgbClr val="C9A227"/>
          </a:solidFill>
          <a:ln/>
        </p:spPr>
      </p:sp>
      <p:sp>
        <p:nvSpPr>
          <p:cNvPr id="12" name="Text 10"/>
          <p:cNvSpPr/>
          <p:nvPr/>
        </p:nvSpPr>
        <p:spPr>
          <a:xfrm>
            <a:off x="4526280" y="1828800"/>
            <a:ext cx="457200" cy="457200"/>
          </a:xfrm>
          <a:prstGeom prst="rect">
            <a:avLst/>
          </a:prstGeom>
          <a:noFill/>
          <a:ln/>
        </p:spPr>
        <p:txBody>
          <a:bodyPr wrap="square" lIns="0" tIns="0" rIns="0" bIns="0" rtlCol="0" anchor="ctr"/>
          <a:lstStyle/>
          <a:p>
            <a:pPr marL="0" indent="0" algn="ctr">
              <a:buNone/>
            </a:pPr>
            <a:r>
              <a:rPr lang="en-US" sz="1600" b="1" dirty="0">
                <a:solidFill>
                  <a:srgbClr val="141B44"/>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4526280" y="2423160"/>
            <a:ext cx="306324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Power Query</a:t>
            </a:r>
            <a:endParaRPr lang="en-US" sz="1350" dirty="0"/>
          </a:p>
        </p:txBody>
      </p:sp>
      <p:sp>
        <p:nvSpPr>
          <p:cNvPr id="14" name="Text 12"/>
          <p:cNvSpPr/>
          <p:nvPr/>
        </p:nvSpPr>
        <p:spPr>
          <a:xfrm>
            <a:off x="4526280" y="2770632"/>
            <a:ext cx="3063240" cy="457200"/>
          </a:xfrm>
          <a:prstGeom prst="rect">
            <a:avLst/>
          </a:prstGeom>
          <a:noFill/>
          <a:ln/>
        </p:spPr>
        <p:txBody>
          <a:bodyPr wrap="square" rtlCol="0" anchor="ctr"/>
          <a:lstStyle/>
          <a:p>
            <a:pPr marL="0" indent="0">
              <a:lnSpc>
                <a:spcPct val="115000"/>
              </a:lnSpc>
              <a:buNone/>
            </a:pPr>
            <a:r>
              <a:rPr lang="en-US" sz="1000" dirty="0">
                <a:solidFill>
                  <a:srgbClr val="5B6B8C"/>
                </a:solidFill>
                <a:latin typeface="Calibri" pitchFamily="34" charset="0"/>
                <a:ea typeface="Calibri" pitchFamily="34" charset="-122"/>
                <a:cs typeface="Calibri" pitchFamily="34" charset="-120"/>
              </a:rPr>
              <a:t>Shape and transform before modeling</a:t>
            </a:r>
            <a:endParaRPr lang="en-US" sz="1000" dirty="0"/>
          </a:p>
        </p:txBody>
      </p:sp>
      <p:sp>
        <p:nvSpPr>
          <p:cNvPr id="15" name="Text 13"/>
          <p:cNvSpPr/>
          <p:nvPr/>
        </p:nvSpPr>
        <p:spPr>
          <a:xfrm>
            <a:off x="7818120" y="1600200"/>
            <a:ext cx="228600" cy="1783080"/>
          </a:xfrm>
          <a:prstGeom prst="rect">
            <a:avLst/>
          </a:prstGeom>
          <a:noFill/>
          <a:ln/>
        </p:spPr>
        <p:txBody>
          <a:bodyPr wrap="square" rtlCol="0" anchor="ctr"/>
          <a:lstStyle/>
          <a:p>
            <a:pPr marL="0" indent="0" algn="ctr">
              <a:buNone/>
            </a:pPr>
            <a:r>
              <a:rPr lang="en-US" sz="1600" b="1" dirty="0">
                <a:solidFill>
                  <a:srgbClr val="5B6B8C"/>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8046720" y="1600200"/>
            <a:ext cx="3520440" cy="1783080"/>
          </a:xfrm>
          <a:prstGeom prst="roundRect">
            <a:avLst>
              <a:gd name="adj" fmla="val 4103"/>
            </a:avLst>
          </a:prstGeom>
          <a:solidFill>
            <a:srgbClr val="EEF3FC"/>
          </a:solidFill>
          <a:ln/>
        </p:spPr>
      </p:sp>
      <p:sp>
        <p:nvSpPr>
          <p:cNvPr id="17" name="Shape 15"/>
          <p:cNvSpPr/>
          <p:nvPr/>
        </p:nvSpPr>
        <p:spPr>
          <a:xfrm>
            <a:off x="8275320" y="1828800"/>
            <a:ext cx="457200" cy="457200"/>
          </a:xfrm>
          <a:prstGeom prst="ellipse">
            <a:avLst/>
          </a:prstGeom>
          <a:solidFill>
            <a:srgbClr val="C9A227"/>
          </a:solidFill>
          <a:ln/>
        </p:spPr>
      </p:sp>
      <p:sp>
        <p:nvSpPr>
          <p:cNvPr id="18" name="Text 16"/>
          <p:cNvSpPr/>
          <p:nvPr/>
        </p:nvSpPr>
        <p:spPr>
          <a:xfrm>
            <a:off x="8275320" y="1828800"/>
            <a:ext cx="457200" cy="457200"/>
          </a:xfrm>
          <a:prstGeom prst="rect">
            <a:avLst/>
          </a:prstGeom>
          <a:noFill/>
          <a:ln/>
        </p:spPr>
        <p:txBody>
          <a:bodyPr wrap="square" lIns="0" tIns="0" rIns="0" bIns="0" rtlCol="0" anchor="ctr"/>
          <a:lstStyle/>
          <a:p>
            <a:pPr marL="0" indent="0" algn="ctr">
              <a:buNone/>
            </a:pPr>
            <a:r>
              <a:rPr lang="en-US" sz="1600" b="1" dirty="0">
                <a:solidFill>
                  <a:srgbClr val="141B44"/>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8275320" y="2423160"/>
            <a:ext cx="306324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Data modeling</a:t>
            </a:r>
            <a:endParaRPr lang="en-US" sz="1350" dirty="0"/>
          </a:p>
        </p:txBody>
      </p:sp>
      <p:sp>
        <p:nvSpPr>
          <p:cNvPr id="20" name="Text 18"/>
          <p:cNvSpPr/>
          <p:nvPr/>
        </p:nvSpPr>
        <p:spPr>
          <a:xfrm>
            <a:off x="8275320" y="2770632"/>
            <a:ext cx="3063240" cy="457200"/>
          </a:xfrm>
          <a:prstGeom prst="rect">
            <a:avLst/>
          </a:prstGeom>
          <a:noFill/>
          <a:ln/>
        </p:spPr>
        <p:txBody>
          <a:bodyPr wrap="square" rtlCol="0" anchor="ctr"/>
          <a:lstStyle/>
          <a:p>
            <a:pPr marL="0" indent="0">
              <a:lnSpc>
                <a:spcPct val="115000"/>
              </a:lnSpc>
              <a:buNone/>
            </a:pPr>
            <a:r>
              <a:rPr lang="en-US" sz="1000" dirty="0">
                <a:solidFill>
                  <a:srgbClr val="5B6B8C"/>
                </a:solidFill>
                <a:latin typeface="Calibri" pitchFamily="34" charset="0"/>
                <a:ea typeface="Calibri" pitchFamily="34" charset="-122"/>
                <a:cs typeface="Calibri" pitchFamily="34" charset="-120"/>
              </a:rPr>
              <a:t>Define relationships and structure</a:t>
            </a:r>
            <a:endParaRPr lang="en-US" sz="1000" dirty="0"/>
          </a:p>
        </p:txBody>
      </p:sp>
      <p:sp>
        <p:nvSpPr>
          <p:cNvPr id="21" name="Shape 19"/>
          <p:cNvSpPr/>
          <p:nvPr/>
        </p:nvSpPr>
        <p:spPr>
          <a:xfrm>
            <a:off x="548640" y="3657600"/>
            <a:ext cx="3520440" cy="1783080"/>
          </a:xfrm>
          <a:prstGeom prst="roundRect">
            <a:avLst>
              <a:gd name="adj" fmla="val 4103"/>
            </a:avLst>
          </a:prstGeom>
          <a:solidFill>
            <a:srgbClr val="1E2761"/>
          </a:solidFill>
          <a:ln/>
        </p:spPr>
      </p:sp>
      <p:sp>
        <p:nvSpPr>
          <p:cNvPr id="22" name="Shape 20"/>
          <p:cNvSpPr/>
          <p:nvPr/>
        </p:nvSpPr>
        <p:spPr>
          <a:xfrm>
            <a:off x="777240" y="3886200"/>
            <a:ext cx="457200" cy="457200"/>
          </a:xfrm>
          <a:prstGeom prst="ellipse">
            <a:avLst/>
          </a:prstGeom>
          <a:solidFill>
            <a:srgbClr val="C9A227"/>
          </a:solidFill>
          <a:ln/>
        </p:spPr>
      </p:sp>
      <p:sp>
        <p:nvSpPr>
          <p:cNvPr id="23" name="Text 21"/>
          <p:cNvSpPr/>
          <p:nvPr/>
        </p:nvSpPr>
        <p:spPr>
          <a:xfrm>
            <a:off x="777240" y="3886200"/>
            <a:ext cx="457200" cy="457200"/>
          </a:xfrm>
          <a:prstGeom prst="rect">
            <a:avLst/>
          </a:prstGeom>
          <a:noFill/>
          <a:ln/>
        </p:spPr>
        <p:txBody>
          <a:bodyPr wrap="square" lIns="0" tIns="0" rIns="0" bIns="0" rtlCol="0" anchor="ctr"/>
          <a:lstStyle/>
          <a:p>
            <a:pPr marL="0" indent="0" algn="ctr">
              <a:buNone/>
            </a:pPr>
            <a:r>
              <a:rPr lang="en-US" sz="1600" b="1" dirty="0">
                <a:solidFill>
                  <a:srgbClr val="141B44"/>
                </a:solidFill>
                <a:latin typeface="Calibri" pitchFamily="34" charset="0"/>
                <a:ea typeface="Calibri" pitchFamily="34" charset="-122"/>
                <a:cs typeface="Calibri" pitchFamily="34" charset="-120"/>
              </a:rPr>
              <a:t>4</a:t>
            </a:r>
            <a:endParaRPr lang="en-US" sz="1600" dirty="0"/>
          </a:p>
        </p:txBody>
      </p:sp>
      <p:sp>
        <p:nvSpPr>
          <p:cNvPr id="24" name="Text 22"/>
          <p:cNvSpPr/>
          <p:nvPr/>
        </p:nvSpPr>
        <p:spPr>
          <a:xfrm>
            <a:off x="777240" y="4480560"/>
            <a:ext cx="3063240" cy="36576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DAX measures</a:t>
            </a:r>
            <a:endParaRPr lang="en-US" sz="1350" dirty="0"/>
          </a:p>
        </p:txBody>
      </p:sp>
      <p:sp>
        <p:nvSpPr>
          <p:cNvPr id="25" name="Text 23"/>
          <p:cNvSpPr/>
          <p:nvPr/>
        </p:nvSpPr>
        <p:spPr>
          <a:xfrm>
            <a:off x="777240" y="4828032"/>
            <a:ext cx="3063240" cy="457200"/>
          </a:xfrm>
          <a:prstGeom prst="rect">
            <a:avLst/>
          </a:prstGeom>
          <a:noFill/>
          <a:ln/>
        </p:spPr>
        <p:txBody>
          <a:bodyPr wrap="square" rtlCol="0" anchor="ctr"/>
          <a:lstStyle/>
          <a:p>
            <a:pPr marL="0" indent="0">
              <a:lnSpc>
                <a:spcPct val="115000"/>
              </a:lnSpc>
              <a:buNone/>
            </a:pPr>
            <a:r>
              <a:rPr lang="en-US" sz="1000" dirty="0">
                <a:solidFill>
                  <a:srgbClr val="CADCFC"/>
                </a:solidFill>
                <a:latin typeface="Calibri" pitchFamily="34" charset="0"/>
                <a:ea typeface="Calibri" pitchFamily="34" charset="-122"/>
                <a:cs typeface="Calibri" pitchFamily="34" charset="-120"/>
              </a:rPr>
              <a:t>Rebuild validated SQL KPI logic</a:t>
            </a:r>
            <a:endParaRPr lang="en-US" sz="1000" dirty="0"/>
          </a:p>
        </p:txBody>
      </p:sp>
      <p:sp>
        <p:nvSpPr>
          <p:cNvPr id="26" name="Text 24"/>
          <p:cNvSpPr/>
          <p:nvPr/>
        </p:nvSpPr>
        <p:spPr>
          <a:xfrm>
            <a:off x="4069080" y="3657600"/>
            <a:ext cx="228600" cy="1783080"/>
          </a:xfrm>
          <a:prstGeom prst="rect">
            <a:avLst/>
          </a:prstGeom>
          <a:noFill/>
          <a:ln/>
        </p:spPr>
        <p:txBody>
          <a:bodyPr wrap="square" rtlCol="0" anchor="ctr"/>
          <a:lstStyle/>
          <a:p>
            <a:pPr marL="0" indent="0" algn="ctr">
              <a:buNone/>
            </a:pPr>
            <a:r>
              <a:rPr lang="en-US" sz="1600" b="1" dirty="0">
                <a:solidFill>
                  <a:srgbClr val="5B6B8C"/>
                </a:solidFill>
                <a:latin typeface="Calibri" pitchFamily="34" charset="0"/>
                <a:ea typeface="Calibri" pitchFamily="34" charset="-122"/>
                <a:cs typeface="Calibri" pitchFamily="34" charset="-120"/>
              </a:rPr>
              <a:t>→</a:t>
            </a:r>
            <a:endParaRPr lang="en-US" sz="1600" dirty="0"/>
          </a:p>
        </p:txBody>
      </p:sp>
      <p:sp>
        <p:nvSpPr>
          <p:cNvPr id="27" name="Shape 25"/>
          <p:cNvSpPr/>
          <p:nvPr/>
        </p:nvSpPr>
        <p:spPr>
          <a:xfrm>
            <a:off x="4297680" y="3657600"/>
            <a:ext cx="3520440" cy="1783080"/>
          </a:xfrm>
          <a:prstGeom prst="roundRect">
            <a:avLst>
              <a:gd name="adj" fmla="val 4103"/>
            </a:avLst>
          </a:prstGeom>
          <a:solidFill>
            <a:srgbClr val="1E2761"/>
          </a:solidFill>
          <a:ln/>
        </p:spPr>
      </p:sp>
      <p:sp>
        <p:nvSpPr>
          <p:cNvPr id="28" name="Shape 26"/>
          <p:cNvSpPr/>
          <p:nvPr/>
        </p:nvSpPr>
        <p:spPr>
          <a:xfrm>
            <a:off x="4526280" y="3886200"/>
            <a:ext cx="457200" cy="457200"/>
          </a:xfrm>
          <a:prstGeom prst="ellipse">
            <a:avLst/>
          </a:prstGeom>
          <a:solidFill>
            <a:srgbClr val="C9A227"/>
          </a:solidFill>
          <a:ln/>
        </p:spPr>
      </p:sp>
      <p:sp>
        <p:nvSpPr>
          <p:cNvPr id="29" name="Text 27"/>
          <p:cNvSpPr/>
          <p:nvPr/>
        </p:nvSpPr>
        <p:spPr>
          <a:xfrm>
            <a:off x="4526280" y="3886200"/>
            <a:ext cx="457200" cy="457200"/>
          </a:xfrm>
          <a:prstGeom prst="rect">
            <a:avLst/>
          </a:prstGeom>
          <a:noFill/>
          <a:ln/>
        </p:spPr>
        <p:txBody>
          <a:bodyPr wrap="square" lIns="0" tIns="0" rIns="0" bIns="0" rtlCol="0" anchor="ctr"/>
          <a:lstStyle/>
          <a:p>
            <a:pPr marL="0" indent="0" algn="ctr">
              <a:buNone/>
            </a:pPr>
            <a:r>
              <a:rPr lang="en-US" sz="1600" b="1" dirty="0">
                <a:solidFill>
                  <a:srgbClr val="141B44"/>
                </a:solidFill>
                <a:latin typeface="Calibri" pitchFamily="34" charset="0"/>
                <a:ea typeface="Calibri" pitchFamily="34" charset="-122"/>
                <a:cs typeface="Calibri" pitchFamily="34" charset="-120"/>
              </a:rPr>
              <a:t>5</a:t>
            </a:r>
            <a:endParaRPr lang="en-US" sz="1600" dirty="0"/>
          </a:p>
        </p:txBody>
      </p:sp>
      <p:sp>
        <p:nvSpPr>
          <p:cNvPr id="30" name="Text 28"/>
          <p:cNvSpPr/>
          <p:nvPr/>
        </p:nvSpPr>
        <p:spPr>
          <a:xfrm>
            <a:off x="4526280" y="4480560"/>
            <a:ext cx="3063240" cy="36576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Visuals &amp; KPIs</a:t>
            </a:r>
            <a:endParaRPr lang="en-US" sz="1350" dirty="0"/>
          </a:p>
        </p:txBody>
      </p:sp>
      <p:sp>
        <p:nvSpPr>
          <p:cNvPr id="31" name="Text 29"/>
          <p:cNvSpPr/>
          <p:nvPr/>
        </p:nvSpPr>
        <p:spPr>
          <a:xfrm>
            <a:off x="4526280" y="4828032"/>
            <a:ext cx="3063240" cy="457200"/>
          </a:xfrm>
          <a:prstGeom prst="rect">
            <a:avLst/>
          </a:prstGeom>
          <a:noFill/>
          <a:ln/>
        </p:spPr>
        <p:txBody>
          <a:bodyPr wrap="square" rtlCol="0" anchor="ctr"/>
          <a:lstStyle/>
          <a:p>
            <a:pPr marL="0" indent="0">
              <a:lnSpc>
                <a:spcPct val="115000"/>
              </a:lnSpc>
              <a:buNone/>
            </a:pPr>
            <a:r>
              <a:rPr lang="en-US" sz="1000" dirty="0">
                <a:solidFill>
                  <a:srgbClr val="CADCFC"/>
                </a:solidFill>
                <a:latin typeface="Calibri" pitchFamily="34" charset="0"/>
                <a:ea typeface="Calibri" pitchFamily="34" charset="-122"/>
                <a:cs typeface="Calibri" pitchFamily="34" charset="-120"/>
              </a:rPr>
              <a:t>Cards, trends, and breakdown charts</a:t>
            </a:r>
            <a:endParaRPr lang="en-US" sz="1000" dirty="0"/>
          </a:p>
        </p:txBody>
      </p:sp>
      <p:sp>
        <p:nvSpPr>
          <p:cNvPr id="32" name="Text 30"/>
          <p:cNvSpPr/>
          <p:nvPr/>
        </p:nvSpPr>
        <p:spPr>
          <a:xfrm>
            <a:off x="7818120" y="3657600"/>
            <a:ext cx="228600" cy="1783080"/>
          </a:xfrm>
          <a:prstGeom prst="rect">
            <a:avLst/>
          </a:prstGeom>
          <a:noFill/>
          <a:ln/>
        </p:spPr>
        <p:txBody>
          <a:bodyPr wrap="square" rtlCol="0" anchor="ctr"/>
          <a:lstStyle/>
          <a:p>
            <a:pPr marL="0" indent="0" algn="ctr">
              <a:buNone/>
            </a:pPr>
            <a:r>
              <a:rPr lang="en-US" sz="1600" b="1" dirty="0">
                <a:solidFill>
                  <a:srgbClr val="5B6B8C"/>
                </a:solidFill>
                <a:latin typeface="Calibri" pitchFamily="34" charset="0"/>
                <a:ea typeface="Calibri" pitchFamily="34" charset="-122"/>
                <a:cs typeface="Calibri" pitchFamily="34" charset="-120"/>
              </a:rPr>
              <a:t>→</a:t>
            </a:r>
            <a:endParaRPr lang="en-US" sz="1600" dirty="0"/>
          </a:p>
        </p:txBody>
      </p:sp>
      <p:sp>
        <p:nvSpPr>
          <p:cNvPr id="33" name="Shape 31"/>
          <p:cNvSpPr/>
          <p:nvPr/>
        </p:nvSpPr>
        <p:spPr>
          <a:xfrm>
            <a:off x="8046720" y="3657600"/>
            <a:ext cx="3520440" cy="1783080"/>
          </a:xfrm>
          <a:prstGeom prst="roundRect">
            <a:avLst>
              <a:gd name="adj" fmla="val 4103"/>
            </a:avLst>
          </a:prstGeom>
          <a:solidFill>
            <a:srgbClr val="1E2761"/>
          </a:solidFill>
          <a:ln/>
        </p:spPr>
      </p:sp>
      <p:sp>
        <p:nvSpPr>
          <p:cNvPr id="34" name="Shape 32"/>
          <p:cNvSpPr/>
          <p:nvPr/>
        </p:nvSpPr>
        <p:spPr>
          <a:xfrm>
            <a:off x="8275320" y="3886200"/>
            <a:ext cx="457200" cy="457200"/>
          </a:xfrm>
          <a:prstGeom prst="ellipse">
            <a:avLst/>
          </a:prstGeom>
          <a:solidFill>
            <a:srgbClr val="C9A227"/>
          </a:solidFill>
          <a:ln/>
        </p:spPr>
      </p:sp>
      <p:sp>
        <p:nvSpPr>
          <p:cNvPr id="35" name="Text 33"/>
          <p:cNvSpPr/>
          <p:nvPr/>
        </p:nvSpPr>
        <p:spPr>
          <a:xfrm>
            <a:off x="8275320" y="3886200"/>
            <a:ext cx="457200" cy="457200"/>
          </a:xfrm>
          <a:prstGeom prst="rect">
            <a:avLst/>
          </a:prstGeom>
          <a:noFill/>
          <a:ln/>
        </p:spPr>
        <p:txBody>
          <a:bodyPr wrap="square" lIns="0" tIns="0" rIns="0" bIns="0" rtlCol="0" anchor="ctr"/>
          <a:lstStyle/>
          <a:p>
            <a:pPr marL="0" indent="0" algn="ctr">
              <a:buNone/>
            </a:pPr>
            <a:r>
              <a:rPr lang="en-US" sz="1600" b="1" dirty="0">
                <a:solidFill>
                  <a:srgbClr val="141B44"/>
                </a:solidFill>
                <a:latin typeface="Calibri" pitchFamily="34" charset="0"/>
                <a:ea typeface="Calibri" pitchFamily="34" charset="-122"/>
                <a:cs typeface="Calibri" pitchFamily="34" charset="-120"/>
              </a:rPr>
              <a:t>6</a:t>
            </a:r>
            <a:endParaRPr lang="en-US" sz="1600" dirty="0"/>
          </a:p>
        </p:txBody>
      </p:sp>
      <p:sp>
        <p:nvSpPr>
          <p:cNvPr id="36" name="Text 34"/>
          <p:cNvSpPr/>
          <p:nvPr/>
        </p:nvSpPr>
        <p:spPr>
          <a:xfrm>
            <a:off x="8275320" y="4480560"/>
            <a:ext cx="3063240" cy="36576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Slicers &amp; interactivity</a:t>
            </a:r>
            <a:endParaRPr lang="en-US" sz="1350" dirty="0"/>
          </a:p>
        </p:txBody>
      </p:sp>
      <p:sp>
        <p:nvSpPr>
          <p:cNvPr id="37" name="Text 35"/>
          <p:cNvSpPr/>
          <p:nvPr/>
        </p:nvSpPr>
        <p:spPr>
          <a:xfrm>
            <a:off x="8275320" y="4828032"/>
            <a:ext cx="3063240" cy="457200"/>
          </a:xfrm>
          <a:prstGeom prst="rect">
            <a:avLst/>
          </a:prstGeom>
          <a:noFill/>
          <a:ln/>
        </p:spPr>
        <p:txBody>
          <a:bodyPr wrap="square" rtlCol="0" anchor="ctr"/>
          <a:lstStyle/>
          <a:p>
            <a:pPr marL="0" indent="0">
              <a:lnSpc>
                <a:spcPct val="115000"/>
              </a:lnSpc>
              <a:buNone/>
            </a:pPr>
            <a:r>
              <a:rPr lang="en-US" sz="1000" dirty="0">
                <a:solidFill>
                  <a:srgbClr val="CADCFC"/>
                </a:solidFill>
                <a:latin typeface="Calibri" pitchFamily="34" charset="0"/>
                <a:ea typeface="Calibri" pitchFamily="34" charset="-122"/>
                <a:cs typeface="Calibri" pitchFamily="34" charset="-120"/>
              </a:rPr>
              <a:t>State, grade, purpose, term filters</a:t>
            </a:r>
            <a:endParaRPr lang="en-US" sz="1000" dirty="0"/>
          </a:p>
        </p:txBody>
      </p:sp>
      <p:sp>
        <p:nvSpPr>
          <p:cNvPr id="38" name="Text 36"/>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5B6B8C"/>
                </a:solidFill>
                <a:latin typeface="Calibri" pitchFamily="34" charset="0"/>
                <a:ea typeface="Calibri" pitchFamily="34" charset="-122"/>
                <a:cs typeface="Calibri" pitchFamily="34" charset="-120"/>
              </a:rPr>
              <a:t>Bank Loan Report Analysis</a:t>
            </a:r>
            <a:endParaRPr lang="en-US" sz="900" dirty="0"/>
          </a:p>
        </p:txBody>
      </p:sp>
      <p:sp>
        <p:nvSpPr>
          <p:cNvPr id="39" name="Text 37"/>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5B6B8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44"/>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DASHBOARD OVERVIEW</a:t>
            </a:r>
            <a:endParaRPr lang="en-US" sz="1200" dirty="0"/>
          </a:p>
        </p:txBody>
      </p:sp>
      <p:sp>
        <p:nvSpPr>
          <p:cNvPr id="3" name="Text 1"/>
          <p:cNvSpPr/>
          <p:nvPr/>
        </p:nvSpPr>
        <p:spPr>
          <a:xfrm>
            <a:off x="548640" y="713232"/>
            <a:ext cx="9875520" cy="54864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The Summary page — one screen, full portfolio health</a:t>
            </a:r>
            <a:endParaRPr lang="en-US" sz="2200" dirty="0"/>
          </a:p>
        </p:txBody>
      </p:sp>
      <p:sp>
        <p:nvSpPr>
          <p:cNvPr id="4" name="Shape 2"/>
          <p:cNvSpPr/>
          <p:nvPr/>
        </p:nvSpPr>
        <p:spPr>
          <a:xfrm>
            <a:off x="548640" y="1463040"/>
            <a:ext cx="7223760" cy="4617720"/>
          </a:xfrm>
          <a:prstGeom prst="roundRect">
            <a:avLst>
              <a:gd name="adj" fmla="val 1188"/>
            </a:avLst>
          </a:prstGeom>
          <a:solidFill>
            <a:srgbClr val="FFFFFF"/>
          </a:solidFill>
          <a:ln w="9525">
            <a:solidFill>
              <a:srgbClr val="CADCFC"/>
            </a:solidFill>
            <a:prstDash val="solid"/>
          </a:ln>
        </p:spPr>
      </p:sp>
      <p:pic>
        <p:nvPicPr>
          <p:cNvPr id="5" name="Image 0" descr="/home/claude/pptx_build/dashboard_summary.png"/>
          <p:cNvPicPr>
            <a:picLocks noChangeAspect="1"/>
          </p:cNvPicPr>
          <p:nvPr/>
        </p:nvPicPr>
        <p:blipFill>
          <a:blip r:embed="rId3"/>
          <a:stretch>
            <a:fillRect/>
          </a:stretch>
        </p:blipFill>
        <p:spPr>
          <a:xfrm>
            <a:off x="658368" y="1572768"/>
            <a:ext cx="7004304" cy="4398264"/>
          </a:xfrm>
          <a:prstGeom prst="rect">
            <a:avLst/>
          </a:prstGeom>
        </p:spPr>
      </p:pic>
      <p:sp>
        <p:nvSpPr>
          <p:cNvPr id="6" name="Shape 3"/>
          <p:cNvSpPr/>
          <p:nvPr/>
        </p:nvSpPr>
        <p:spPr>
          <a:xfrm>
            <a:off x="8092440" y="1463040"/>
            <a:ext cx="3566160" cy="4617720"/>
          </a:xfrm>
          <a:prstGeom prst="roundRect">
            <a:avLst>
              <a:gd name="adj" fmla="val 2051"/>
            </a:avLst>
          </a:prstGeom>
          <a:solidFill>
            <a:srgbClr val="1E2761"/>
          </a:solidFill>
          <a:ln/>
        </p:spPr>
      </p:sp>
      <p:sp>
        <p:nvSpPr>
          <p:cNvPr id="7" name="Text 4"/>
          <p:cNvSpPr/>
          <p:nvPr/>
        </p:nvSpPr>
        <p:spPr>
          <a:xfrm>
            <a:off x="8366760" y="1645920"/>
            <a:ext cx="3017520" cy="320040"/>
          </a:xfrm>
          <a:prstGeom prst="rect">
            <a:avLst/>
          </a:prstGeom>
          <a:noFill/>
          <a:ln/>
        </p:spPr>
        <p:txBody>
          <a:bodyPr wrap="square" rtlCol="0" anchor="ctr"/>
          <a:lstStyle/>
          <a:p>
            <a:pPr marL="0" indent="0">
              <a:buNone/>
            </a:pPr>
            <a:r>
              <a:rPr lang="en-US" sz="1300" b="1" dirty="0">
                <a:solidFill>
                  <a:srgbClr val="C9A227"/>
                </a:solidFill>
                <a:latin typeface="Calibri" pitchFamily="34" charset="0"/>
                <a:ea typeface="Calibri" pitchFamily="34" charset="-122"/>
                <a:cs typeface="Calibri" pitchFamily="34" charset="-120"/>
              </a:rPr>
              <a:t>What this page shows</a:t>
            </a:r>
            <a:endParaRPr lang="en-US" sz="1300" dirty="0"/>
          </a:p>
        </p:txBody>
      </p:sp>
      <p:sp>
        <p:nvSpPr>
          <p:cNvPr id="8" name="Shape 5"/>
          <p:cNvSpPr/>
          <p:nvPr/>
        </p:nvSpPr>
        <p:spPr>
          <a:xfrm>
            <a:off x="8366760" y="2103120"/>
            <a:ext cx="310896" cy="310896"/>
          </a:xfrm>
          <a:prstGeom prst="ellipse">
            <a:avLst/>
          </a:prstGeom>
          <a:solidFill>
            <a:srgbClr val="C9A227"/>
          </a:solidFill>
          <a:ln/>
        </p:spPr>
      </p:sp>
      <p:sp>
        <p:nvSpPr>
          <p:cNvPr id="9" name="Text 6"/>
          <p:cNvSpPr/>
          <p:nvPr/>
        </p:nvSpPr>
        <p:spPr>
          <a:xfrm>
            <a:off x="8366760" y="2103120"/>
            <a:ext cx="310896" cy="310896"/>
          </a:xfrm>
          <a:prstGeom prst="rect">
            <a:avLst/>
          </a:prstGeom>
          <a:noFill/>
          <a:ln/>
        </p:spPr>
        <p:txBody>
          <a:bodyPr wrap="square" lIns="0" tIns="0" rIns="0" bIns="0" rtlCol="0" anchor="ctr"/>
          <a:lstStyle/>
          <a:p>
            <a:pPr marL="0" indent="0" algn="ctr">
              <a:buNone/>
            </a:pPr>
            <a:r>
              <a:rPr lang="en-US" sz="1000" b="1" dirty="0">
                <a:solidFill>
                  <a:srgbClr val="141B44"/>
                </a:solidFill>
                <a:latin typeface="Calibri" pitchFamily="34" charset="0"/>
                <a:ea typeface="Calibri" pitchFamily="34" charset="-122"/>
                <a:cs typeface="Calibri" pitchFamily="34" charset="-120"/>
              </a:rPr>
              <a:t>●</a:t>
            </a:r>
            <a:endParaRPr lang="en-US" sz="1000" dirty="0"/>
          </a:p>
        </p:txBody>
      </p:sp>
      <p:sp>
        <p:nvSpPr>
          <p:cNvPr id="10" name="Text 7"/>
          <p:cNvSpPr/>
          <p:nvPr/>
        </p:nvSpPr>
        <p:spPr>
          <a:xfrm>
            <a:off x="8823960" y="2066544"/>
            <a:ext cx="2743200"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38,576 applications</a:t>
            </a:r>
            <a:endParaRPr lang="en-US" sz="1200" dirty="0"/>
          </a:p>
        </p:txBody>
      </p:sp>
      <p:sp>
        <p:nvSpPr>
          <p:cNvPr id="11" name="Text 8"/>
          <p:cNvSpPr/>
          <p:nvPr/>
        </p:nvSpPr>
        <p:spPr>
          <a:xfrm>
            <a:off x="8823960" y="2322576"/>
            <a:ext cx="2743200" cy="292608"/>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MoM +6.9%</a:t>
            </a:r>
            <a:endParaRPr lang="en-US" sz="1000" dirty="0"/>
          </a:p>
        </p:txBody>
      </p:sp>
      <p:sp>
        <p:nvSpPr>
          <p:cNvPr id="12" name="Shape 9"/>
          <p:cNvSpPr/>
          <p:nvPr/>
        </p:nvSpPr>
        <p:spPr>
          <a:xfrm>
            <a:off x="8366760" y="2670048"/>
            <a:ext cx="310896" cy="310896"/>
          </a:xfrm>
          <a:prstGeom prst="ellipse">
            <a:avLst/>
          </a:prstGeom>
          <a:solidFill>
            <a:srgbClr val="C9A227"/>
          </a:solidFill>
          <a:ln/>
        </p:spPr>
      </p:sp>
      <p:sp>
        <p:nvSpPr>
          <p:cNvPr id="13" name="Text 10"/>
          <p:cNvSpPr/>
          <p:nvPr/>
        </p:nvSpPr>
        <p:spPr>
          <a:xfrm>
            <a:off x="8366760" y="2670048"/>
            <a:ext cx="310896" cy="310896"/>
          </a:xfrm>
          <a:prstGeom prst="rect">
            <a:avLst/>
          </a:prstGeom>
          <a:noFill/>
          <a:ln/>
        </p:spPr>
        <p:txBody>
          <a:bodyPr wrap="square" lIns="0" tIns="0" rIns="0" bIns="0" rtlCol="0" anchor="ctr"/>
          <a:lstStyle/>
          <a:p>
            <a:pPr marL="0" indent="0" algn="ctr">
              <a:buNone/>
            </a:pPr>
            <a:r>
              <a:rPr lang="en-US" sz="1000" b="1" dirty="0">
                <a:solidFill>
                  <a:srgbClr val="141B44"/>
                </a:solidFill>
                <a:latin typeface="Calibri" pitchFamily="34" charset="0"/>
                <a:ea typeface="Calibri" pitchFamily="34" charset="-122"/>
                <a:cs typeface="Calibri" pitchFamily="34" charset="-120"/>
              </a:rPr>
              <a:t>●</a:t>
            </a:r>
            <a:endParaRPr lang="en-US" sz="1000" dirty="0"/>
          </a:p>
        </p:txBody>
      </p:sp>
      <p:sp>
        <p:nvSpPr>
          <p:cNvPr id="14" name="Text 11"/>
          <p:cNvSpPr/>
          <p:nvPr/>
        </p:nvSpPr>
        <p:spPr>
          <a:xfrm>
            <a:off x="8823960" y="2633472"/>
            <a:ext cx="2743200"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$435.8M funded</a:t>
            </a:r>
            <a:endParaRPr lang="en-US" sz="1200" dirty="0"/>
          </a:p>
        </p:txBody>
      </p:sp>
      <p:sp>
        <p:nvSpPr>
          <p:cNvPr id="15" name="Text 12"/>
          <p:cNvSpPr/>
          <p:nvPr/>
        </p:nvSpPr>
        <p:spPr>
          <a:xfrm>
            <a:off x="8823960" y="2889504"/>
            <a:ext cx="2743200" cy="292608"/>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MoM +13.0%</a:t>
            </a:r>
            <a:endParaRPr lang="en-US" sz="1000" dirty="0"/>
          </a:p>
        </p:txBody>
      </p:sp>
      <p:sp>
        <p:nvSpPr>
          <p:cNvPr id="16" name="Shape 13"/>
          <p:cNvSpPr/>
          <p:nvPr/>
        </p:nvSpPr>
        <p:spPr>
          <a:xfrm>
            <a:off x="8366760" y="3236976"/>
            <a:ext cx="310896" cy="310896"/>
          </a:xfrm>
          <a:prstGeom prst="ellipse">
            <a:avLst/>
          </a:prstGeom>
          <a:solidFill>
            <a:srgbClr val="C9A227"/>
          </a:solidFill>
          <a:ln/>
        </p:spPr>
      </p:sp>
      <p:sp>
        <p:nvSpPr>
          <p:cNvPr id="17" name="Text 14"/>
          <p:cNvSpPr/>
          <p:nvPr/>
        </p:nvSpPr>
        <p:spPr>
          <a:xfrm>
            <a:off x="8366760" y="3236976"/>
            <a:ext cx="310896" cy="310896"/>
          </a:xfrm>
          <a:prstGeom prst="rect">
            <a:avLst/>
          </a:prstGeom>
          <a:noFill/>
          <a:ln/>
        </p:spPr>
        <p:txBody>
          <a:bodyPr wrap="square" lIns="0" tIns="0" rIns="0" bIns="0" rtlCol="0" anchor="ctr"/>
          <a:lstStyle/>
          <a:p>
            <a:pPr marL="0" indent="0" algn="ctr">
              <a:buNone/>
            </a:pPr>
            <a:r>
              <a:rPr lang="en-US" sz="1000" b="1" dirty="0">
                <a:solidFill>
                  <a:srgbClr val="141B44"/>
                </a:solidFill>
                <a:latin typeface="Calibri" pitchFamily="34" charset="0"/>
                <a:ea typeface="Calibri" pitchFamily="34" charset="-122"/>
                <a:cs typeface="Calibri" pitchFamily="34" charset="-120"/>
              </a:rPr>
              <a:t>●</a:t>
            </a:r>
            <a:endParaRPr lang="en-US" sz="1000" dirty="0"/>
          </a:p>
        </p:txBody>
      </p:sp>
      <p:sp>
        <p:nvSpPr>
          <p:cNvPr id="18" name="Text 15"/>
          <p:cNvSpPr/>
          <p:nvPr/>
        </p:nvSpPr>
        <p:spPr>
          <a:xfrm>
            <a:off x="8823960" y="3200400"/>
            <a:ext cx="2743200"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$473.1M received</a:t>
            </a:r>
            <a:endParaRPr lang="en-US" sz="1200" dirty="0"/>
          </a:p>
        </p:txBody>
      </p:sp>
      <p:sp>
        <p:nvSpPr>
          <p:cNvPr id="19" name="Text 16"/>
          <p:cNvSpPr/>
          <p:nvPr/>
        </p:nvSpPr>
        <p:spPr>
          <a:xfrm>
            <a:off x="8823960" y="3456432"/>
            <a:ext cx="2743200" cy="292608"/>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MoM +15.8%</a:t>
            </a:r>
            <a:endParaRPr lang="en-US" sz="1000" dirty="0"/>
          </a:p>
        </p:txBody>
      </p:sp>
      <p:sp>
        <p:nvSpPr>
          <p:cNvPr id="20" name="Shape 17"/>
          <p:cNvSpPr/>
          <p:nvPr/>
        </p:nvSpPr>
        <p:spPr>
          <a:xfrm>
            <a:off x="8366760" y="3803904"/>
            <a:ext cx="310896" cy="310896"/>
          </a:xfrm>
          <a:prstGeom prst="ellipse">
            <a:avLst/>
          </a:prstGeom>
          <a:solidFill>
            <a:srgbClr val="C9A227"/>
          </a:solidFill>
          <a:ln/>
        </p:spPr>
      </p:sp>
      <p:sp>
        <p:nvSpPr>
          <p:cNvPr id="21" name="Text 18"/>
          <p:cNvSpPr/>
          <p:nvPr/>
        </p:nvSpPr>
        <p:spPr>
          <a:xfrm>
            <a:off x="8366760" y="3803904"/>
            <a:ext cx="310896" cy="310896"/>
          </a:xfrm>
          <a:prstGeom prst="rect">
            <a:avLst/>
          </a:prstGeom>
          <a:noFill/>
          <a:ln/>
        </p:spPr>
        <p:txBody>
          <a:bodyPr wrap="square" lIns="0" tIns="0" rIns="0" bIns="0" rtlCol="0" anchor="ctr"/>
          <a:lstStyle/>
          <a:p>
            <a:pPr marL="0" indent="0" algn="ctr">
              <a:buNone/>
            </a:pPr>
            <a:r>
              <a:rPr lang="en-US" sz="1000" b="1" dirty="0">
                <a:solidFill>
                  <a:srgbClr val="141B44"/>
                </a:solidFill>
                <a:latin typeface="Calibri" pitchFamily="34" charset="0"/>
                <a:ea typeface="Calibri" pitchFamily="34" charset="-122"/>
                <a:cs typeface="Calibri" pitchFamily="34" charset="-120"/>
              </a:rPr>
              <a:t>●</a:t>
            </a:r>
            <a:endParaRPr lang="en-US" sz="1000" dirty="0"/>
          </a:p>
        </p:txBody>
      </p:sp>
      <p:sp>
        <p:nvSpPr>
          <p:cNvPr id="22" name="Text 19"/>
          <p:cNvSpPr/>
          <p:nvPr/>
        </p:nvSpPr>
        <p:spPr>
          <a:xfrm>
            <a:off x="8823960" y="3767328"/>
            <a:ext cx="2743200"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86.2% Good Loans</a:t>
            </a:r>
            <a:endParaRPr lang="en-US" sz="1200" dirty="0"/>
          </a:p>
        </p:txBody>
      </p:sp>
      <p:sp>
        <p:nvSpPr>
          <p:cNvPr id="23" name="Text 20"/>
          <p:cNvSpPr/>
          <p:nvPr/>
        </p:nvSpPr>
        <p:spPr>
          <a:xfrm>
            <a:off x="8823960" y="4023360"/>
            <a:ext cx="2743200" cy="292608"/>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vs 13.8% Charged Off</a:t>
            </a:r>
            <a:endParaRPr lang="en-US" sz="1000" dirty="0"/>
          </a:p>
        </p:txBody>
      </p:sp>
      <p:sp>
        <p:nvSpPr>
          <p:cNvPr id="24" name="Shape 21"/>
          <p:cNvSpPr/>
          <p:nvPr/>
        </p:nvSpPr>
        <p:spPr>
          <a:xfrm>
            <a:off x="8366760" y="4370832"/>
            <a:ext cx="310896" cy="310896"/>
          </a:xfrm>
          <a:prstGeom prst="ellipse">
            <a:avLst/>
          </a:prstGeom>
          <a:solidFill>
            <a:srgbClr val="C9A227"/>
          </a:solidFill>
          <a:ln/>
        </p:spPr>
      </p:sp>
      <p:sp>
        <p:nvSpPr>
          <p:cNvPr id="25" name="Text 22"/>
          <p:cNvSpPr/>
          <p:nvPr/>
        </p:nvSpPr>
        <p:spPr>
          <a:xfrm>
            <a:off x="8366760" y="4370832"/>
            <a:ext cx="310896" cy="310896"/>
          </a:xfrm>
          <a:prstGeom prst="rect">
            <a:avLst/>
          </a:prstGeom>
          <a:noFill/>
          <a:ln/>
        </p:spPr>
        <p:txBody>
          <a:bodyPr wrap="square" lIns="0" tIns="0" rIns="0" bIns="0" rtlCol="0" anchor="ctr"/>
          <a:lstStyle/>
          <a:p>
            <a:pPr marL="0" indent="0" algn="ctr">
              <a:buNone/>
            </a:pPr>
            <a:r>
              <a:rPr lang="en-US" sz="1000" b="1" dirty="0">
                <a:solidFill>
                  <a:srgbClr val="141B44"/>
                </a:solidFill>
                <a:latin typeface="Calibri" pitchFamily="34" charset="0"/>
                <a:ea typeface="Calibri" pitchFamily="34" charset="-122"/>
                <a:cs typeface="Calibri" pitchFamily="34" charset="-120"/>
              </a:rPr>
              <a:t>●</a:t>
            </a:r>
            <a:endParaRPr lang="en-US" sz="1000" dirty="0"/>
          </a:p>
        </p:txBody>
      </p:sp>
      <p:sp>
        <p:nvSpPr>
          <p:cNvPr id="26" name="Text 23"/>
          <p:cNvSpPr/>
          <p:nvPr/>
        </p:nvSpPr>
        <p:spPr>
          <a:xfrm>
            <a:off x="8823960" y="4334256"/>
            <a:ext cx="2743200"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Loan status grid</a:t>
            </a:r>
            <a:endParaRPr lang="en-US" sz="1200" dirty="0"/>
          </a:p>
        </p:txBody>
      </p:sp>
      <p:sp>
        <p:nvSpPr>
          <p:cNvPr id="27" name="Text 24"/>
          <p:cNvSpPr/>
          <p:nvPr/>
        </p:nvSpPr>
        <p:spPr>
          <a:xfrm>
            <a:off x="8823960" y="4590288"/>
            <a:ext cx="2743200" cy="292608"/>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Current · Charged Off · Fully Paid</a:t>
            </a:r>
            <a:endParaRPr lang="en-US" sz="1000" dirty="0"/>
          </a:p>
        </p:txBody>
      </p:sp>
      <p:sp>
        <p:nvSpPr>
          <p:cNvPr id="28" name="Text 25"/>
          <p:cNvSpPr/>
          <p:nvPr/>
        </p:nvSpPr>
        <p:spPr>
          <a:xfrm>
            <a:off x="8366760" y="4983480"/>
            <a:ext cx="3017520" cy="685800"/>
          </a:xfrm>
          <a:prstGeom prst="rect">
            <a:avLst/>
          </a:prstGeom>
          <a:noFill/>
          <a:ln/>
        </p:spPr>
        <p:txBody>
          <a:bodyPr wrap="square" rtlCol="0" anchor="ctr"/>
          <a:lstStyle/>
          <a:p>
            <a:pPr marL="0" indent="0">
              <a:lnSpc>
                <a:spcPct val="120000"/>
              </a:lnSpc>
              <a:buNone/>
            </a:pPr>
            <a:r>
              <a:rPr lang="en-US" sz="1000" i="1" dirty="0">
                <a:solidFill>
                  <a:srgbClr val="CADCFC"/>
                </a:solidFill>
                <a:latin typeface="Calibri" pitchFamily="34" charset="0"/>
                <a:ea typeface="Calibri" pitchFamily="34" charset="-122"/>
                <a:cs typeface="Calibri" pitchFamily="34" charset="-120"/>
              </a:rPr>
              <a:t>Filters for State, Grade, and Purpose let any stakeholder self-serve their own slice of the portfolio.</a:t>
            </a:r>
            <a:endParaRPr lang="en-US" sz="1000" dirty="0"/>
          </a:p>
        </p:txBody>
      </p:sp>
      <p:sp>
        <p:nvSpPr>
          <p:cNvPr id="29" name="Text 26"/>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5B6B8C"/>
                </a:solidFill>
                <a:latin typeface="Calibri" pitchFamily="34" charset="0"/>
                <a:ea typeface="Calibri" pitchFamily="34" charset="-122"/>
                <a:cs typeface="Calibri" pitchFamily="34" charset="-120"/>
              </a:rPr>
              <a:t>Bank Loan Report Analysis</a:t>
            </a:r>
            <a:endParaRPr lang="en-US" sz="900" dirty="0"/>
          </a:p>
        </p:txBody>
      </p:sp>
      <p:sp>
        <p:nvSpPr>
          <p:cNvPr id="30" name="Text 27"/>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5B6B8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SUMMARY DASHBOARD ANALYSIS</a:t>
            </a:r>
            <a:endParaRPr lang="en-US" sz="1200" dirty="0"/>
          </a:p>
        </p:txBody>
      </p:sp>
      <p:sp>
        <p:nvSpPr>
          <p:cNvPr id="3" name="Text 1"/>
          <p:cNvSpPr/>
          <p:nvPr/>
        </p:nvSpPr>
        <p:spPr>
          <a:xfrm>
            <a:off x="548640" y="713232"/>
            <a:ext cx="8686800" cy="548640"/>
          </a:xfrm>
          <a:prstGeom prst="rect">
            <a:avLst/>
          </a:prstGeom>
          <a:noFill/>
          <a:ln/>
        </p:spPr>
        <p:txBody>
          <a:bodyPr wrap="square" rtlCol="0" anchor="ctr"/>
          <a:lstStyle/>
          <a:p>
            <a:pPr marL="0" indent="0">
              <a:buNone/>
            </a:pPr>
            <a:r>
              <a:rPr lang="en-US" sz="2500" b="1" dirty="0">
                <a:solidFill>
                  <a:srgbClr val="1B2340"/>
                </a:solidFill>
                <a:latin typeface="Cambria" pitchFamily="34" charset="0"/>
                <a:ea typeface="Cambria" pitchFamily="34" charset="-122"/>
                <a:cs typeface="Cambria" pitchFamily="34" charset="-120"/>
              </a:rPr>
              <a:t>Portfolio health, one screen at a time</a:t>
            </a:r>
            <a:endParaRPr lang="en-US" sz="2500" dirty="0"/>
          </a:p>
        </p:txBody>
      </p:sp>
      <p:sp>
        <p:nvSpPr>
          <p:cNvPr id="4" name="Shape 2"/>
          <p:cNvSpPr/>
          <p:nvPr/>
        </p:nvSpPr>
        <p:spPr>
          <a:xfrm>
            <a:off x="548640" y="1463040"/>
            <a:ext cx="6537960" cy="4617720"/>
          </a:xfrm>
          <a:prstGeom prst="roundRect">
            <a:avLst>
              <a:gd name="adj" fmla="val 1188"/>
            </a:avLst>
          </a:prstGeom>
          <a:solidFill>
            <a:srgbClr val="FFFFFF"/>
          </a:solidFill>
          <a:ln w="9525">
            <a:solidFill>
              <a:srgbClr val="CADCFC"/>
            </a:solidFill>
            <a:prstDash val="solid"/>
          </a:ln>
        </p:spPr>
      </p:sp>
      <p:pic>
        <p:nvPicPr>
          <p:cNvPr id="5" name="Image 0" descr="/home/claude/pptx_build/dashboard_summary.png"/>
          <p:cNvPicPr>
            <a:picLocks noChangeAspect="1"/>
          </p:cNvPicPr>
          <p:nvPr/>
        </p:nvPicPr>
        <p:blipFill>
          <a:blip r:embed="rId3"/>
          <a:stretch>
            <a:fillRect/>
          </a:stretch>
        </p:blipFill>
        <p:spPr>
          <a:xfrm>
            <a:off x="658368" y="1572768"/>
            <a:ext cx="6318504" cy="4398264"/>
          </a:xfrm>
          <a:prstGeom prst="rect">
            <a:avLst/>
          </a:prstGeom>
        </p:spPr>
      </p:pic>
      <p:sp>
        <p:nvSpPr>
          <p:cNvPr id="6" name="Shape 3"/>
          <p:cNvSpPr/>
          <p:nvPr/>
        </p:nvSpPr>
        <p:spPr>
          <a:xfrm>
            <a:off x="7360920" y="1463040"/>
            <a:ext cx="4297680" cy="4617720"/>
          </a:xfrm>
          <a:prstGeom prst="roundRect">
            <a:avLst>
              <a:gd name="adj" fmla="val 1702"/>
            </a:avLst>
          </a:prstGeom>
          <a:solidFill>
            <a:srgbClr val="1E2761"/>
          </a:solidFill>
          <a:ln/>
        </p:spPr>
      </p:sp>
      <p:sp>
        <p:nvSpPr>
          <p:cNvPr id="7" name="Text 4"/>
          <p:cNvSpPr/>
          <p:nvPr/>
        </p:nvSpPr>
        <p:spPr>
          <a:xfrm>
            <a:off x="7635240" y="1645920"/>
            <a:ext cx="3749040" cy="320040"/>
          </a:xfrm>
          <a:prstGeom prst="rect">
            <a:avLst/>
          </a:prstGeom>
          <a:noFill/>
          <a:ln/>
        </p:spPr>
        <p:txBody>
          <a:bodyPr wrap="square" rtlCol="0" anchor="ctr"/>
          <a:lstStyle/>
          <a:p>
            <a:pPr marL="0" indent="0">
              <a:buNone/>
            </a:pPr>
            <a:r>
              <a:rPr lang="en-US" sz="1300" b="1" dirty="0">
                <a:solidFill>
                  <a:srgbClr val="C9A227"/>
                </a:solidFill>
                <a:latin typeface="Calibri" pitchFamily="34" charset="0"/>
                <a:ea typeface="Calibri" pitchFamily="34" charset="-122"/>
                <a:cs typeface="Calibri" pitchFamily="34" charset="-120"/>
              </a:rPr>
              <a:t>Good vs Bad Loan performance</a:t>
            </a:r>
            <a:endParaRPr lang="en-US" sz="1300" dirty="0"/>
          </a:p>
        </p:txBody>
      </p:sp>
      <p:sp>
        <p:nvSpPr>
          <p:cNvPr id="8" name="Text 5"/>
          <p:cNvSpPr/>
          <p:nvPr/>
        </p:nvSpPr>
        <p:spPr>
          <a:xfrm>
            <a:off x="7635240" y="2103120"/>
            <a:ext cx="374904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Good Loans</a:t>
            </a:r>
            <a:endParaRPr lang="en-US" sz="1200" dirty="0"/>
          </a:p>
        </p:txBody>
      </p:sp>
      <p:sp>
        <p:nvSpPr>
          <p:cNvPr id="9" name="Text 6"/>
          <p:cNvSpPr/>
          <p:nvPr/>
        </p:nvSpPr>
        <p:spPr>
          <a:xfrm>
            <a:off x="7635240" y="2377440"/>
            <a:ext cx="3749040" cy="256032"/>
          </a:xfrm>
          <a:prstGeom prst="rect">
            <a:avLst/>
          </a:prstGeom>
          <a:noFill/>
          <a:ln/>
        </p:spPr>
        <p:txBody>
          <a:bodyPr wrap="square" rtlCol="0" anchor="ctr"/>
          <a:lstStyle/>
          <a:p>
            <a:pPr marL="0" indent="0">
              <a:buNone/>
            </a:pPr>
            <a:r>
              <a:rPr lang="en-US" sz="1050" dirty="0">
                <a:solidFill>
                  <a:srgbClr val="C9A227"/>
                </a:solidFill>
                <a:latin typeface="Calibri" pitchFamily="34" charset="0"/>
                <a:ea typeface="Calibri" pitchFamily="34" charset="-122"/>
                <a:cs typeface="Calibri" pitchFamily="34" charset="-120"/>
              </a:rPr>
              <a:t>33,243 apps · 86.18%</a:t>
            </a:r>
            <a:endParaRPr lang="en-US" sz="1050" dirty="0"/>
          </a:p>
        </p:txBody>
      </p:sp>
      <p:sp>
        <p:nvSpPr>
          <p:cNvPr id="10" name="Text 7"/>
          <p:cNvSpPr/>
          <p:nvPr/>
        </p:nvSpPr>
        <p:spPr>
          <a:xfrm>
            <a:off x="7635240" y="2633472"/>
            <a:ext cx="3749040" cy="292608"/>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Funded $370.2M · Received $435.8M</a:t>
            </a:r>
            <a:endParaRPr lang="en-US" sz="1000" dirty="0"/>
          </a:p>
        </p:txBody>
      </p:sp>
      <p:sp>
        <p:nvSpPr>
          <p:cNvPr id="11" name="Text 8"/>
          <p:cNvSpPr/>
          <p:nvPr/>
        </p:nvSpPr>
        <p:spPr>
          <a:xfrm>
            <a:off x="7635240" y="3017520"/>
            <a:ext cx="374904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Bad Loans (Charged Off)</a:t>
            </a:r>
            <a:endParaRPr lang="en-US" sz="1200" dirty="0"/>
          </a:p>
        </p:txBody>
      </p:sp>
      <p:sp>
        <p:nvSpPr>
          <p:cNvPr id="12" name="Text 9"/>
          <p:cNvSpPr/>
          <p:nvPr/>
        </p:nvSpPr>
        <p:spPr>
          <a:xfrm>
            <a:off x="7635240" y="3291840"/>
            <a:ext cx="3749040" cy="256032"/>
          </a:xfrm>
          <a:prstGeom prst="rect">
            <a:avLst/>
          </a:prstGeom>
          <a:noFill/>
          <a:ln/>
        </p:spPr>
        <p:txBody>
          <a:bodyPr wrap="square" rtlCol="0" anchor="ctr"/>
          <a:lstStyle/>
          <a:p>
            <a:pPr marL="0" indent="0">
              <a:buNone/>
            </a:pPr>
            <a:r>
              <a:rPr lang="en-US" sz="1050" dirty="0">
                <a:solidFill>
                  <a:srgbClr val="C9A227"/>
                </a:solidFill>
                <a:latin typeface="Calibri" pitchFamily="34" charset="0"/>
                <a:ea typeface="Calibri" pitchFamily="34" charset="-122"/>
                <a:cs typeface="Calibri" pitchFamily="34" charset="-120"/>
              </a:rPr>
              <a:t>5,333 apps · 13.82%</a:t>
            </a:r>
            <a:endParaRPr lang="en-US" sz="1050" dirty="0"/>
          </a:p>
        </p:txBody>
      </p:sp>
      <p:sp>
        <p:nvSpPr>
          <p:cNvPr id="13" name="Text 10"/>
          <p:cNvSpPr/>
          <p:nvPr/>
        </p:nvSpPr>
        <p:spPr>
          <a:xfrm>
            <a:off x="7635240" y="3547872"/>
            <a:ext cx="3749040" cy="292608"/>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Funded $65.5M · Received only $37.3M</a:t>
            </a:r>
            <a:endParaRPr lang="en-US" sz="1000" dirty="0"/>
          </a:p>
        </p:txBody>
      </p:sp>
      <p:sp>
        <p:nvSpPr>
          <p:cNvPr id="14" name="Shape 11"/>
          <p:cNvSpPr/>
          <p:nvPr/>
        </p:nvSpPr>
        <p:spPr>
          <a:xfrm>
            <a:off x="7635240" y="3977640"/>
            <a:ext cx="3749040" cy="0"/>
          </a:xfrm>
          <a:prstGeom prst="line">
            <a:avLst/>
          </a:prstGeom>
          <a:noFill/>
          <a:ln w="6350">
            <a:solidFill>
              <a:srgbClr val="CADCFC">
                <a:alpha val="60000"/>
              </a:srgbClr>
            </a:solidFill>
            <a:prstDash val="solid"/>
          </a:ln>
        </p:spPr>
      </p:sp>
      <p:sp>
        <p:nvSpPr>
          <p:cNvPr id="15" name="Text 12"/>
          <p:cNvSpPr/>
          <p:nvPr/>
        </p:nvSpPr>
        <p:spPr>
          <a:xfrm>
            <a:off x="7635240" y="4114800"/>
            <a:ext cx="3749040" cy="292608"/>
          </a:xfrm>
          <a:prstGeom prst="rect">
            <a:avLst/>
          </a:prstGeom>
          <a:noFill/>
          <a:ln/>
        </p:spPr>
        <p:txBody>
          <a:bodyPr wrap="square" rtlCol="0" anchor="ctr"/>
          <a:lstStyle/>
          <a:p>
            <a:pPr marL="0" indent="0">
              <a:buNone/>
            </a:pPr>
            <a:r>
              <a:rPr lang="en-US" sz="1200" b="1" dirty="0">
                <a:solidFill>
                  <a:srgbClr val="C9A227"/>
                </a:solidFill>
                <a:latin typeface="Calibri" pitchFamily="34" charset="0"/>
                <a:ea typeface="Calibri" pitchFamily="34" charset="-122"/>
                <a:cs typeface="Calibri" pitchFamily="34" charset="-120"/>
              </a:rPr>
              <a:t>Loan status distribution</a:t>
            </a:r>
            <a:endParaRPr lang="en-US" sz="1200" dirty="0"/>
          </a:p>
        </p:txBody>
      </p:sp>
      <p:sp>
        <p:nvSpPr>
          <p:cNvPr id="16" name="Text 13"/>
          <p:cNvSpPr/>
          <p:nvPr/>
        </p:nvSpPr>
        <p:spPr>
          <a:xfrm>
            <a:off x="7635240" y="4462272"/>
            <a:ext cx="3749040" cy="27432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  Fully Paid — 32,145 loans</a:t>
            </a:r>
            <a:endParaRPr lang="en-US" sz="1050" dirty="0"/>
          </a:p>
        </p:txBody>
      </p:sp>
      <p:sp>
        <p:nvSpPr>
          <p:cNvPr id="17" name="Text 14"/>
          <p:cNvSpPr/>
          <p:nvPr/>
        </p:nvSpPr>
        <p:spPr>
          <a:xfrm>
            <a:off x="7635240" y="4754880"/>
            <a:ext cx="3749040" cy="27432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  Charged Off — 5,333 loans</a:t>
            </a:r>
            <a:endParaRPr lang="en-US" sz="1050" dirty="0"/>
          </a:p>
        </p:txBody>
      </p:sp>
      <p:sp>
        <p:nvSpPr>
          <p:cNvPr id="18" name="Text 15"/>
          <p:cNvSpPr/>
          <p:nvPr/>
        </p:nvSpPr>
        <p:spPr>
          <a:xfrm>
            <a:off x="7635240" y="5047488"/>
            <a:ext cx="3749040" cy="27432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  Current — 1,098 loans</a:t>
            </a:r>
            <a:endParaRPr lang="en-US" sz="1050" dirty="0"/>
          </a:p>
        </p:txBody>
      </p:sp>
      <p:sp>
        <p:nvSpPr>
          <p:cNvPr id="19" name="Text 16"/>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5B6B8C"/>
                </a:solidFill>
                <a:latin typeface="Calibri" pitchFamily="34" charset="0"/>
                <a:ea typeface="Calibri" pitchFamily="34" charset="-122"/>
                <a:cs typeface="Calibri" pitchFamily="34" charset="-120"/>
              </a:rPr>
              <a:t>Bank Loan Report Analysis</a:t>
            </a:r>
            <a:endParaRPr lang="en-US" sz="900" dirty="0"/>
          </a:p>
        </p:txBody>
      </p:sp>
      <p:sp>
        <p:nvSpPr>
          <p:cNvPr id="20" name="Text 17"/>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5B6B8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3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LOAN DETAILS DASHBOARD</a:t>
            </a:r>
            <a:endParaRPr lang="en-US" sz="1200" dirty="0"/>
          </a:p>
        </p:txBody>
      </p:sp>
      <p:sp>
        <p:nvSpPr>
          <p:cNvPr id="3" name="Text 1"/>
          <p:cNvSpPr/>
          <p:nvPr/>
        </p:nvSpPr>
        <p:spPr>
          <a:xfrm>
            <a:off x="548640" y="713232"/>
            <a:ext cx="8686800" cy="548640"/>
          </a:xfrm>
          <a:prstGeom prst="rect">
            <a:avLst/>
          </a:prstGeom>
          <a:noFill/>
          <a:ln/>
        </p:spPr>
        <p:txBody>
          <a:bodyPr wrap="square" rtlCol="0" anchor="ctr"/>
          <a:lstStyle/>
          <a:p>
            <a:pPr marL="0" indent="0">
              <a:buNone/>
            </a:pPr>
            <a:r>
              <a:rPr lang="en-US" sz="2500" b="1" dirty="0">
                <a:solidFill>
                  <a:srgbClr val="1B2340"/>
                </a:solidFill>
                <a:latin typeface="Cambria" pitchFamily="34" charset="0"/>
                <a:ea typeface="Cambria" pitchFamily="34" charset="-122"/>
                <a:cs typeface="Cambria" pitchFamily="34" charset="-120"/>
              </a:rPr>
              <a:t>Loan-level detail for operational drill-down</a:t>
            </a:r>
            <a:endParaRPr lang="en-US" sz="2500" dirty="0"/>
          </a:p>
        </p:txBody>
      </p:sp>
      <p:sp>
        <p:nvSpPr>
          <p:cNvPr id="4" name="Shape 2"/>
          <p:cNvSpPr/>
          <p:nvPr/>
        </p:nvSpPr>
        <p:spPr>
          <a:xfrm>
            <a:off x="548640" y="1463040"/>
            <a:ext cx="7223760" cy="4617720"/>
          </a:xfrm>
          <a:prstGeom prst="roundRect">
            <a:avLst>
              <a:gd name="adj" fmla="val 1188"/>
            </a:avLst>
          </a:prstGeom>
          <a:solidFill>
            <a:srgbClr val="FFFFFF"/>
          </a:solidFill>
          <a:ln w="9525">
            <a:solidFill>
              <a:srgbClr val="CADCFC"/>
            </a:solidFill>
            <a:prstDash val="solid"/>
          </a:ln>
        </p:spPr>
      </p:sp>
      <p:pic>
        <p:nvPicPr>
          <p:cNvPr id="5" name="Image 0" descr="/home/claude/pptx_build/dashboard_details.png"/>
          <p:cNvPicPr>
            <a:picLocks noChangeAspect="1"/>
          </p:cNvPicPr>
          <p:nvPr/>
        </p:nvPicPr>
        <p:blipFill>
          <a:blip r:embed="rId3"/>
          <a:stretch>
            <a:fillRect/>
          </a:stretch>
        </p:blipFill>
        <p:spPr>
          <a:xfrm>
            <a:off x="658368" y="1572768"/>
            <a:ext cx="7004304" cy="4398264"/>
          </a:xfrm>
          <a:prstGeom prst="rect">
            <a:avLst/>
          </a:prstGeom>
        </p:spPr>
      </p:pic>
      <p:sp>
        <p:nvSpPr>
          <p:cNvPr id="6" name="Shape 3"/>
          <p:cNvSpPr/>
          <p:nvPr/>
        </p:nvSpPr>
        <p:spPr>
          <a:xfrm>
            <a:off x="8092440" y="1463040"/>
            <a:ext cx="3566160" cy="4617720"/>
          </a:xfrm>
          <a:prstGeom prst="roundRect">
            <a:avLst>
              <a:gd name="adj" fmla="val 2051"/>
            </a:avLst>
          </a:prstGeom>
          <a:solidFill>
            <a:srgbClr val="FFFFFF"/>
          </a:solidFill>
          <a:ln/>
          <a:effectLst>
            <a:outerShdw blurRad="76200" dist="25400" dir="5400000" algn="bl" rotWithShape="0">
              <a:srgbClr val="1B2340">
                <a:alpha val="12000"/>
              </a:srgbClr>
            </a:outerShdw>
          </a:effectLst>
        </p:spPr>
      </p:sp>
      <p:sp>
        <p:nvSpPr>
          <p:cNvPr id="7" name="Text 4"/>
          <p:cNvSpPr/>
          <p:nvPr/>
        </p:nvSpPr>
        <p:spPr>
          <a:xfrm>
            <a:off x="8366760" y="1691640"/>
            <a:ext cx="301752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What you can drill into</a:t>
            </a:r>
            <a:endParaRPr lang="en-US" sz="1300" dirty="0"/>
          </a:p>
        </p:txBody>
      </p:sp>
      <p:sp>
        <p:nvSpPr>
          <p:cNvPr id="8" name="Shape 5"/>
          <p:cNvSpPr/>
          <p:nvPr/>
        </p:nvSpPr>
        <p:spPr>
          <a:xfrm>
            <a:off x="8366760" y="2103120"/>
            <a:ext cx="256032" cy="256032"/>
          </a:xfrm>
          <a:prstGeom prst="ellipse">
            <a:avLst/>
          </a:prstGeom>
          <a:solidFill>
            <a:srgbClr val="C9A227"/>
          </a:solidFill>
          <a:ln/>
        </p:spPr>
      </p:sp>
      <p:sp>
        <p:nvSpPr>
          <p:cNvPr id="9" name="Text 6"/>
          <p:cNvSpPr/>
          <p:nvPr/>
        </p:nvSpPr>
        <p:spPr>
          <a:xfrm>
            <a:off x="8366760" y="2103120"/>
            <a:ext cx="256032" cy="256032"/>
          </a:xfrm>
          <a:prstGeom prst="rect">
            <a:avLst/>
          </a:prstGeom>
          <a:noFill/>
          <a:ln/>
        </p:spPr>
        <p:txBody>
          <a:bodyPr wrap="square" lIns="0" tIns="0" rIns="0" bIns="0" rtlCol="0" anchor="ctr"/>
          <a:lstStyle/>
          <a:p>
            <a:pPr marL="0" indent="0" algn="ctr">
              <a:buNone/>
            </a:pPr>
            <a:r>
              <a:rPr lang="en-US" sz="900" b="1" dirty="0">
                <a:solidFill>
                  <a:srgbClr val="141B44"/>
                </a:solidFill>
                <a:latin typeface="Calibri" pitchFamily="34" charset="0"/>
                <a:ea typeface="Calibri" pitchFamily="34" charset="-122"/>
                <a:cs typeface="Calibri" pitchFamily="34" charset="-120"/>
              </a:rPr>
              <a:t>✓</a:t>
            </a:r>
            <a:endParaRPr lang="en-US" sz="900" dirty="0"/>
          </a:p>
        </p:txBody>
      </p:sp>
      <p:sp>
        <p:nvSpPr>
          <p:cNvPr id="10" name="Text 7"/>
          <p:cNvSpPr/>
          <p:nvPr/>
        </p:nvSpPr>
        <p:spPr>
          <a:xfrm>
            <a:off x="8732520" y="2075688"/>
            <a:ext cx="2816352" cy="292608"/>
          </a:xfrm>
          <a:prstGeom prst="rect">
            <a:avLst/>
          </a:prstGeom>
          <a:noFill/>
          <a:ln/>
        </p:spPr>
        <p:txBody>
          <a:bodyPr wrap="square" rtlCol="0" anchor="ctr"/>
          <a:lstStyle/>
          <a:p>
            <a:pPr marL="0" indent="0">
              <a:buNone/>
            </a:pPr>
            <a:r>
              <a:rPr lang="en-US" sz="1000" dirty="0">
                <a:solidFill>
                  <a:srgbClr val="1B2340"/>
                </a:solidFill>
                <a:latin typeface="Calibri" pitchFamily="34" charset="0"/>
                <a:ea typeface="Calibri" pitchFamily="34" charset="-122"/>
                <a:cs typeface="Calibri" pitchFamily="34" charset="-120"/>
              </a:rPr>
              <a:t>Loan ID &amp; customer info</a:t>
            </a:r>
            <a:endParaRPr lang="en-US" sz="1000" dirty="0"/>
          </a:p>
        </p:txBody>
      </p:sp>
      <p:sp>
        <p:nvSpPr>
          <p:cNvPr id="11" name="Shape 8"/>
          <p:cNvSpPr/>
          <p:nvPr/>
        </p:nvSpPr>
        <p:spPr>
          <a:xfrm>
            <a:off x="8366760" y="2450592"/>
            <a:ext cx="256032" cy="256032"/>
          </a:xfrm>
          <a:prstGeom prst="ellipse">
            <a:avLst/>
          </a:prstGeom>
          <a:solidFill>
            <a:srgbClr val="C9A227"/>
          </a:solidFill>
          <a:ln/>
        </p:spPr>
      </p:sp>
      <p:sp>
        <p:nvSpPr>
          <p:cNvPr id="12" name="Text 9"/>
          <p:cNvSpPr/>
          <p:nvPr/>
        </p:nvSpPr>
        <p:spPr>
          <a:xfrm>
            <a:off x="8366760" y="2450592"/>
            <a:ext cx="256032" cy="256032"/>
          </a:xfrm>
          <a:prstGeom prst="rect">
            <a:avLst/>
          </a:prstGeom>
          <a:noFill/>
          <a:ln/>
        </p:spPr>
        <p:txBody>
          <a:bodyPr wrap="square" lIns="0" tIns="0" rIns="0" bIns="0" rtlCol="0" anchor="ctr"/>
          <a:lstStyle/>
          <a:p>
            <a:pPr marL="0" indent="0" algn="ctr">
              <a:buNone/>
            </a:pPr>
            <a:r>
              <a:rPr lang="en-US" sz="900" b="1" dirty="0">
                <a:solidFill>
                  <a:srgbClr val="141B44"/>
                </a:solidFill>
                <a:latin typeface="Calibri" pitchFamily="34" charset="0"/>
                <a:ea typeface="Calibri" pitchFamily="34" charset="-122"/>
                <a:cs typeface="Calibri" pitchFamily="34" charset="-120"/>
              </a:rPr>
              <a:t>✓</a:t>
            </a:r>
            <a:endParaRPr lang="en-US" sz="900" dirty="0"/>
          </a:p>
        </p:txBody>
      </p:sp>
      <p:sp>
        <p:nvSpPr>
          <p:cNvPr id="13" name="Text 10"/>
          <p:cNvSpPr/>
          <p:nvPr/>
        </p:nvSpPr>
        <p:spPr>
          <a:xfrm>
            <a:off x="8732520" y="2423160"/>
            <a:ext cx="2816352" cy="292608"/>
          </a:xfrm>
          <a:prstGeom prst="rect">
            <a:avLst/>
          </a:prstGeom>
          <a:noFill/>
          <a:ln/>
        </p:spPr>
        <p:txBody>
          <a:bodyPr wrap="square" rtlCol="0" anchor="ctr"/>
          <a:lstStyle/>
          <a:p>
            <a:pPr marL="0" indent="0">
              <a:buNone/>
            </a:pPr>
            <a:r>
              <a:rPr lang="en-US" sz="1000" dirty="0">
                <a:solidFill>
                  <a:srgbClr val="1B2340"/>
                </a:solidFill>
                <a:latin typeface="Calibri" pitchFamily="34" charset="0"/>
                <a:ea typeface="Calibri" pitchFamily="34" charset="-122"/>
                <a:cs typeface="Calibri" pitchFamily="34" charset="-120"/>
              </a:rPr>
              <a:t>Loan status per record</a:t>
            </a:r>
            <a:endParaRPr lang="en-US" sz="1000" dirty="0"/>
          </a:p>
        </p:txBody>
      </p:sp>
      <p:sp>
        <p:nvSpPr>
          <p:cNvPr id="14" name="Shape 11"/>
          <p:cNvSpPr/>
          <p:nvPr/>
        </p:nvSpPr>
        <p:spPr>
          <a:xfrm>
            <a:off x="8366760" y="2798064"/>
            <a:ext cx="256032" cy="256032"/>
          </a:xfrm>
          <a:prstGeom prst="ellipse">
            <a:avLst/>
          </a:prstGeom>
          <a:solidFill>
            <a:srgbClr val="C9A227"/>
          </a:solidFill>
          <a:ln/>
        </p:spPr>
      </p:sp>
      <p:sp>
        <p:nvSpPr>
          <p:cNvPr id="15" name="Text 12"/>
          <p:cNvSpPr/>
          <p:nvPr/>
        </p:nvSpPr>
        <p:spPr>
          <a:xfrm>
            <a:off x="8366760" y="2798064"/>
            <a:ext cx="256032" cy="256032"/>
          </a:xfrm>
          <a:prstGeom prst="rect">
            <a:avLst/>
          </a:prstGeom>
          <a:noFill/>
          <a:ln/>
        </p:spPr>
        <p:txBody>
          <a:bodyPr wrap="square" lIns="0" tIns="0" rIns="0" bIns="0" rtlCol="0" anchor="ctr"/>
          <a:lstStyle/>
          <a:p>
            <a:pPr marL="0" indent="0" algn="ctr">
              <a:buNone/>
            </a:pPr>
            <a:r>
              <a:rPr lang="en-US" sz="900" b="1" dirty="0">
                <a:solidFill>
                  <a:srgbClr val="141B44"/>
                </a:solidFill>
                <a:latin typeface="Calibri" pitchFamily="34" charset="0"/>
                <a:ea typeface="Calibri" pitchFamily="34" charset="-122"/>
                <a:cs typeface="Calibri" pitchFamily="34" charset="-120"/>
              </a:rPr>
              <a:t>✓</a:t>
            </a:r>
            <a:endParaRPr lang="en-US" sz="900" dirty="0"/>
          </a:p>
        </p:txBody>
      </p:sp>
      <p:sp>
        <p:nvSpPr>
          <p:cNvPr id="16" name="Text 13"/>
          <p:cNvSpPr/>
          <p:nvPr/>
        </p:nvSpPr>
        <p:spPr>
          <a:xfrm>
            <a:off x="8732520" y="2770632"/>
            <a:ext cx="2816352" cy="292608"/>
          </a:xfrm>
          <a:prstGeom prst="rect">
            <a:avLst/>
          </a:prstGeom>
          <a:noFill/>
          <a:ln/>
        </p:spPr>
        <p:txBody>
          <a:bodyPr wrap="square" rtlCol="0" anchor="ctr"/>
          <a:lstStyle/>
          <a:p>
            <a:pPr marL="0" indent="0">
              <a:buNone/>
            </a:pPr>
            <a:r>
              <a:rPr lang="en-US" sz="1000" dirty="0">
                <a:solidFill>
                  <a:srgbClr val="1B2340"/>
                </a:solidFill>
                <a:latin typeface="Calibri" pitchFamily="34" charset="0"/>
                <a:ea typeface="Calibri" pitchFamily="34" charset="-122"/>
                <a:cs typeface="Calibri" pitchFamily="34" charset="-120"/>
              </a:rPr>
              <a:t>Funded amount &amp; amount received</a:t>
            </a:r>
            <a:endParaRPr lang="en-US" sz="1000" dirty="0"/>
          </a:p>
        </p:txBody>
      </p:sp>
      <p:sp>
        <p:nvSpPr>
          <p:cNvPr id="17" name="Shape 14"/>
          <p:cNvSpPr/>
          <p:nvPr/>
        </p:nvSpPr>
        <p:spPr>
          <a:xfrm>
            <a:off x="8366760" y="3145536"/>
            <a:ext cx="256032" cy="256032"/>
          </a:xfrm>
          <a:prstGeom prst="ellipse">
            <a:avLst/>
          </a:prstGeom>
          <a:solidFill>
            <a:srgbClr val="C9A227"/>
          </a:solidFill>
          <a:ln/>
        </p:spPr>
      </p:sp>
      <p:sp>
        <p:nvSpPr>
          <p:cNvPr id="18" name="Text 15"/>
          <p:cNvSpPr/>
          <p:nvPr/>
        </p:nvSpPr>
        <p:spPr>
          <a:xfrm>
            <a:off x="8366760" y="3145536"/>
            <a:ext cx="256032" cy="256032"/>
          </a:xfrm>
          <a:prstGeom prst="rect">
            <a:avLst/>
          </a:prstGeom>
          <a:noFill/>
          <a:ln/>
        </p:spPr>
        <p:txBody>
          <a:bodyPr wrap="square" lIns="0" tIns="0" rIns="0" bIns="0" rtlCol="0" anchor="ctr"/>
          <a:lstStyle/>
          <a:p>
            <a:pPr marL="0" indent="0" algn="ctr">
              <a:buNone/>
            </a:pPr>
            <a:r>
              <a:rPr lang="en-US" sz="900" b="1" dirty="0">
                <a:solidFill>
                  <a:srgbClr val="141B44"/>
                </a:solidFill>
                <a:latin typeface="Calibri" pitchFamily="34" charset="0"/>
                <a:ea typeface="Calibri" pitchFamily="34" charset="-122"/>
                <a:cs typeface="Calibri" pitchFamily="34" charset="-120"/>
              </a:rPr>
              <a:t>✓</a:t>
            </a:r>
            <a:endParaRPr lang="en-US" sz="900" dirty="0"/>
          </a:p>
        </p:txBody>
      </p:sp>
      <p:sp>
        <p:nvSpPr>
          <p:cNvPr id="19" name="Text 16"/>
          <p:cNvSpPr/>
          <p:nvPr/>
        </p:nvSpPr>
        <p:spPr>
          <a:xfrm>
            <a:off x="8732520" y="3118104"/>
            <a:ext cx="2816352" cy="292608"/>
          </a:xfrm>
          <a:prstGeom prst="rect">
            <a:avLst/>
          </a:prstGeom>
          <a:noFill/>
          <a:ln/>
        </p:spPr>
        <p:txBody>
          <a:bodyPr wrap="square" rtlCol="0" anchor="ctr"/>
          <a:lstStyle/>
          <a:p>
            <a:pPr marL="0" indent="0">
              <a:buNone/>
            </a:pPr>
            <a:r>
              <a:rPr lang="en-US" sz="1000" dirty="0">
                <a:solidFill>
                  <a:srgbClr val="1B2340"/>
                </a:solidFill>
                <a:latin typeface="Calibri" pitchFamily="34" charset="0"/>
                <a:ea typeface="Calibri" pitchFamily="34" charset="-122"/>
                <a:cs typeface="Calibri" pitchFamily="34" charset="-120"/>
              </a:rPr>
              <a:t>Interest rate</a:t>
            </a:r>
            <a:endParaRPr lang="en-US" sz="1000" dirty="0"/>
          </a:p>
        </p:txBody>
      </p:sp>
      <p:sp>
        <p:nvSpPr>
          <p:cNvPr id="20" name="Shape 17"/>
          <p:cNvSpPr/>
          <p:nvPr/>
        </p:nvSpPr>
        <p:spPr>
          <a:xfrm>
            <a:off x="8366760" y="3493008"/>
            <a:ext cx="256032" cy="256032"/>
          </a:xfrm>
          <a:prstGeom prst="ellipse">
            <a:avLst/>
          </a:prstGeom>
          <a:solidFill>
            <a:srgbClr val="C9A227"/>
          </a:solidFill>
          <a:ln/>
        </p:spPr>
      </p:sp>
      <p:sp>
        <p:nvSpPr>
          <p:cNvPr id="21" name="Text 18"/>
          <p:cNvSpPr/>
          <p:nvPr/>
        </p:nvSpPr>
        <p:spPr>
          <a:xfrm>
            <a:off x="8366760" y="3493008"/>
            <a:ext cx="256032" cy="256032"/>
          </a:xfrm>
          <a:prstGeom prst="rect">
            <a:avLst/>
          </a:prstGeom>
          <a:noFill/>
          <a:ln/>
        </p:spPr>
        <p:txBody>
          <a:bodyPr wrap="square" lIns="0" tIns="0" rIns="0" bIns="0" rtlCol="0" anchor="ctr"/>
          <a:lstStyle/>
          <a:p>
            <a:pPr marL="0" indent="0" algn="ctr">
              <a:buNone/>
            </a:pPr>
            <a:r>
              <a:rPr lang="en-US" sz="900" b="1" dirty="0">
                <a:solidFill>
                  <a:srgbClr val="141B44"/>
                </a:solidFill>
                <a:latin typeface="Calibri" pitchFamily="34" charset="0"/>
                <a:ea typeface="Calibri" pitchFamily="34" charset="-122"/>
                <a:cs typeface="Calibri" pitchFamily="34" charset="-120"/>
              </a:rPr>
              <a:t>✓</a:t>
            </a:r>
            <a:endParaRPr lang="en-US" sz="900" dirty="0"/>
          </a:p>
        </p:txBody>
      </p:sp>
      <p:sp>
        <p:nvSpPr>
          <p:cNvPr id="22" name="Text 19"/>
          <p:cNvSpPr/>
          <p:nvPr/>
        </p:nvSpPr>
        <p:spPr>
          <a:xfrm>
            <a:off x="8732520" y="3465576"/>
            <a:ext cx="2816352" cy="292608"/>
          </a:xfrm>
          <a:prstGeom prst="rect">
            <a:avLst/>
          </a:prstGeom>
          <a:noFill/>
          <a:ln/>
        </p:spPr>
        <p:txBody>
          <a:bodyPr wrap="square" rtlCol="0" anchor="ctr"/>
          <a:lstStyle/>
          <a:p>
            <a:pPr marL="0" indent="0">
              <a:buNone/>
            </a:pPr>
            <a:r>
              <a:rPr lang="en-US" sz="1000" dirty="0">
                <a:solidFill>
                  <a:srgbClr val="1B2340"/>
                </a:solidFill>
                <a:latin typeface="Calibri" pitchFamily="34" charset="0"/>
                <a:ea typeface="Calibri" pitchFamily="34" charset="-122"/>
                <a:cs typeface="Calibri" pitchFamily="34" charset="-120"/>
              </a:rPr>
              <a:t>Employment length</a:t>
            </a:r>
            <a:endParaRPr lang="en-US" sz="1000" dirty="0"/>
          </a:p>
        </p:txBody>
      </p:sp>
      <p:sp>
        <p:nvSpPr>
          <p:cNvPr id="23" name="Shape 20"/>
          <p:cNvSpPr/>
          <p:nvPr/>
        </p:nvSpPr>
        <p:spPr>
          <a:xfrm>
            <a:off x="8366760" y="3840480"/>
            <a:ext cx="256032" cy="256032"/>
          </a:xfrm>
          <a:prstGeom prst="ellipse">
            <a:avLst/>
          </a:prstGeom>
          <a:solidFill>
            <a:srgbClr val="C9A227"/>
          </a:solidFill>
          <a:ln/>
        </p:spPr>
      </p:sp>
      <p:sp>
        <p:nvSpPr>
          <p:cNvPr id="24" name="Text 21"/>
          <p:cNvSpPr/>
          <p:nvPr/>
        </p:nvSpPr>
        <p:spPr>
          <a:xfrm>
            <a:off x="8366760" y="3840480"/>
            <a:ext cx="256032" cy="256032"/>
          </a:xfrm>
          <a:prstGeom prst="rect">
            <a:avLst/>
          </a:prstGeom>
          <a:noFill/>
          <a:ln/>
        </p:spPr>
        <p:txBody>
          <a:bodyPr wrap="square" lIns="0" tIns="0" rIns="0" bIns="0" rtlCol="0" anchor="ctr"/>
          <a:lstStyle/>
          <a:p>
            <a:pPr marL="0" indent="0" algn="ctr">
              <a:buNone/>
            </a:pPr>
            <a:r>
              <a:rPr lang="en-US" sz="900" b="1" dirty="0">
                <a:solidFill>
                  <a:srgbClr val="141B44"/>
                </a:solidFill>
                <a:latin typeface="Calibri" pitchFamily="34" charset="0"/>
                <a:ea typeface="Calibri" pitchFamily="34" charset="-122"/>
                <a:cs typeface="Calibri" pitchFamily="34" charset="-120"/>
              </a:rPr>
              <a:t>✓</a:t>
            </a:r>
            <a:endParaRPr lang="en-US" sz="900" dirty="0"/>
          </a:p>
        </p:txBody>
      </p:sp>
      <p:sp>
        <p:nvSpPr>
          <p:cNvPr id="25" name="Text 22"/>
          <p:cNvSpPr/>
          <p:nvPr/>
        </p:nvSpPr>
        <p:spPr>
          <a:xfrm>
            <a:off x="8732520" y="3813048"/>
            <a:ext cx="2816352" cy="292608"/>
          </a:xfrm>
          <a:prstGeom prst="rect">
            <a:avLst/>
          </a:prstGeom>
          <a:noFill/>
          <a:ln/>
        </p:spPr>
        <p:txBody>
          <a:bodyPr wrap="square" rtlCol="0" anchor="ctr"/>
          <a:lstStyle/>
          <a:p>
            <a:pPr marL="0" indent="0">
              <a:buNone/>
            </a:pPr>
            <a:r>
              <a:rPr lang="en-US" sz="1000" dirty="0">
                <a:solidFill>
                  <a:srgbClr val="1B2340"/>
                </a:solidFill>
                <a:latin typeface="Calibri" pitchFamily="34" charset="0"/>
                <a:ea typeface="Calibri" pitchFamily="34" charset="-122"/>
                <a:cs typeface="Calibri" pitchFamily="34" charset="-120"/>
              </a:rPr>
              <a:t>Loan purpose</a:t>
            </a:r>
            <a:endParaRPr lang="en-US" sz="1000" dirty="0"/>
          </a:p>
        </p:txBody>
      </p:sp>
      <p:sp>
        <p:nvSpPr>
          <p:cNvPr id="26" name="Shape 23"/>
          <p:cNvSpPr/>
          <p:nvPr/>
        </p:nvSpPr>
        <p:spPr>
          <a:xfrm>
            <a:off x="8366760" y="4187952"/>
            <a:ext cx="256032" cy="256032"/>
          </a:xfrm>
          <a:prstGeom prst="ellipse">
            <a:avLst/>
          </a:prstGeom>
          <a:solidFill>
            <a:srgbClr val="C9A227"/>
          </a:solidFill>
          <a:ln/>
        </p:spPr>
      </p:sp>
      <p:sp>
        <p:nvSpPr>
          <p:cNvPr id="27" name="Text 24"/>
          <p:cNvSpPr/>
          <p:nvPr/>
        </p:nvSpPr>
        <p:spPr>
          <a:xfrm>
            <a:off x="8366760" y="4187952"/>
            <a:ext cx="256032" cy="256032"/>
          </a:xfrm>
          <a:prstGeom prst="rect">
            <a:avLst/>
          </a:prstGeom>
          <a:noFill/>
          <a:ln/>
        </p:spPr>
        <p:txBody>
          <a:bodyPr wrap="square" lIns="0" tIns="0" rIns="0" bIns="0" rtlCol="0" anchor="ctr"/>
          <a:lstStyle/>
          <a:p>
            <a:pPr marL="0" indent="0" algn="ctr">
              <a:buNone/>
            </a:pPr>
            <a:r>
              <a:rPr lang="en-US" sz="900" b="1" dirty="0">
                <a:solidFill>
                  <a:srgbClr val="141B44"/>
                </a:solidFill>
                <a:latin typeface="Calibri" pitchFamily="34" charset="0"/>
                <a:ea typeface="Calibri" pitchFamily="34" charset="-122"/>
                <a:cs typeface="Calibri" pitchFamily="34" charset="-120"/>
              </a:rPr>
              <a:t>✓</a:t>
            </a:r>
            <a:endParaRPr lang="en-US" sz="900" dirty="0"/>
          </a:p>
        </p:txBody>
      </p:sp>
      <p:sp>
        <p:nvSpPr>
          <p:cNvPr id="28" name="Text 25"/>
          <p:cNvSpPr/>
          <p:nvPr/>
        </p:nvSpPr>
        <p:spPr>
          <a:xfrm>
            <a:off x="8732520" y="4160520"/>
            <a:ext cx="2816352" cy="292608"/>
          </a:xfrm>
          <a:prstGeom prst="rect">
            <a:avLst/>
          </a:prstGeom>
          <a:noFill/>
          <a:ln/>
        </p:spPr>
        <p:txBody>
          <a:bodyPr wrap="square" rtlCol="0" anchor="ctr"/>
          <a:lstStyle/>
          <a:p>
            <a:pPr marL="0" indent="0">
              <a:buNone/>
            </a:pPr>
            <a:r>
              <a:rPr lang="en-US" sz="1000" dirty="0">
                <a:solidFill>
                  <a:srgbClr val="1B2340"/>
                </a:solidFill>
                <a:latin typeface="Calibri" pitchFamily="34" charset="0"/>
                <a:ea typeface="Calibri" pitchFamily="34" charset="-122"/>
                <a:cs typeface="Calibri" pitchFamily="34" charset="-120"/>
              </a:rPr>
              <a:t>Home ownership</a:t>
            </a:r>
            <a:endParaRPr lang="en-US" sz="1000" dirty="0"/>
          </a:p>
        </p:txBody>
      </p:sp>
      <p:sp>
        <p:nvSpPr>
          <p:cNvPr id="29" name="Shape 26"/>
          <p:cNvSpPr/>
          <p:nvPr/>
        </p:nvSpPr>
        <p:spPr>
          <a:xfrm>
            <a:off x="8366760" y="4535424"/>
            <a:ext cx="256032" cy="256032"/>
          </a:xfrm>
          <a:prstGeom prst="ellipse">
            <a:avLst/>
          </a:prstGeom>
          <a:solidFill>
            <a:srgbClr val="C9A227"/>
          </a:solidFill>
          <a:ln/>
        </p:spPr>
      </p:sp>
      <p:sp>
        <p:nvSpPr>
          <p:cNvPr id="30" name="Text 27"/>
          <p:cNvSpPr/>
          <p:nvPr/>
        </p:nvSpPr>
        <p:spPr>
          <a:xfrm>
            <a:off x="8366760" y="4535424"/>
            <a:ext cx="256032" cy="256032"/>
          </a:xfrm>
          <a:prstGeom prst="rect">
            <a:avLst/>
          </a:prstGeom>
          <a:noFill/>
          <a:ln/>
        </p:spPr>
        <p:txBody>
          <a:bodyPr wrap="square" lIns="0" tIns="0" rIns="0" bIns="0" rtlCol="0" anchor="ctr"/>
          <a:lstStyle/>
          <a:p>
            <a:pPr marL="0" indent="0" algn="ctr">
              <a:buNone/>
            </a:pPr>
            <a:r>
              <a:rPr lang="en-US" sz="900" b="1" dirty="0">
                <a:solidFill>
                  <a:srgbClr val="141B44"/>
                </a:solidFill>
                <a:latin typeface="Calibri" pitchFamily="34" charset="0"/>
                <a:ea typeface="Calibri" pitchFamily="34" charset="-122"/>
                <a:cs typeface="Calibri" pitchFamily="34" charset="-120"/>
              </a:rPr>
              <a:t>✓</a:t>
            </a:r>
            <a:endParaRPr lang="en-US" sz="900" dirty="0"/>
          </a:p>
        </p:txBody>
      </p:sp>
      <p:sp>
        <p:nvSpPr>
          <p:cNvPr id="31" name="Text 28"/>
          <p:cNvSpPr/>
          <p:nvPr/>
        </p:nvSpPr>
        <p:spPr>
          <a:xfrm>
            <a:off x="8732520" y="4507992"/>
            <a:ext cx="2816352" cy="292608"/>
          </a:xfrm>
          <a:prstGeom prst="rect">
            <a:avLst/>
          </a:prstGeom>
          <a:noFill/>
          <a:ln/>
        </p:spPr>
        <p:txBody>
          <a:bodyPr wrap="square" rtlCol="0" anchor="ctr"/>
          <a:lstStyle/>
          <a:p>
            <a:pPr marL="0" indent="0">
              <a:buNone/>
            </a:pPr>
            <a:r>
              <a:rPr lang="en-US" sz="1000" dirty="0">
                <a:solidFill>
                  <a:srgbClr val="1B2340"/>
                </a:solidFill>
                <a:latin typeface="Calibri" pitchFamily="34" charset="0"/>
                <a:ea typeface="Calibri" pitchFamily="34" charset="-122"/>
                <a:cs typeface="Calibri" pitchFamily="34" charset="-120"/>
              </a:rPr>
              <a:t>Borrower state</a:t>
            </a:r>
            <a:endParaRPr lang="en-US" sz="1000" dirty="0"/>
          </a:p>
        </p:txBody>
      </p:sp>
      <p:sp>
        <p:nvSpPr>
          <p:cNvPr id="32" name="Shape 29"/>
          <p:cNvSpPr/>
          <p:nvPr/>
        </p:nvSpPr>
        <p:spPr>
          <a:xfrm>
            <a:off x="8229600" y="4974336"/>
            <a:ext cx="3291840" cy="868680"/>
          </a:xfrm>
          <a:prstGeom prst="roundRect">
            <a:avLst>
              <a:gd name="adj" fmla="val 6316"/>
            </a:avLst>
          </a:prstGeom>
          <a:solidFill>
            <a:srgbClr val="1E2761"/>
          </a:solidFill>
          <a:ln/>
        </p:spPr>
      </p:sp>
      <p:sp>
        <p:nvSpPr>
          <p:cNvPr id="33" name="Text 30"/>
          <p:cNvSpPr/>
          <p:nvPr/>
        </p:nvSpPr>
        <p:spPr>
          <a:xfrm>
            <a:off x="8412480" y="5084064"/>
            <a:ext cx="2926080" cy="256032"/>
          </a:xfrm>
          <a:prstGeom prst="rect">
            <a:avLst/>
          </a:prstGeom>
          <a:noFill/>
          <a:ln/>
        </p:spPr>
        <p:txBody>
          <a:bodyPr wrap="square" rtlCol="0" anchor="ctr"/>
          <a:lstStyle/>
          <a:p>
            <a:pPr marL="0" indent="0">
              <a:buNone/>
            </a:pPr>
            <a:r>
              <a:rPr lang="en-US" sz="1050" b="1" dirty="0">
                <a:solidFill>
                  <a:srgbClr val="C9A227"/>
                </a:solidFill>
                <a:latin typeface="Calibri" pitchFamily="34" charset="0"/>
                <a:ea typeface="Calibri" pitchFamily="34" charset="-122"/>
                <a:cs typeface="Calibri" pitchFamily="34" charset="-120"/>
              </a:rPr>
              <a:t>Filters: State · Grade · Good/Bad Loan</a:t>
            </a:r>
            <a:endParaRPr lang="en-US" sz="1050" dirty="0"/>
          </a:p>
        </p:txBody>
      </p:sp>
      <p:sp>
        <p:nvSpPr>
          <p:cNvPr id="34" name="Text 31"/>
          <p:cNvSpPr/>
          <p:nvPr/>
        </p:nvSpPr>
        <p:spPr>
          <a:xfrm>
            <a:off x="8412480" y="5340096"/>
            <a:ext cx="2926080" cy="457200"/>
          </a:xfrm>
          <a:prstGeom prst="rect">
            <a:avLst/>
          </a:prstGeom>
          <a:noFill/>
          <a:ln/>
        </p:spPr>
        <p:txBody>
          <a:bodyPr wrap="square" rtlCol="0" anchor="ctr"/>
          <a:lstStyle/>
          <a:p>
            <a:pPr marL="0" indent="0">
              <a:lnSpc>
                <a:spcPct val="115000"/>
              </a:lnSpc>
              <a:buNone/>
            </a:pPr>
            <a:r>
              <a:rPr lang="en-US" sz="950" dirty="0">
                <a:solidFill>
                  <a:srgbClr val="CADCFC"/>
                </a:solidFill>
                <a:latin typeface="Calibri" pitchFamily="34" charset="0"/>
                <a:ea typeface="Calibri" pitchFamily="34" charset="-122"/>
                <a:cs typeface="Calibri" pitchFamily="34" charset="-120"/>
              </a:rPr>
              <a:t>Lets analysts isolate any customer segment in seconds.</a:t>
            </a:r>
            <a:endParaRPr lang="en-US" sz="950" dirty="0"/>
          </a:p>
        </p:txBody>
      </p:sp>
      <p:sp>
        <p:nvSpPr>
          <p:cNvPr id="35" name="Text 32"/>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5B6B8C"/>
                </a:solidFill>
                <a:latin typeface="Calibri" pitchFamily="34" charset="0"/>
                <a:ea typeface="Calibri" pitchFamily="34" charset="-122"/>
                <a:cs typeface="Calibri" pitchFamily="34" charset="-120"/>
              </a:rPr>
              <a:t>Bank Loan Report Analysis</a:t>
            </a:r>
            <a:endParaRPr lang="en-US" sz="900" dirty="0"/>
          </a:p>
        </p:txBody>
      </p:sp>
      <p:sp>
        <p:nvSpPr>
          <p:cNvPr id="36" name="Text 33"/>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5B6B8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KEY PERFORMANCE INDICATORS</a:t>
            </a:r>
            <a:endParaRPr lang="en-US" sz="1200" dirty="0"/>
          </a:p>
        </p:txBody>
      </p:sp>
      <p:sp>
        <p:nvSpPr>
          <p:cNvPr id="3" name="Text 1"/>
          <p:cNvSpPr/>
          <p:nvPr/>
        </p:nvSpPr>
        <p:spPr>
          <a:xfrm>
            <a:off x="548640" y="713232"/>
            <a:ext cx="8686800" cy="548640"/>
          </a:xfrm>
          <a:prstGeom prst="rect">
            <a:avLst/>
          </a:prstGeom>
          <a:noFill/>
          <a:ln/>
        </p:spPr>
        <p:txBody>
          <a:bodyPr wrap="square" rtlCol="0" anchor="ctr"/>
          <a:lstStyle/>
          <a:p>
            <a:pPr marL="0" indent="0">
              <a:buNone/>
            </a:pPr>
            <a:r>
              <a:rPr lang="en-US" sz="2500" b="1" dirty="0">
                <a:solidFill>
                  <a:srgbClr val="1B2340"/>
                </a:solidFill>
                <a:latin typeface="Cambria" pitchFamily="34" charset="0"/>
                <a:ea typeface="Cambria" pitchFamily="34" charset="-122"/>
                <a:cs typeface="Cambria" pitchFamily="34" charset="-120"/>
              </a:rPr>
              <a:t>Nine numbers that define portfolio health</a:t>
            </a:r>
            <a:endParaRPr lang="en-US" sz="2500" dirty="0"/>
          </a:p>
        </p:txBody>
      </p:sp>
      <p:sp>
        <p:nvSpPr>
          <p:cNvPr id="4" name="Shape 2"/>
          <p:cNvSpPr/>
          <p:nvPr/>
        </p:nvSpPr>
        <p:spPr>
          <a:xfrm>
            <a:off x="548640" y="1508760"/>
            <a:ext cx="3611880" cy="1371600"/>
          </a:xfrm>
          <a:prstGeom prst="roundRect">
            <a:avLst>
              <a:gd name="adj" fmla="val 5333"/>
            </a:avLst>
          </a:prstGeom>
          <a:solidFill>
            <a:srgbClr val="EEF3FC"/>
          </a:solidFill>
          <a:ln/>
        </p:spPr>
      </p:sp>
      <p:sp>
        <p:nvSpPr>
          <p:cNvPr id="5" name="Text 3"/>
          <p:cNvSpPr/>
          <p:nvPr/>
        </p:nvSpPr>
        <p:spPr>
          <a:xfrm>
            <a:off x="731520" y="1618488"/>
            <a:ext cx="3246120" cy="502920"/>
          </a:xfrm>
          <a:prstGeom prst="rect">
            <a:avLst/>
          </a:prstGeom>
          <a:noFill/>
          <a:ln/>
        </p:spPr>
        <p:txBody>
          <a:bodyPr wrap="square"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38,576</a:t>
            </a:r>
            <a:endParaRPr lang="en-US" sz="2400" dirty="0"/>
          </a:p>
        </p:txBody>
      </p:sp>
      <p:sp>
        <p:nvSpPr>
          <p:cNvPr id="6" name="Text 4"/>
          <p:cNvSpPr/>
          <p:nvPr/>
        </p:nvSpPr>
        <p:spPr>
          <a:xfrm>
            <a:off x="731520" y="2130552"/>
            <a:ext cx="3246120" cy="292608"/>
          </a:xfrm>
          <a:prstGeom prst="rect">
            <a:avLst/>
          </a:prstGeom>
          <a:noFill/>
          <a:ln/>
        </p:spPr>
        <p:txBody>
          <a:bodyPr wrap="square" rtlCol="0" anchor="ctr"/>
          <a:lstStyle/>
          <a:p>
            <a:pPr marL="0" indent="0">
              <a:buNone/>
            </a:pPr>
            <a:r>
              <a:rPr lang="en-US" sz="1150" b="1" dirty="0">
                <a:solidFill>
                  <a:srgbClr val="1B2340"/>
                </a:solidFill>
                <a:latin typeface="Calibri" pitchFamily="34" charset="0"/>
                <a:ea typeface="Calibri" pitchFamily="34" charset="-122"/>
                <a:cs typeface="Calibri" pitchFamily="34" charset="-120"/>
              </a:rPr>
              <a:t>Total Applications</a:t>
            </a:r>
            <a:endParaRPr lang="en-US" sz="1150" dirty="0"/>
          </a:p>
        </p:txBody>
      </p:sp>
      <p:sp>
        <p:nvSpPr>
          <p:cNvPr id="7" name="Text 5"/>
          <p:cNvSpPr/>
          <p:nvPr/>
        </p:nvSpPr>
        <p:spPr>
          <a:xfrm>
            <a:off x="731520" y="2423160"/>
            <a:ext cx="3246120" cy="384048"/>
          </a:xfrm>
          <a:prstGeom prst="rect">
            <a:avLst/>
          </a:prstGeom>
          <a:noFill/>
          <a:ln/>
        </p:spPr>
        <p:txBody>
          <a:bodyPr wrap="square" rtlCol="0" anchor="ctr"/>
          <a:lstStyle/>
          <a:p>
            <a:pPr marL="0" indent="0">
              <a:lnSpc>
                <a:spcPct val="110000"/>
              </a:lnSpc>
              <a:buNone/>
            </a:pPr>
            <a:r>
              <a:rPr lang="en-US" sz="950" dirty="0">
                <a:solidFill>
                  <a:srgbClr val="5B6B8C"/>
                </a:solidFill>
                <a:latin typeface="Calibri" pitchFamily="34" charset="0"/>
                <a:ea typeface="Calibri" pitchFamily="34" charset="-122"/>
                <a:cs typeface="Calibri" pitchFamily="34" charset="-120"/>
              </a:rPr>
              <a:t>Volume of lending activity</a:t>
            </a:r>
            <a:endParaRPr lang="en-US" sz="950" dirty="0"/>
          </a:p>
        </p:txBody>
      </p:sp>
      <p:sp>
        <p:nvSpPr>
          <p:cNvPr id="8" name="Shape 6"/>
          <p:cNvSpPr/>
          <p:nvPr/>
        </p:nvSpPr>
        <p:spPr>
          <a:xfrm>
            <a:off x="4325112" y="1508760"/>
            <a:ext cx="3611880" cy="1371600"/>
          </a:xfrm>
          <a:prstGeom prst="roundRect">
            <a:avLst>
              <a:gd name="adj" fmla="val 5333"/>
            </a:avLst>
          </a:prstGeom>
          <a:solidFill>
            <a:srgbClr val="EEF3FC"/>
          </a:solidFill>
          <a:ln/>
        </p:spPr>
      </p:sp>
      <p:sp>
        <p:nvSpPr>
          <p:cNvPr id="9" name="Text 7"/>
          <p:cNvSpPr/>
          <p:nvPr/>
        </p:nvSpPr>
        <p:spPr>
          <a:xfrm>
            <a:off x="4507992" y="1618488"/>
            <a:ext cx="3246120" cy="502920"/>
          </a:xfrm>
          <a:prstGeom prst="rect">
            <a:avLst/>
          </a:prstGeom>
          <a:noFill/>
          <a:ln/>
        </p:spPr>
        <p:txBody>
          <a:bodyPr wrap="square"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$435.76M</a:t>
            </a:r>
            <a:endParaRPr lang="en-US" sz="2400" dirty="0"/>
          </a:p>
        </p:txBody>
      </p:sp>
      <p:sp>
        <p:nvSpPr>
          <p:cNvPr id="10" name="Text 8"/>
          <p:cNvSpPr/>
          <p:nvPr/>
        </p:nvSpPr>
        <p:spPr>
          <a:xfrm>
            <a:off x="4507992" y="2130552"/>
            <a:ext cx="3246120" cy="292608"/>
          </a:xfrm>
          <a:prstGeom prst="rect">
            <a:avLst/>
          </a:prstGeom>
          <a:noFill/>
          <a:ln/>
        </p:spPr>
        <p:txBody>
          <a:bodyPr wrap="square" rtlCol="0" anchor="ctr"/>
          <a:lstStyle/>
          <a:p>
            <a:pPr marL="0" indent="0">
              <a:buNone/>
            </a:pPr>
            <a:r>
              <a:rPr lang="en-US" sz="1150" b="1" dirty="0">
                <a:solidFill>
                  <a:srgbClr val="1B2340"/>
                </a:solidFill>
                <a:latin typeface="Calibri" pitchFamily="34" charset="0"/>
                <a:ea typeface="Calibri" pitchFamily="34" charset="-122"/>
                <a:cs typeface="Calibri" pitchFamily="34" charset="-120"/>
              </a:rPr>
              <a:t>Total Funded Amount</a:t>
            </a:r>
            <a:endParaRPr lang="en-US" sz="1150" dirty="0"/>
          </a:p>
        </p:txBody>
      </p:sp>
      <p:sp>
        <p:nvSpPr>
          <p:cNvPr id="11" name="Text 9"/>
          <p:cNvSpPr/>
          <p:nvPr/>
        </p:nvSpPr>
        <p:spPr>
          <a:xfrm>
            <a:off x="4507992" y="2423160"/>
            <a:ext cx="3246120" cy="384048"/>
          </a:xfrm>
          <a:prstGeom prst="rect">
            <a:avLst/>
          </a:prstGeom>
          <a:noFill/>
          <a:ln/>
        </p:spPr>
        <p:txBody>
          <a:bodyPr wrap="square" rtlCol="0" anchor="ctr"/>
          <a:lstStyle/>
          <a:p>
            <a:pPr marL="0" indent="0">
              <a:lnSpc>
                <a:spcPct val="110000"/>
              </a:lnSpc>
              <a:buNone/>
            </a:pPr>
            <a:r>
              <a:rPr lang="en-US" sz="950" dirty="0">
                <a:solidFill>
                  <a:srgbClr val="5B6B8C"/>
                </a:solidFill>
                <a:latin typeface="Calibri" pitchFamily="34" charset="0"/>
                <a:ea typeface="Calibri" pitchFamily="34" charset="-122"/>
                <a:cs typeface="Calibri" pitchFamily="34" charset="-120"/>
              </a:rPr>
              <a:t>Capital deployed to borrowers</a:t>
            </a:r>
            <a:endParaRPr lang="en-US" sz="950" dirty="0"/>
          </a:p>
        </p:txBody>
      </p:sp>
      <p:sp>
        <p:nvSpPr>
          <p:cNvPr id="12" name="Shape 10"/>
          <p:cNvSpPr/>
          <p:nvPr/>
        </p:nvSpPr>
        <p:spPr>
          <a:xfrm>
            <a:off x="8101584" y="1508760"/>
            <a:ext cx="3611880" cy="1371600"/>
          </a:xfrm>
          <a:prstGeom prst="roundRect">
            <a:avLst>
              <a:gd name="adj" fmla="val 5333"/>
            </a:avLst>
          </a:prstGeom>
          <a:solidFill>
            <a:srgbClr val="EEF3FC"/>
          </a:solidFill>
          <a:ln/>
        </p:spPr>
      </p:sp>
      <p:sp>
        <p:nvSpPr>
          <p:cNvPr id="13" name="Text 11"/>
          <p:cNvSpPr/>
          <p:nvPr/>
        </p:nvSpPr>
        <p:spPr>
          <a:xfrm>
            <a:off x="8284464" y="1618488"/>
            <a:ext cx="3246120" cy="502920"/>
          </a:xfrm>
          <a:prstGeom prst="rect">
            <a:avLst/>
          </a:prstGeom>
          <a:noFill/>
          <a:ln/>
        </p:spPr>
        <p:txBody>
          <a:bodyPr wrap="square"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$473.07M</a:t>
            </a:r>
            <a:endParaRPr lang="en-US" sz="2400" dirty="0"/>
          </a:p>
        </p:txBody>
      </p:sp>
      <p:sp>
        <p:nvSpPr>
          <p:cNvPr id="14" name="Text 12"/>
          <p:cNvSpPr/>
          <p:nvPr/>
        </p:nvSpPr>
        <p:spPr>
          <a:xfrm>
            <a:off x="8284464" y="2130552"/>
            <a:ext cx="3246120" cy="292608"/>
          </a:xfrm>
          <a:prstGeom prst="rect">
            <a:avLst/>
          </a:prstGeom>
          <a:noFill/>
          <a:ln/>
        </p:spPr>
        <p:txBody>
          <a:bodyPr wrap="square" rtlCol="0" anchor="ctr"/>
          <a:lstStyle/>
          <a:p>
            <a:pPr marL="0" indent="0">
              <a:buNone/>
            </a:pPr>
            <a:r>
              <a:rPr lang="en-US" sz="1150" b="1" dirty="0">
                <a:solidFill>
                  <a:srgbClr val="1B2340"/>
                </a:solidFill>
                <a:latin typeface="Calibri" pitchFamily="34" charset="0"/>
                <a:ea typeface="Calibri" pitchFamily="34" charset="-122"/>
                <a:cs typeface="Calibri" pitchFamily="34" charset="-120"/>
              </a:rPr>
              <a:t>Total Amount Received</a:t>
            </a:r>
            <a:endParaRPr lang="en-US" sz="1150" dirty="0"/>
          </a:p>
        </p:txBody>
      </p:sp>
      <p:sp>
        <p:nvSpPr>
          <p:cNvPr id="15" name="Text 13"/>
          <p:cNvSpPr/>
          <p:nvPr/>
        </p:nvSpPr>
        <p:spPr>
          <a:xfrm>
            <a:off x="8284464" y="2423160"/>
            <a:ext cx="3246120" cy="384048"/>
          </a:xfrm>
          <a:prstGeom prst="rect">
            <a:avLst/>
          </a:prstGeom>
          <a:noFill/>
          <a:ln/>
        </p:spPr>
        <p:txBody>
          <a:bodyPr wrap="square" rtlCol="0" anchor="ctr"/>
          <a:lstStyle/>
          <a:p>
            <a:pPr marL="0" indent="0">
              <a:lnSpc>
                <a:spcPct val="110000"/>
              </a:lnSpc>
              <a:buNone/>
            </a:pPr>
            <a:r>
              <a:rPr lang="en-US" sz="950" dirty="0">
                <a:solidFill>
                  <a:srgbClr val="5B6B8C"/>
                </a:solidFill>
                <a:latin typeface="Calibri" pitchFamily="34" charset="0"/>
                <a:ea typeface="Calibri" pitchFamily="34" charset="-122"/>
                <a:cs typeface="Calibri" pitchFamily="34" charset="-120"/>
              </a:rPr>
              <a:t>Cash collected to date</a:t>
            </a:r>
            <a:endParaRPr lang="en-US" sz="950" dirty="0"/>
          </a:p>
        </p:txBody>
      </p:sp>
      <p:sp>
        <p:nvSpPr>
          <p:cNvPr id="16" name="Shape 14"/>
          <p:cNvSpPr/>
          <p:nvPr/>
        </p:nvSpPr>
        <p:spPr>
          <a:xfrm>
            <a:off x="548640" y="3063240"/>
            <a:ext cx="3611880" cy="1371600"/>
          </a:xfrm>
          <a:prstGeom prst="roundRect">
            <a:avLst>
              <a:gd name="adj" fmla="val 5333"/>
            </a:avLst>
          </a:prstGeom>
          <a:solidFill>
            <a:srgbClr val="EEF3FC"/>
          </a:solidFill>
          <a:ln/>
        </p:spPr>
      </p:sp>
      <p:sp>
        <p:nvSpPr>
          <p:cNvPr id="17" name="Text 15"/>
          <p:cNvSpPr/>
          <p:nvPr/>
        </p:nvSpPr>
        <p:spPr>
          <a:xfrm>
            <a:off x="731520" y="3172968"/>
            <a:ext cx="3246120" cy="502920"/>
          </a:xfrm>
          <a:prstGeom prst="rect">
            <a:avLst/>
          </a:prstGeom>
          <a:noFill/>
          <a:ln/>
        </p:spPr>
        <p:txBody>
          <a:bodyPr wrap="square"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12.05%</a:t>
            </a:r>
            <a:endParaRPr lang="en-US" sz="2400" dirty="0"/>
          </a:p>
        </p:txBody>
      </p:sp>
      <p:sp>
        <p:nvSpPr>
          <p:cNvPr id="18" name="Text 16"/>
          <p:cNvSpPr/>
          <p:nvPr/>
        </p:nvSpPr>
        <p:spPr>
          <a:xfrm>
            <a:off x="731520" y="3685032"/>
            <a:ext cx="3246120" cy="292608"/>
          </a:xfrm>
          <a:prstGeom prst="rect">
            <a:avLst/>
          </a:prstGeom>
          <a:noFill/>
          <a:ln/>
        </p:spPr>
        <p:txBody>
          <a:bodyPr wrap="square" rtlCol="0" anchor="ctr"/>
          <a:lstStyle/>
          <a:p>
            <a:pPr marL="0" indent="0">
              <a:buNone/>
            </a:pPr>
            <a:r>
              <a:rPr lang="en-US" sz="1150" b="1" dirty="0">
                <a:solidFill>
                  <a:srgbClr val="1B2340"/>
                </a:solidFill>
                <a:latin typeface="Calibri" pitchFamily="34" charset="0"/>
                <a:ea typeface="Calibri" pitchFamily="34" charset="-122"/>
                <a:cs typeface="Calibri" pitchFamily="34" charset="-120"/>
              </a:rPr>
              <a:t>Avg Interest Rate</a:t>
            </a:r>
            <a:endParaRPr lang="en-US" sz="1150" dirty="0"/>
          </a:p>
        </p:txBody>
      </p:sp>
      <p:sp>
        <p:nvSpPr>
          <p:cNvPr id="19" name="Text 17"/>
          <p:cNvSpPr/>
          <p:nvPr/>
        </p:nvSpPr>
        <p:spPr>
          <a:xfrm>
            <a:off x="731520" y="3977640"/>
            <a:ext cx="3246120" cy="384048"/>
          </a:xfrm>
          <a:prstGeom prst="rect">
            <a:avLst/>
          </a:prstGeom>
          <a:noFill/>
          <a:ln/>
        </p:spPr>
        <p:txBody>
          <a:bodyPr wrap="square" rtlCol="0" anchor="ctr"/>
          <a:lstStyle/>
          <a:p>
            <a:pPr marL="0" indent="0">
              <a:lnSpc>
                <a:spcPct val="110000"/>
              </a:lnSpc>
              <a:buNone/>
            </a:pPr>
            <a:r>
              <a:rPr lang="en-US" sz="950" dirty="0">
                <a:solidFill>
                  <a:srgbClr val="5B6B8C"/>
                </a:solidFill>
                <a:latin typeface="Calibri" pitchFamily="34" charset="0"/>
                <a:ea typeface="Calibri" pitchFamily="34" charset="-122"/>
                <a:cs typeface="Calibri" pitchFamily="34" charset="-120"/>
              </a:rPr>
              <a:t>Portfolio-wide pricing of risk</a:t>
            </a:r>
            <a:endParaRPr lang="en-US" sz="950" dirty="0"/>
          </a:p>
        </p:txBody>
      </p:sp>
      <p:sp>
        <p:nvSpPr>
          <p:cNvPr id="20" name="Shape 18"/>
          <p:cNvSpPr/>
          <p:nvPr/>
        </p:nvSpPr>
        <p:spPr>
          <a:xfrm>
            <a:off x="4325112" y="3063240"/>
            <a:ext cx="3611880" cy="1371600"/>
          </a:xfrm>
          <a:prstGeom prst="roundRect">
            <a:avLst>
              <a:gd name="adj" fmla="val 5333"/>
            </a:avLst>
          </a:prstGeom>
          <a:solidFill>
            <a:srgbClr val="EEF3FC"/>
          </a:solidFill>
          <a:ln/>
        </p:spPr>
      </p:sp>
      <p:sp>
        <p:nvSpPr>
          <p:cNvPr id="21" name="Text 19"/>
          <p:cNvSpPr/>
          <p:nvPr/>
        </p:nvSpPr>
        <p:spPr>
          <a:xfrm>
            <a:off x="4507992" y="3172968"/>
            <a:ext cx="3246120" cy="502920"/>
          </a:xfrm>
          <a:prstGeom prst="rect">
            <a:avLst/>
          </a:prstGeom>
          <a:noFill/>
          <a:ln/>
        </p:spPr>
        <p:txBody>
          <a:bodyPr wrap="square"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13.33%</a:t>
            </a:r>
            <a:endParaRPr lang="en-US" sz="2400" dirty="0"/>
          </a:p>
        </p:txBody>
      </p:sp>
      <p:sp>
        <p:nvSpPr>
          <p:cNvPr id="22" name="Text 20"/>
          <p:cNvSpPr/>
          <p:nvPr/>
        </p:nvSpPr>
        <p:spPr>
          <a:xfrm>
            <a:off x="4507992" y="3685032"/>
            <a:ext cx="3246120" cy="292608"/>
          </a:xfrm>
          <a:prstGeom prst="rect">
            <a:avLst/>
          </a:prstGeom>
          <a:noFill/>
          <a:ln/>
        </p:spPr>
        <p:txBody>
          <a:bodyPr wrap="square" rtlCol="0" anchor="ctr"/>
          <a:lstStyle/>
          <a:p>
            <a:pPr marL="0" indent="0">
              <a:buNone/>
            </a:pPr>
            <a:r>
              <a:rPr lang="en-US" sz="1150" b="1" dirty="0">
                <a:solidFill>
                  <a:srgbClr val="1B2340"/>
                </a:solidFill>
                <a:latin typeface="Calibri" pitchFamily="34" charset="0"/>
                <a:ea typeface="Calibri" pitchFamily="34" charset="-122"/>
                <a:cs typeface="Calibri" pitchFamily="34" charset="-120"/>
              </a:rPr>
              <a:t>Avg DTI</a:t>
            </a:r>
            <a:endParaRPr lang="en-US" sz="1150" dirty="0"/>
          </a:p>
        </p:txBody>
      </p:sp>
      <p:sp>
        <p:nvSpPr>
          <p:cNvPr id="23" name="Text 21"/>
          <p:cNvSpPr/>
          <p:nvPr/>
        </p:nvSpPr>
        <p:spPr>
          <a:xfrm>
            <a:off x="4507992" y="3977640"/>
            <a:ext cx="3246120" cy="384048"/>
          </a:xfrm>
          <a:prstGeom prst="rect">
            <a:avLst/>
          </a:prstGeom>
          <a:noFill/>
          <a:ln/>
        </p:spPr>
        <p:txBody>
          <a:bodyPr wrap="square" rtlCol="0" anchor="ctr"/>
          <a:lstStyle/>
          <a:p>
            <a:pPr marL="0" indent="0">
              <a:lnSpc>
                <a:spcPct val="110000"/>
              </a:lnSpc>
              <a:buNone/>
            </a:pPr>
            <a:r>
              <a:rPr lang="en-US" sz="950" dirty="0">
                <a:solidFill>
                  <a:srgbClr val="5B6B8C"/>
                </a:solidFill>
                <a:latin typeface="Calibri" pitchFamily="34" charset="0"/>
                <a:ea typeface="Calibri" pitchFamily="34" charset="-122"/>
                <a:cs typeface="Calibri" pitchFamily="34" charset="-120"/>
              </a:rPr>
              <a:t>Borrower repayment capacity</a:t>
            </a:r>
            <a:endParaRPr lang="en-US" sz="950" dirty="0"/>
          </a:p>
        </p:txBody>
      </p:sp>
      <p:sp>
        <p:nvSpPr>
          <p:cNvPr id="24" name="Shape 22"/>
          <p:cNvSpPr/>
          <p:nvPr/>
        </p:nvSpPr>
        <p:spPr>
          <a:xfrm>
            <a:off x="8101584" y="3063240"/>
            <a:ext cx="3611880" cy="1371600"/>
          </a:xfrm>
          <a:prstGeom prst="roundRect">
            <a:avLst>
              <a:gd name="adj" fmla="val 5333"/>
            </a:avLst>
          </a:prstGeom>
          <a:solidFill>
            <a:srgbClr val="EEF3FC"/>
          </a:solidFill>
          <a:ln/>
        </p:spPr>
      </p:sp>
      <p:sp>
        <p:nvSpPr>
          <p:cNvPr id="25" name="Text 23"/>
          <p:cNvSpPr/>
          <p:nvPr/>
        </p:nvSpPr>
        <p:spPr>
          <a:xfrm>
            <a:off x="8284464" y="3172968"/>
            <a:ext cx="3246120" cy="502920"/>
          </a:xfrm>
          <a:prstGeom prst="rect">
            <a:avLst/>
          </a:prstGeom>
          <a:noFill/>
          <a:ln/>
        </p:spPr>
        <p:txBody>
          <a:bodyPr wrap="square"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86.18%</a:t>
            </a:r>
            <a:endParaRPr lang="en-US" sz="2400" dirty="0"/>
          </a:p>
        </p:txBody>
      </p:sp>
      <p:sp>
        <p:nvSpPr>
          <p:cNvPr id="26" name="Text 24"/>
          <p:cNvSpPr/>
          <p:nvPr/>
        </p:nvSpPr>
        <p:spPr>
          <a:xfrm>
            <a:off x="8284464" y="3685032"/>
            <a:ext cx="3246120" cy="292608"/>
          </a:xfrm>
          <a:prstGeom prst="rect">
            <a:avLst/>
          </a:prstGeom>
          <a:noFill/>
          <a:ln/>
        </p:spPr>
        <p:txBody>
          <a:bodyPr wrap="square" rtlCol="0" anchor="ctr"/>
          <a:lstStyle/>
          <a:p>
            <a:pPr marL="0" indent="0">
              <a:buNone/>
            </a:pPr>
            <a:r>
              <a:rPr lang="en-US" sz="1150" b="1" dirty="0">
                <a:solidFill>
                  <a:srgbClr val="1B2340"/>
                </a:solidFill>
                <a:latin typeface="Calibri" pitchFamily="34" charset="0"/>
                <a:ea typeface="Calibri" pitchFamily="34" charset="-122"/>
                <a:cs typeface="Calibri" pitchFamily="34" charset="-120"/>
              </a:rPr>
              <a:t>Good Loan %</a:t>
            </a:r>
            <a:endParaRPr lang="en-US" sz="1150" dirty="0"/>
          </a:p>
        </p:txBody>
      </p:sp>
      <p:sp>
        <p:nvSpPr>
          <p:cNvPr id="27" name="Text 25"/>
          <p:cNvSpPr/>
          <p:nvPr/>
        </p:nvSpPr>
        <p:spPr>
          <a:xfrm>
            <a:off x="8284464" y="3977640"/>
            <a:ext cx="3246120" cy="384048"/>
          </a:xfrm>
          <a:prstGeom prst="rect">
            <a:avLst/>
          </a:prstGeom>
          <a:noFill/>
          <a:ln/>
        </p:spPr>
        <p:txBody>
          <a:bodyPr wrap="square" rtlCol="0" anchor="ctr"/>
          <a:lstStyle/>
          <a:p>
            <a:pPr marL="0" indent="0">
              <a:lnSpc>
                <a:spcPct val="110000"/>
              </a:lnSpc>
              <a:buNone/>
            </a:pPr>
            <a:r>
              <a:rPr lang="en-US" sz="950" dirty="0">
                <a:solidFill>
                  <a:srgbClr val="5B6B8C"/>
                </a:solidFill>
                <a:latin typeface="Calibri" pitchFamily="34" charset="0"/>
                <a:ea typeface="Calibri" pitchFamily="34" charset="-122"/>
                <a:cs typeface="Calibri" pitchFamily="34" charset="-120"/>
              </a:rPr>
              <a:t>Share Fully Paid or Current</a:t>
            </a:r>
            <a:endParaRPr lang="en-US" sz="950" dirty="0"/>
          </a:p>
        </p:txBody>
      </p:sp>
      <p:sp>
        <p:nvSpPr>
          <p:cNvPr id="28" name="Shape 26"/>
          <p:cNvSpPr/>
          <p:nvPr/>
        </p:nvSpPr>
        <p:spPr>
          <a:xfrm>
            <a:off x="548640" y="4617720"/>
            <a:ext cx="3611880" cy="1371600"/>
          </a:xfrm>
          <a:prstGeom prst="roundRect">
            <a:avLst>
              <a:gd name="adj" fmla="val 5333"/>
            </a:avLst>
          </a:prstGeom>
          <a:solidFill>
            <a:srgbClr val="EEF3FC"/>
          </a:solidFill>
          <a:ln/>
        </p:spPr>
      </p:sp>
      <p:sp>
        <p:nvSpPr>
          <p:cNvPr id="29" name="Text 27"/>
          <p:cNvSpPr/>
          <p:nvPr/>
        </p:nvSpPr>
        <p:spPr>
          <a:xfrm>
            <a:off x="731520" y="4727448"/>
            <a:ext cx="3246120" cy="502920"/>
          </a:xfrm>
          <a:prstGeom prst="rect">
            <a:avLst/>
          </a:prstGeom>
          <a:noFill/>
          <a:ln/>
        </p:spPr>
        <p:txBody>
          <a:bodyPr wrap="square"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13.82%</a:t>
            </a:r>
            <a:endParaRPr lang="en-US" sz="2400" dirty="0"/>
          </a:p>
        </p:txBody>
      </p:sp>
      <p:sp>
        <p:nvSpPr>
          <p:cNvPr id="30" name="Text 28"/>
          <p:cNvSpPr/>
          <p:nvPr/>
        </p:nvSpPr>
        <p:spPr>
          <a:xfrm>
            <a:off x="731520" y="5239512"/>
            <a:ext cx="3246120" cy="292608"/>
          </a:xfrm>
          <a:prstGeom prst="rect">
            <a:avLst/>
          </a:prstGeom>
          <a:noFill/>
          <a:ln/>
        </p:spPr>
        <p:txBody>
          <a:bodyPr wrap="square" rtlCol="0" anchor="ctr"/>
          <a:lstStyle/>
          <a:p>
            <a:pPr marL="0" indent="0">
              <a:buNone/>
            </a:pPr>
            <a:r>
              <a:rPr lang="en-US" sz="1150" b="1" dirty="0">
                <a:solidFill>
                  <a:srgbClr val="1B2340"/>
                </a:solidFill>
                <a:latin typeface="Calibri" pitchFamily="34" charset="0"/>
                <a:ea typeface="Calibri" pitchFamily="34" charset="-122"/>
                <a:cs typeface="Calibri" pitchFamily="34" charset="-120"/>
              </a:rPr>
              <a:t>Bad Loan %</a:t>
            </a:r>
            <a:endParaRPr lang="en-US" sz="1150" dirty="0"/>
          </a:p>
        </p:txBody>
      </p:sp>
      <p:sp>
        <p:nvSpPr>
          <p:cNvPr id="31" name="Text 29"/>
          <p:cNvSpPr/>
          <p:nvPr/>
        </p:nvSpPr>
        <p:spPr>
          <a:xfrm>
            <a:off x="731520" y="5532120"/>
            <a:ext cx="3246120" cy="384048"/>
          </a:xfrm>
          <a:prstGeom prst="rect">
            <a:avLst/>
          </a:prstGeom>
          <a:noFill/>
          <a:ln/>
        </p:spPr>
        <p:txBody>
          <a:bodyPr wrap="square" rtlCol="0" anchor="ctr"/>
          <a:lstStyle/>
          <a:p>
            <a:pPr marL="0" indent="0">
              <a:lnSpc>
                <a:spcPct val="110000"/>
              </a:lnSpc>
              <a:buNone/>
            </a:pPr>
            <a:r>
              <a:rPr lang="en-US" sz="950" dirty="0">
                <a:solidFill>
                  <a:srgbClr val="5B6B8C"/>
                </a:solidFill>
                <a:latin typeface="Calibri" pitchFamily="34" charset="0"/>
                <a:ea typeface="Calibri" pitchFamily="34" charset="-122"/>
                <a:cs typeface="Calibri" pitchFamily="34" charset="-120"/>
              </a:rPr>
              <a:t>Share Charged Off</a:t>
            </a:r>
            <a:endParaRPr lang="en-US" sz="950" dirty="0"/>
          </a:p>
        </p:txBody>
      </p:sp>
      <p:sp>
        <p:nvSpPr>
          <p:cNvPr id="32" name="Shape 30"/>
          <p:cNvSpPr/>
          <p:nvPr/>
        </p:nvSpPr>
        <p:spPr>
          <a:xfrm>
            <a:off x="4325112" y="4617720"/>
            <a:ext cx="3611880" cy="1371600"/>
          </a:xfrm>
          <a:prstGeom prst="roundRect">
            <a:avLst>
              <a:gd name="adj" fmla="val 5333"/>
            </a:avLst>
          </a:prstGeom>
          <a:solidFill>
            <a:srgbClr val="EEF3FC"/>
          </a:solidFill>
          <a:ln/>
        </p:spPr>
      </p:sp>
      <p:sp>
        <p:nvSpPr>
          <p:cNvPr id="33" name="Text 31"/>
          <p:cNvSpPr/>
          <p:nvPr/>
        </p:nvSpPr>
        <p:spPr>
          <a:xfrm>
            <a:off x="4507992" y="4727448"/>
            <a:ext cx="3246120" cy="502920"/>
          </a:xfrm>
          <a:prstGeom prst="rect">
            <a:avLst/>
          </a:prstGeom>
          <a:noFill/>
          <a:ln/>
        </p:spPr>
        <p:txBody>
          <a:bodyPr wrap="square"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108.6%</a:t>
            </a:r>
            <a:endParaRPr lang="en-US" sz="2400" dirty="0"/>
          </a:p>
        </p:txBody>
      </p:sp>
      <p:sp>
        <p:nvSpPr>
          <p:cNvPr id="34" name="Text 32"/>
          <p:cNvSpPr/>
          <p:nvPr/>
        </p:nvSpPr>
        <p:spPr>
          <a:xfrm>
            <a:off x="4507992" y="5239512"/>
            <a:ext cx="3246120" cy="292608"/>
          </a:xfrm>
          <a:prstGeom prst="rect">
            <a:avLst/>
          </a:prstGeom>
          <a:noFill/>
          <a:ln/>
        </p:spPr>
        <p:txBody>
          <a:bodyPr wrap="square" rtlCol="0" anchor="ctr"/>
          <a:lstStyle/>
          <a:p>
            <a:pPr marL="0" indent="0">
              <a:buNone/>
            </a:pPr>
            <a:r>
              <a:rPr lang="en-US" sz="1150" b="1" dirty="0">
                <a:solidFill>
                  <a:srgbClr val="1B2340"/>
                </a:solidFill>
                <a:latin typeface="Calibri" pitchFamily="34" charset="0"/>
                <a:ea typeface="Calibri" pitchFamily="34" charset="-122"/>
                <a:cs typeface="Calibri" pitchFamily="34" charset="-120"/>
              </a:rPr>
              <a:t>Loan Recovery Rate</a:t>
            </a:r>
            <a:endParaRPr lang="en-US" sz="1150" dirty="0"/>
          </a:p>
        </p:txBody>
      </p:sp>
      <p:sp>
        <p:nvSpPr>
          <p:cNvPr id="35" name="Text 33"/>
          <p:cNvSpPr/>
          <p:nvPr/>
        </p:nvSpPr>
        <p:spPr>
          <a:xfrm>
            <a:off x="4507992" y="5532120"/>
            <a:ext cx="3246120" cy="384048"/>
          </a:xfrm>
          <a:prstGeom prst="rect">
            <a:avLst/>
          </a:prstGeom>
          <a:noFill/>
          <a:ln/>
        </p:spPr>
        <p:txBody>
          <a:bodyPr wrap="square" rtlCol="0" anchor="ctr"/>
          <a:lstStyle/>
          <a:p>
            <a:pPr marL="0" indent="0">
              <a:lnSpc>
                <a:spcPct val="110000"/>
              </a:lnSpc>
              <a:buNone/>
            </a:pPr>
            <a:r>
              <a:rPr lang="en-US" sz="950" dirty="0">
                <a:solidFill>
                  <a:srgbClr val="5B6B8C"/>
                </a:solidFill>
                <a:latin typeface="Calibri" pitchFamily="34" charset="0"/>
                <a:ea typeface="Calibri" pitchFamily="34" charset="-122"/>
                <a:cs typeface="Calibri" pitchFamily="34" charset="-120"/>
              </a:rPr>
              <a:t>Received ÷ Funded, portfolio-wide</a:t>
            </a:r>
            <a:endParaRPr lang="en-US" sz="950" dirty="0"/>
          </a:p>
        </p:txBody>
      </p:sp>
      <p:sp>
        <p:nvSpPr>
          <p:cNvPr id="36" name="Shape 34"/>
          <p:cNvSpPr/>
          <p:nvPr/>
        </p:nvSpPr>
        <p:spPr>
          <a:xfrm>
            <a:off x="8101584" y="4617720"/>
            <a:ext cx="3611880" cy="1371600"/>
          </a:xfrm>
          <a:prstGeom prst="roundRect">
            <a:avLst>
              <a:gd name="adj" fmla="val 5333"/>
            </a:avLst>
          </a:prstGeom>
          <a:solidFill>
            <a:srgbClr val="EEF3FC"/>
          </a:solidFill>
          <a:ln/>
        </p:spPr>
      </p:sp>
      <p:sp>
        <p:nvSpPr>
          <p:cNvPr id="37" name="Text 35"/>
          <p:cNvSpPr/>
          <p:nvPr/>
        </p:nvSpPr>
        <p:spPr>
          <a:xfrm>
            <a:off x="8284464" y="4727448"/>
            <a:ext cx="3246120" cy="502920"/>
          </a:xfrm>
          <a:prstGeom prst="rect">
            <a:avLst/>
          </a:prstGeom>
          <a:noFill/>
          <a:ln/>
        </p:spPr>
        <p:txBody>
          <a:bodyPr wrap="square"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56.9%</a:t>
            </a:r>
            <a:endParaRPr lang="en-US" sz="2400" dirty="0"/>
          </a:p>
        </p:txBody>
      </p:sp>
      <p:sp>
        <p:nvSpPr>
          <p:cNvPr id="38" name="Text 36"/>
          <p:cNvSpPr/>
          <p:nvPr/>
        </p:nvSpPr>
        <p:spPr>
          <a:xfrm>
            <a:off x="8284464" y="5239512"/>
            <a:ext cx="3246120" cy="292608"/>
          </a:xfrm>
          <a:prstGeom prst="rect">
            <a:avLst/>
          </a:prstGeom>
          <a:noFill/>
          <a:ln/>
        </p:spPr>
        <p:txBody>
          <a:bodyPr wrap="square" rtlCol="0" anchor="ctr"/>
          <a:lstStyle/>
          <a:p>
            <a:pPr marL="0" indent="0">
              <a:buNone/>
            </a:pPr>
            <a:r>
              <a:rPr lang="en-US" sz="1150" b="1" dirty="0">
                <a:solidFill>
                  <a:srgbClr val="1B2340"/>
                </a:solidFill>
                <a:latin typeface="Calibri" pitchFamily="34" charset="0"/>
                <a:ea typeface="Calibri" pitchFamily="34" charset="-122"/>
                <a:cs typeface="Calibri" pitchFamily="34" charset="-120"/>
              </a:rPr>
              <a:t>Bad Loan Recovery</a:t>
            </a:r>
            <a:endParaRPr lang="en-US" sz="1150" dirty="0"/>
          </a:p>
        </p:txBody>
      </p:sp>
      <p:sp>
        <p:nvSpPr>
          <p:cNvPr id="39" name="Text 37"/>
          <p:cNvSpPr/>
          <p:nvPr/>
        </p:nvSpPr>
        <p:spPr>
          <a:xfrm>
            <a:off x="8284464" y="5532120"/>
            <a:ext cx="3246120" cy="384048"/>
          </a:xfrm>
          <a:prstGeom prst="rect">
            <a:avLst/>
          </a:prstGeom>
          <a:noFill/>
          <a:ln/>
        </p:spPr>
        <p:txBody>
          <a:bodyPr wrap="square" rtlCol="0" anchor="ctr"/>
          <a:lstStyle/>
          <a:p>
            <a:pPr marL="0" indent="0">
              <a:lnSpc>
                <a:spcPct val="110000"/>
              </a:lnSpc>
              <a:buNone/>
            </a:pPr>
            <a:r>
              <a:rPr lang="en-US" sz="950" dirty="0">
                <a:solidFill>
                  <a:srgbClr val="5B6B8C"/>
                </a:solidFill>
                <a:latin typeface="Calibri" pitchFamily="34" charset="0"/>
                <a:ea typeface="Calibri" pitchFamily="34" charset="-122"/>
                <a:cs typeface="Calibri" pitchFamily="34" charset="-120"/>
              </a:rPr>
              <a:t>Received ÷ Funded, Charged Off only</a:t>
            </a:r>
            <a:endParaRPr lang="en-US" sz="950" dirty="0"/>
          </a:p>
        </p:txBody>
      </p:sp>
      <p:sp>
        <p:nvSpPr>
          <p:cNvPr id="40" name="Text 38"/>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5B6B8C"/>
                </a:solidFill>
                <a:latin typeface="Calibri" pitchFamily="34" charset="0"/>
                <a:ea typeface="Calibri" pitchFamily="34" charset="-122"/>
                <a:cs typeface="Calibri" pitchFamily="34" charset="-120"/>
              </a:rPr>
              <a:t>Bank Loan Report Analysis</a:t>
            </a:r>
            <a:endParaRPr lang="en-US" sz="900" dirty="0"/>
          </a:p>
        </p:txBody>
      </p:sp>
      <p:sp>
        <p:nvSpPr>
          <p:cNvPr id="41" name="Text 39"/>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5B6B8C"/>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3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KEY BUSINESS INSIGHTS</a:t>
            </a:r>
            <a:endParaRPr lang="en-US" sz="1200" dirty="0"/>
          </a:p>
        </p:txBody>
      </p:sp>
      <p:sp>
        <p:nvSpPr>
          <p:cNvPr id="3" name="Text 1"/>
          <p:cNvSpPr/>
          <p:nvPr/>
        </p:nvSpPr>
        <p:spPr>
          <a:xfrm>
            <a:off x="548640" y="713232"/>
            <a:ext cx="8686800" cy="548640"/>
          </a:xfrm>
          <a:prstGeom prst="rect">
            <a:avLst/>
          </a:prstGeom>
          <a:noFill/>
          <a:ln/>
        </p:spPr>
        <p:txBody>
          <a:bodyPr wrap="square" rtlCol="0" anchor="ctr"/>
          <a:lstStyle/>
          <a:p>
            <a:pPr marL="0" indent="0">
              <a:buNone/>
            </a:pPr>
            <a:r>
              <a:rPr lang="en-US" sz="2500" b="1" dirty="0">
                <a:solidFill>
                  <a:srgbClr val="1B2340"/>
                </a:solidFill>
                <a:latin typeface="Cambria" pitchFamily="34" charset="0"/>
                <a:ea typeface="Cambria" pitchFamily="34" charset="-122"/>
                <a:cs typeface="Cambria" pitchFamily="34" charset="-120"/>
              </a:rPr>
              <a:t>What the data says about portfolio risk</a:t>
            </a:r>
            <a:endParaRPr lang="en-US" sz="2500" dirty="0"/>
          </a:p>
        </p:txBody>
      </p:sp>
      <p:sp>
        <p:nvSpPr>
          <p:cNvPr id="4" name="Shape 2"/>
          <p:cNvSpPr/>
          <p:nvPr/>
        </p:nvSpPr>
        <p:spPr>
          <a:xfrm>
            <a:off x="548640" y="1554480"/>
            <a:ext cx="292608" cy="292608"/>
          </a:xfrm>
          <a:prstGeom prst="ellipse">
            <a:avLst/>
          </a:prstGeom>
          <a:solidFill>
            <a:srgbClr val="1E2761"/>
          </a:solidFill>
          <a:ln/>
        </p:spPr>
      </p:sp>
      <p:sp>
        <p:nvSpPr>
          <p:cNvPr id="5" name="Text 3"/>
          <p:cNvSpPr/>
          <p:nvPr/>
        </p:nvSpPr>
        <p:spPr>
          <a:xfrm>
            <a:off x="548640" y="155448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p:nvPr/>
        </p:nvSpPr>
        <p:spPr>
          <a:xfrm>
            <a:off x="960120" y="1508760"/>
            <a:ext cx="4983480" cy="713232"/>
          </a:xfrm>
          <a:prstGeom prst="rect">
            <a:avLst/>
          </a:prstGeom>
          <a:noFill/>
          <a:ln/>
        </p:spPr>
        <p:txBody>
          <a:bodyPr wrap="square" rtlCol="0" anchor="ctr"/>
          <a:lstStyle/>
          <a:p>
            <a:pPr marL="0" indent="0">
              <a:lnSpc>
                <a:spcPct val="115000"/>
              </a:lnSpc>
              <a:buNone/>
            </a:pPr>
            <a:r>
              <a:rPr lang="en-US" sz="1080" dirty="0">
                <a:solidFill>
                  <a:srgbClr val="1B2340"/>
                </a:solidFill>
                <a:latin typeface="Calibri" pitchFamily="34" charset="0"/>
                <a:ea typeface="Calibri" pitchFamily="34" charset="-122"/>
                <a:cs typeface="Calibri" pitchFamily="34" charset="-120"/>
              </a:rPr>
              <a:t>83.3% of loans are Fully Paid — the portfolio is fundamentally healthy</a:t>
            </a:r>
            <a:endParaRPr lang="en-US" sz="1080" dirty="0"/>
          </a:p>
        </p:txBody>
      </p:sp>
      <p:sp>
        <p:nvSpPr>
          <p:cNvPr id="7" name="Shape 5"/>
          <p:cNvSpPr/>
          <p:nvPr/>
        </p:nvSpPr>
        <p:spPr>
          <a:xfrm>
            <a:off x="6217920" y="1554480"/>
            <a:ext cx="292608" cy="292608"/>
          </a:xfrm>
          <a:prstGeom prst="ellipse">
            <a:avLst/>
          </a:prstGeom>
          <a:solidFill>
            <a:srgbClr val="1E2761"/>
          </a:solidFill>
          <a:ln/>
        </p:spPr>
      </p:sp>
      <p:sp>
        <p:nvSpPr>
          <p:cNvPr id="8" name="Text 6"/>
          <p:cNvSpPr/>
          <p:nvPr/>
        </p:nvSpPr>
        <p:spPr>
          <a:xfrm>
            <a:off x="6217920" y="155448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9" name="Text 7"/>
          <p:cNvSpPr/>
          <p:nvPr/>
        </p:nvSpPr>
        <p:spPr>
          <a:xfrm>
            <a:off x="6629400" y="1508760"/>
            <a:ext cx="4983480" cy="713232"/>
          </a:xfrm>
          <a:prstGeom prst="rect">
            <a:avLst/>
          </a:prstGeom>
          <a:noFill/>
          <a:ln/>
        </p:spPr>
        <p:txBody>
          <a:bodyPr wrap="square" rtlCol="0" anchor="ctr"/>
          <a:lstStyle/>
          <a:p>
            <a:pPr marL="0" indent="0">
              <a:lnSpc>
                <a:spcPct val="115000"/>
              </a:lnSpc>
              <a:buNone/>
            </a:pPr>
            <a:r>
              <a:rPr lang="en-US" sz="1080" dirty="0">
                <a:solidFill>
                  <a:srgbClr val="1B2340"/>
                </a:solidFill>
                <a:latin typeface="Calibri" pitchFamily="34" charset="0"/>
                <a:ea typeface="Calibri" pitchFamily="34" charset="-122"/>
                <a:cs typeface="Calibri" pitchFamily="34" charset="-120"/>
              </a:rPr>
              <a:t>Charge-off rate rises from 5.7% (Grade A) to 31.3% (Grade G) — grading works</a:t>
            </a:r>
            <a:endParaRPr lang="en-US" sz="1080" dirty="0"/>
          </a:p>
        </p:txBody>
      </p:sp>
      <p:sp>
        <p:nvSpPr>
          <p:cNvPr id="10" name="Shape 8"/>
          <p:cNvSpPr/>
          <p:nvPr/>
        </p:nvSpPr>
        <p:spPr>
          <a:xfrm>
            <a:off x="548640" y="2313432"/>
            <a:ext cx="292608" cy="292608"/>
          </a:xfrm>
          <a:prstGeom prst="ellipse">
            <a:avLst/>
          </a:prstGeom>
          <a:solidFill>
            <a:srgbClr val="1E2761"/>
          </a:solidFill>
          <a:ln/>
        </p:spPr>
      </p:sp>
      <p:sp>
        <p:nvSpPr>
          <p:cNvPr id="11" name="Text 9"/>
          <p:cNvSpPr/>
          <p:nvPr/>
        </p:nvSpPr>
        <p:spPr>
          <a:xfrm>
            <a:off x="548640" y="2313432"/>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Text 10"/>
          <p:cNvSpPr/>
          <p:nvPr/>
        </p:nvSpPr>
        <p:spPr>
          <a:xfrm>
            <a:off x="960120" y="2267712"/>
            <a:ext cx="4983480" cy="713232"/>
          </a:xfrm>
          <a:prstGeom prst="rect">
            <a:avLst/>
          </a:prstGeom>
          <a:noFill/>
          <a:ln/>
        </p:spPr>
        <p:txBody>
          <a:bodyPr wrap="square" rtlCol="0" anchor="ctr"/>
          <a:lstStyle/>
          <a:p>
            <a:pPr marL="0" indent="0">
              <a:lnSpc>
                <a:spcPct val="115000"/>
              </a:lnSpc>
              <a:buNone/>
            </a:pPr>
            <a:r>
              <a:rPr lang="en-US" sz="1080" dirty="0">
                <a:solidFill>
                  <a:srgbClr val="1B2340"/>
                </a:solidFill>
                <a:latin typeface="Calibri" pitchFamily="34" charset="0"/>
                <a:ea typeface="Calibri" pitchFamily="34" charset="-122"/>
                <a:cs typeface="Calibri" pitchFamily="34" charset="-120"/>
              </a:rPr>
              <a:t>60-month loans default more than twice as often as 36-month loans (22.3% vs 10.7%)</a:t>
            </a:r>
            <a:endParaRPr lang="en-US" sz="1080" dirty="0"/>
          </a:p>
        </p:txBody>
      </p:sp>
      <p:sp>
        <p:nvSpPr>
          <p:cNvPr id="13" name="Shape 11"/>
          <p:cNvSpPr/>
          <p:nvPr/>
        </p:nvSpPr>
        <p:spPr>
          <a:xfrm>
            <a:off x="6217920" y="2313432"/>
            <a:ext cx="292608" cy="292608"/>
          </a:xfrm>
          <a:prstGeom prst="ellipse">
            <a:avLst/>
          </a:prstGeom>
          <a:solidFill>
            <a:srgbClr val="1E2761"/>
          </a:solidFill>
          <a:ln/>
        </p:spPr>
      </p:sp>
      <p:sp>
        <p:nvSpPr>
          <p:cNvPr id="14" name="Text 12"/>
          <p:cNvSpPr/>
          <p:nvPr/>
        </p:nvSpPr>
        <p:spPr>
          <a:xfrm>
            <a:off x="6217920" y="2313432"/>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5" name="Text 13"/>
          <p:cNvSpPr/>
          <p:nvPr/>
        </p:nvSpPr>
        <p:spPr>
          <a:xfrm>
            <a:off x="6629400" y="2267712"/>
            <a:ext cx="4983480" cy="713232"/>
          </a:xfrm>
          <a:prstGeom prst="rect">
            <a:avLst/>
          </a:prstGeom>
          <a:noFill/>
          <a:ln/>
        </p:spPr>
        <p:txBody>
          <a:bodyPr wrap="square" rtlCol="0" anchor="ctr"/>
          <a:lstStyle/>
          <a:p>
            <a:pPr marL="0" indent="0">
              <a:lnSpc>
                <a:spcPct val="115000"/>
              </a:lnSpc>
              <a:buNone/>
            </a:pPr>
            <a:r>
              <a:rPr lang="en-US" sz="1080" dirty="0">
                <a:solidFill>
                  <a:srgbClr val="1B2340"/>
                </a:solidFill>
                <a:latin typeface="Calibri" pitchFamily="34" charset="0"/>
                <a:ea typeface="Calibri" pitchFamily="34" charset="-122"/>
                <a:cs typeface="Calibri" pitchFamily="34" charset="-120"/>
              </a:rPr>
              <a:t>Grade F/G on a 60-month term defaults over 5x more than Grade A on 36 months</a:t>
            </a:r>
            <a:endParaRPr lang="en-US" sz="1080" dirty="0"/>
          </a:p>
        </p:txBody>
      </p:sp>
      <p:sp>
        <p:nvSpPr>
          <p:cNvPr id="16" name="Shape 14"/>
          <p:cNvSpPr/>
          <p:nvPr/>
        </p:nvSpPr>
        <p:spPr>
          <a:xfrm>
            <a:off x="548640" y="3072384"/>
            <a:ext cx="292608" cy="292608"/>
          </a:xfrm>
          <a:prstGeom prst="ellipse">
            <a:avLst/>
          </a:prstGeom>
          <a:solidFill>
            <a:srgbClr val="1E2761"/>
          </a:solidFill>
          <a:ln/>
        </p:spPr>
      </p:sp>
      <p:sp>
        <p:nvSpPr>
          <p:cNvPr id="17" name="Text 15"/>
          <p:cNvSpPr/>
          <p:nvPr/>
        </p:nvSpPr>
        <p:spPr>
          <a:xfrm>
            <a:off x="548640" y="307238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8" name="Text 16"/>
          <p:cNvSpPr/>
          <p:nvPr/>
        </p:nvSpPr>
        <p:spPr>
          <a:xfrm>
            <a:off x="960120" y="3026664"/>
            <a:ext cx="4983480" cy="713232"/>
          </a:xfrm>
          <a:prstGeom prst="rect">
            <a:avLst/>
          </a:prstGeom>
          <a:noFill/>
          <a:ln/>
        </p:spPr>
        <p:txBody>
          <a:bodyPr wrap="square" rtlCol="0" anchor="ctr"/>
          <a:lstStyle/>
          <a:p>
            <a:pPr marL="0" indent="0">
              <a:lnSpc>
                <a:spcPct val="115000"/>
              </a:lnSpc>
              <a:buNone/>
            </a:pPr>
            <a:r>
              <a:rPr lang="en-US" sz="1080" dirty="0">
                <a:solidFill>
                  <a:srgbClr val="1B2340"/>
                </a:solidFill>
                <a:latin typeface="Calibri" pitchFamily="34" charset="0"/>
                <a:ea typeface="Calibri" pitchFamily="34" charset="-122"/>
                <a:cs typeface="Calibri" pitchFamily="34" charset="-120"/>
              </a:rPr>
              <a:t>Small business loans default most (25.6%) and are the only purpose with sub-100% recovery</a:t>
            </a:r>
            <a:endParaRPr lang="en-US" sz="1080" dirty="0"/>
          </a:p>
        </p:txBody>
      </p:sp>
      <p:sp>
        <p:nvSpPr>
          <p:cNvPr id="19" name="Shape 17"/>
          <p:cNvSpPr/>
          <p:nvPr/>
        </p:nvSpPr>
        <p:spPr>
          <a:xfrm>
            <a:off x="6217920" y="3072384"/>
            <a:ext cx="292608" cy="292608"/>
          </a:xfrm>
          <a:prstGeom prst="ellipse">
            <a:avLst/>
          </a:prstGeom>
          <a:solidFill>
            <a:srgbClr val="1E2761"/>
          </a:solidFill>
          <a:ln/>
        </p:spPr>
      </p:sp>
      <p:sp>
        <p:nvSpPr>
          <p:cNvPr id="20" name="Text 18"/>
          <p:cNvSpPr/>
          <p:nvPr/>
        </p:nvSpPr>
        <p:spPr>
          <a:xfrm>
            <a:off x="6217920" y="307238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1" name="Text 19"/>
          <p:cNvSpPr/>
          <p:nvPr/>
        </p:nvSpPr>
        <p:spPr>
          <a:xfrm>
            <a:off x="6629400" y="3026664"/>
            <a:ext cx="4983480" cy="713232"/>
          </a:xfrm>
          <a:prstGeom prst="rect">
            <a:avLst/>
          </a:prstGeom>
          <a:noFill/>
          <a:ln/>
        </p:spPr>
        <p:txBody>
          <a:bodyPr wrap="square" rtlCol="0" anchor="ctr"/>
          <a:lstStyle/>
          <a:p>
            <a:pPr marL="0" indent="0">
              <a:lnSpc>
                <a:spcPct val="115000"/>
              </a:lnSpc>
              <a:buNone/>
            </a:pPr>
            <a:r>
              <a:rPr lang="en-US" sz="1080" dirty="0">
                <a:solidFill>
                  <a:srgbClr val="1B2340"/>
                </a:solidFill>
                <a:latin typeface="Calibri" pitchFamily="34" charset="0"/>
                <a:ea typeface="Calibri" pitchFamily="34" charset="-122"/>
                <a:cs typeface="Calibri" pitchFamily="34" charset="-120"/>
              </a:rPr>
              <a:t>Charged-off borrowers carry higher DTI (14.0% vs 13.2%) and pay ~2pts more interest</a:t>
            </a:r>
            <a:endParaRPr lang="en-US" sz="1080" dirty="0"/>
          </a:p>
        </p:txBody>
      </p:sp>
      <p:sp>
        <p:nvSpPr>
          <p:cNvPr id="22" name="Shape 20"/>
          <p:cNvSpPr/>
          <p:nvPr/>
        </p:nvSpPr>
        <p:spPr>
          <a:xfrm>
            <a:off x="548640" y="3831336"/>
            <a:ext cx="292608" cy="292608"/>
          </a:xfrm>
          <a:prstGeom prst="ellipse">
            <a:avLst/>
          </a:prstGeom>
          <a:solidFill>
            <a:srgbClr val="1E2761"/>
          </a:solidFill>
          <a:ln/>
        </p:spPr>
      </p:sp>
      <p:sp>
        <p:nvSpPr>
          <p:cNvPr id="23" name="Text 21"/>
          <p:cNvSpPr/>
          <p:nvPr/>
        </p:nvSpPr>
        <p:spPr>
          <a:xfrm>
            <a:off x="548640" y="383133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4" name="Text 22"/>
          <p:cNvSpPr/>
          <p:nvPr/>
        </p:nvSpPr>
        <p:spPr>
          <a:xfrm>
            <a:off x="960120" y="3785616"/>
            <a:ext cx="4983480" cy="713232"/>
          </a:xfrm>
          <a:prstGeom prst="rect">
            <a:avLst/>
          </a:prstGeom>
          <a:noFill/>
          <a:ln/>
        </p:spPr>
        <p:txBody>
          <a:bodyPr wrap="square" rtlCol="0" anchor="ctr"/>
          <a:lstStyle/>
          <a:p>
            <a:pPr marL="0" indent="0">
              <a:lnSpc>
                <a:spcPct val="115000"/>
              </a:lnSpc>
              <a:buNone/>
            </a:pPr>
            <a:r>
              <a:rPr lang="en-US" sz="1080" dirty="0">
                <a:solidFill>
                  <a:srgbClr val="1B2340"/>
                </a:solidFill>
                <a:latin typeface="Calibri" pitchFamily="34" charset="0"/>
                <a:ea typeface="Calibri" pitchFamily="34" charset="-122"/>
                <a:cs typeface="Calibri" pitchFamily="34" charset="-120"/>
              </a:rPr>
              <a:t>Debt consolidation is the top loan purpose — 18,214 loans, 47% of the portfolio</a:t>
            </a:r>
            <a:endParaRPr lang="en-US" sz="1080" dirty="0"/>
          </a:p>
        </p:txBody>
      </p:sp>
      <p:sp>
        <p:nvSpPr>
          <p:cNvPr id="25" name="Shape 23"/>
          <p:cNvSpPr/>
          <p:nvPr/>
        </p:nvSpPr>
        <p:spPr>
          <a:xfrm>
            <a:off x="6217920" y="3831336"/>
            <a:ext cx="292608" cy="292608"/>
          </a:xfrm>
          <a:prstGeom prst="ellipse">
            <a:avLst/>
          </a:prstGeom>
          <a:solidFill>
            <a:srgbClr val="1E2761"/>
          </a:solidFill>
          <a:ln/>
        </p:spPr>
      </p:sp>
      <p:sp>
        <p:nvSpPr>
          <p:cNvPr id="26" name="Text 24"/>
          <p:cNvSpPr/>
          <p:nvPr/>
        </p:nvSpPr>
        <p:spPr>
          <a:xfrm>
            <a:off x="6217920" y="383133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27" name="Text 25"/>
          <p:cNvSpPr/>
          <p:nvPr/>
        </p:nvSpPr>
        <p:spPr>
          <a:xfrm>
            <a:off x="6629400" y="3785616"/>
            <a:ext cx="4983480" cy="713232"/>
          </a:xfrm>
          <a:prstGeom prst="rect">
            <a:avLst/>
          </a:prstGeom>
          <a:noFill/>
          <a:ln/>
        </p:spPr>
        <p:txBody>
          <a:bodyPr wrap="square" rtlCol="0" anchor="ctr"/>
          <a:lstStyle/>
          <a:p>
            <a:pPr marL="0" indent="0">
              <a:lnSpc>
                <a:spcPct val="115000"/>
              </a:lnSpc>
              <a:buNone/>
            </a:pPr>
            <a:r>
              <a:rPr lang="en-US" sz="1080" dirty="0">
                <a:solidFill>
                  <a:srgbClr val="1B2340"/>
                </a:solidFill>
                <a:latin typeface="Calibri" pitchFamily="34" charset="0"/>
                <a:ea typeface="Calibri" pitchFamily="34" charset="-122"/>
                <a:cs typeface="Calibri" pitchFamily="34" charset="-120"/>
              </a:rPr>
              <a:t>Nevada, Florida, and Missouri show the highest charge-off rates among high-volume states</a:t>
            </a:r>
            <a:endParaRPr lang="en-US" sz="1080" dirty="0"/>
          </a:p>
        </p:txBody>
      </p:sp>
      <p:sp>
        <p:nvSpPr>
          <p:cNvPr id="28" name="Shape 26"/>
          <p:cNvSpPr/>
          <p:nvPr/>
        </p:nvSpPr>
        <p:spPr>
          <a:xfrm>
            <a:off x="548640" y="4590288"/>
            <a:ext cx="292608" cy="292608"/>
          </a:xfrm>
          <a:prstGeom prst="ellipse">
            <a:avLst/>
          </a:prstGeom>
          <a:solidFill>
            <a:srgbClr val="1E2761"/>
          </a:solidFill>
          <a:ln/>
        </p:spPr>
      </p:sp>
      <p:sp>
        <p:nvSpPr>
          <p:cNvPr id="29" name="Text 27"/>
          <p:cNvSpPr/>
          <p:nvPr/>
        </p:nvSpPr>
        <p:spPr>
          <a:xfrm>
            <a:off x="548640" y="459028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30" name="Text 28"/>
          <p:cNvSpPr/>
          <p:nvPr/>
        </p:nvSpPr>
        <p:spPr>
          <a:xfrm>
            <a:off x="960120" y="4544568"/>
            <a:ext cx="4983480" cy="713232"/>
          </a:xfrm>
          <a:prstGeom prst="rect">
            <a:avLst/>
          </a:prstGeom>
          <a:noFill/>
          <a:ln/>
        </p:spPr>
        <p:txBody>
          <a:bodyPr wrap="square" rtlCol="0" anchor="ctr"/>
          <a:lstStyle/>
          <a:p>
            <a:pPr marL="0" indent="0">
              <a:lnSpc>
                <a:spcPct val="115000"/>
              </a:lnSpc>
              <a:buNone/>
            </a:pPr>
            <a:r>
              <a:rPr lang="en-US" sz="1080" dirty="0">
                <a:solidFill>
                  <a:srgbClr val="1B2340"/>
                </a:solidFill>
                <a:latin typeface="Calibri" pitchFamily="34" charset="0"/>
                <a:ea typeface="Calibri" pitchFamily="34" charset="-122"/>
                <a:cs typeface="Calibri" pitchFamily="34" charset="-120"/>
              </a:rPr>
              <a:t>California carries the largest loan volume but a near-average charge-off rate</a:t>
            </a:r>
            <a:endParaRPr lang="en-US" sz="1080" dirty="0"/>
          </a:p>
        </p:txBody>
      </p:sp>
      <p:sp>
        <p:nvSpPr>
          <p:cNvPr id="31" name="Shape 29"/>
          <p:cNvSpPr/>
          <p:nvPr/>
        </p:nvSpPr>
        <p:spPr>
          <a:xfrm>
            <a:off x="6217920" y="4590288"/>
            <a:ext cx="292608" cy="292608"/>
          </a:xfrm>
          <a:prstGeom prst="ellipse">
            <a:avLst/>
          </a:prstGeom>
          <a:solidFill>
            <a:srgbClr val="1E2761"/>
          </a:solidFill>
          <a:ln/>
        </p:spPr>
      </p:sp>
      <p:sp>
        <p:nvSpPr>
          <p:cNvPr id="32" name="Text 30"/>
          <p:cNvSpPr/>
          <p:nvPr/>
        </p:nvSpPr>
        <p:spPr>
          <a:xfrm>
            <a:off x="6217920" y="459028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33" name="Text 31"/>
          <p:cNvSpPr/>
          <p:nvPr/>
        </p:nvSpPr>
        <p:spPr>
          <a:xfrm>
            <a:off x="6629400" y="4544568"/>
            <a:ext cx="4983480" cy="713232"/>
          </a:xfrm>
          <a:prstGeom prst="rect">
            <a:avLst/>
          </a:prstGeom>
          <a:noFill/>
          <a:ln/>
        </p:spPr>
        <p:txBody>
          <a:bodyPr wrap="square" rtlCol="0" anchor="ctr"/>
          <a:lstStyle/>
          <a:p>
            <a:pPr marL="0" indent="0">
              <a:lnSpc>
                <a:spcPct val="115000"/>
              </a:lnSpc>
              <a:buNone/>
            </a:pPr>
            <a:r>
              <a:rPr lang="en-US" sz="1080" dirty="0">
                <a:solidFill>
                  <a:srgbClr val="1B2340"/>
                </a:solidFill>
                <a:latin typeface="Calibri" pitchFamily="34" charset="0"/>
                <a:ea typeface="Calibri" pitchFamily="34" charset="-122"/>
                <a:cs typeface="Calibri" pitchFamily="34" charset="-120"/>
              </a:rPr>
              <a:t>Portfolio-wide collections ($473M) exceed funded capital ($436M) despite charge-offs</a:t>
            </a:r>
            <a:endParaRPr lang="en-US" sz="1080" dirty="0"/>
          </a:p>
        </p:txBody>
      </p:sp>
      <p:sp>
        <p:nvSpPr>
          <p:cNvPr id="34" name="Shape 32"/>
          <p:cNvSpPr/>
          <p:nvPr/>
        </p:nvSpPr>
        <p:spPr>
          <a:xfrm>
            <a:off x="548640" y="5349240"/>
            <a:ext cx="292608" cy="292608"/>
          </a:xfrm>
          <a:prstGeom prst="ellipse">
            <a:avLst/>
          </a:prstGeom>
          <a:solidFill>
            <a:srgbClr val="1E2761"/>
          </a:solidFill>
          <a:ln/>
        </p:spPr>
      </p:sp>
      <p:sp>
        <p:nvSpPr>
          <p:cNvPr id="35" name="Text 33"/>
          <p:cNvSpPr/>
          <p:nvPr/>
        </p:nvSpPr>
        <p:spPr>
          <a:xfrm>
            <a:off x="548640" y="534924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36" name="Text 34"/>
          <p:cNvSpPr/>
          <p:nvPr/>
        </p:nvSpPr>
        <p:spPr>
          <a:xfrm>
            <a:off x="960120" y="5303520"/>
            <a:ext cx="4983480" cy="713232"/>
          </a:xfrm>
          <a:prstGeom prst="rect">
            <a:avLst/>
          </a:prstGeom>
          <a:noFill/>
          <a:ln/>
        </p:spPr>
        <p:txBody>
          <a:bodyPr wrap="square" rtlCol="0" anchor="ctr"/>
          <a:lstStyle/>
          <a:p>
            <a:pPr marL="0" indent="0">
              <a:lnSpc>
                <a:spcPct val="115000"/>
              </a:lnSpc>
              <a:buNone/>
            </a:pPr>
            <a:r>
              <a:rPr lang="en-US" sz="1080" dirty="0">
                <a:solidFill>
                  <a:srgbClr val="1B2340"/>
                </a:solidFill>
                <a:latin typeface="Calibri" pitchFamily="34" charset="0"/>
                <a:ea typeface="Calibri" pitchFamily="34" charset="-122"/>
                <a:cs typeface="Calibri" pitchFamily="34" charset="-120"/>
              </a:rPr>
              <a:t>Charged-off loans recover only 57% of principal — Good loans recover 104%+</a:t>
            </a:r>
            <a:endParaRPr lang="en-US" sz="1080" dirty="0"/>
          </a:p>
        </p:txBody>
      </p:sp>
      <p:sp>
        <p:nvSpPr>
          <p:cNvPr id="37" name="Shape 35"/>
          <p:cNvSpPr/>
          <p:nvPr/>
        </p:nvSpPr>
        <p:spPr>
          <a:xfrm>
            <a:off x="6217920" y="5349240"/>
            <a:ext cx="292608" cy="292608"/>
          </a:xfrm>
          <a:prstGeom prst="ellipse">
            <a:avLst/>
          </a:prstGeom>
          <a:solidFill>
            <a:srgbClr val="1E2761"/>
          </a:solidFill>
          <a:ln/>
        </p:spPr>
      </p:sp>
      <p:sp>
        <p:nvSpPr>
          <p:cNvPr id="38" name="Text 36"/>
          <p:cNvSpPr/>
          <p:nvPr/>
        </p:nvSpPr>
        <p:spPr>
          <a:xfrm>
            <a:off x="6217920" y="534924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39" name="Text 37"/>
          <p:cNvSpPr/>
          <p:nvPr/>
        </p:nvSpPr>
        <p:spPr>
          <a:xfrm>
            <a:off x="6629400" y="5303520"/>
            <a:ext cx="4983480" cy="713232"/>
          </a:xfrm>
          <a:prstGeom prst="rect">
            <a:avLst/>
          </a:prstGeom>
          <a:noFill/>
          <a:ln/>
        </p:spPr>
        <p:txBody>
          <a:bodyPr wrap="square" rtlCol="0" anchor="ctr"/>
          <a:lstStyle/>
          <a:p>
            <a:pPr marL="0" indent="0">
              <a:lnSpc>
                <a:spcPct val="115000"/>
              </a:lnSpc>
              <a:buNone/>
            </a:pPr>
            <a:r>
              <a:rPr lang="en-US" sz="1080" dirty="0">
                <a:solidFill>
                  <a:srgbClr val="1B2340"/>
                </a:solidFill>
                <a:latin typeface="Calibri" pitchFamily="34" charset="0"/>
                <a:ea typeface="Calibri" pitchFamily="34" charset="-122"/>
                <a:cs typeface="Calibri" pitchFamily="34" charset="-120"/>
              </a:rPr>
              <a:t>Wedding and major-purchase loans are the safest purposes by charge-off rate</a:t>
            </a:r>
            <a:endParaRPr lang="en-US" sz="1080" dirty="0"/>
          </a:p>
        </p:txBody>
      </p:sp>
      <p:sp>
        <p:nvSpPr>
          <p:cNvPr id="40" name="Text 38"/>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5B6B8C"/>
                </a:solidFill>
                <a:latin typeface="Calibri" pitchFamily="34" charset="0"/>
                <a:ea typeface="Calibri" pitchFamily="34" charset="-122"/>
                <a:cs typeface="Calibri" pitchFamily="34" charset="-120"/>
              </a:rPr>
              <a:t>Bank Loan Report Analysis</a:t>
            </a:r>
            <a:endParaRPr lang="en-US" sz="900" dirty="0"/>
          </a:p>
        </p:txBody>
      </p:sp>
      <p:sp>
        <p:nvSpPr>
          <p:cNvPr id="41" name="Text 39"/>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5B6B8C"/>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B44"/>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BUSINESS RECOMMENDATIONS</a:t>
            </a:r>
            <a:endParaRPr lang="en-US" sz="1200" dirty="0"/>
          </a:p>
        </p:txBody>
      </p:sp>
      <p:sp>
        <p:nvSpPr>
          <p:cNvPr id="3" name="Text 1"/>
          <p:cNvSpPr/>
          <p:nvPr/>
        </p:nvSpPr>
        <p:spPr>
          <a:xfrm>
            <a:off x="548640" y="713232"/>
            <a:ext cx="8686800" cy="548640"/>
          </a:xfrm>
          <a:prstGeom prst="rect">
            <a:avLst/>
          </a:prstGeom>
          <a:noFill/>
          <a:ln/>
        </p:spPr>
        <p:txBody>
          <a:bodyPr wrap="square"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Turning findings into credit policy actions</a:t>
            </a:r>
            <a:endParaRPr lang="en-US" sz="2500" dirty="0"/>
          </a:p>
        </p:txBody>
      </p:sp>
      <p:sp>
        <p:nvSpPr>
          <p:cNvPr id="4" name="Shape 2"/>
          <p:cNvSpPr/>
          <p:nvPr/>
        </p:nvSpPr>
        <p:spPr>
          <a:xfrm>
            <a:off x="548640" y="1554480"/>
            <a:ext cx="5257800" cy="960120"/>
          </a:xfrm>
          <a:prstGeom prst="roundRect">
            <a:avLst>
              <a:gd name="adj" fmla="val 7619"/>
            </a:avLst>
          </a:prstGeom>
          <a:solidFill>
            <a:srgbClr val="1E2761"/>
          </a:solidFill>
          <a:ln/>
        </p:spPr>
      </p:sp>
      <p:sp>
        <p:nvSpPr>
          <p:cNvPr id="5" name="Shape 3"/>
          <p:cNvSpPr/>
          <p:nvPr/>
        </p:nvSpPr>
        <p:spPr>
          <a:xfrm>
            <a:off x="731520" y="1805940"/>
            <a:ext cx="457200" cy="457200"/>
          </a:xfrm>
          <a:prstGeom prst="ellipse">
            <a:avLst/>
          </a:prstGeom>
          <a:solidFill>
            <a:srgbClr val="C9A227"/>
          </a:solidFill>
          <a:ln/>
        </p:spPr>
      </p:sp>
      <p:sp>
        <p:nvSpPr>
          <p:cNvPr id="6" name="Text 4"/>
          <p:cNvSpPr/>
          <p:nvPr/>
        </p:nvSpPr>
        <p:spPr>
          <a:xfrm>
            <a:off x="731520" y="1805940"/>
            <a:ext cx="457200" cy="457200"/>
          </a:xfrm>
          <a:prstGeom prst="rect">
            <a:avLst/>
          </a:prstGeom>
          <a:noFill/>
          <a:ln/>
        </p:spPr>
        <p:txBody>
          <a:bodyPr wrap="square" lIns="0" tIns="0" rIns="0" bIns="0" rtlCol="0" anchor="ctr"/>
          <a:lstStyle/>
          <a:p>
            <a:pPr marL="0" indent="0" algn="ctr">
              <a:buNone/>
            </a:pPr>
            <a:r>
              <a:rPr lang="en-US" sz="1600" b="1" dirty="0">
                <a:solidFill>
                  <a:srgbClr val="141B44"/>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325880" y="1554480"/>
            <a:ext cx="4297680" cy="960120"/>
          </a:xfrm>
          <a:prstGeom prst="rect">
            <a:avLst/>
          </a:prstGeom>
          <a:noFill/>
          <a:ln/>
        </p:spPr>
        <p:txBody>
          <a:bodyPr wrap="square"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Tighten underwriting for Grade D–G, especially on 60-month terms</a:t>
            </a:r>
            <a:endParaRPr lang="en-US" sz="1150" dirty="0"/>
          </a:p>
        </p:txBody>
      </p:sp>
      <p:sp>
        <p:nvSpPr>
          <p:cNvPr id="8" name="Shape 6"/>
          <p:cNvSpPr/>
          <p:nvPr/>
        </p:nvSpPr>
        <p:spPr>
          <a:xfrm>
            <a:off x="6172200" y="1554480"/>
            <a:ext cx="5257800" cy="960120"/>
          </a:xfrm>
          <a:prstGeom prst="roundRect">
            <a:avLst>
              <a:gd name="adj" fmla="val 7619"/>
            </a:avLst>
          </a:prstGeom>
          <a:solidFill>
            <a:srgbClr val="1E2761"/>
          </a:solidFill>
          <a:ln/>
        </p:spPr>
      </p:sp>
      <p:sp>
        <p:nvSpPr>
          <p:cNvPr id="9" name="Shape 7"/>
          <p:cNvSpPr/>
          <p:nvPr/>
        </p:nvSpPr>
        <p:spPr>
          <a:xfrm>
            <a:off x="6355080" y="1805940"/>
            <a:ext cx="457200" cy="457200"/>
          </a:xfrm>
          <a:prstGeom prst="ellipse">
            <a:avLst/>
          </a:prstGeom>
          <a:solidFill>
            <a:srgbClr val="C9A227"/>
          </a:solidFill>
          <a:ln/>
        </p:spPr>
      </p:sp>
      <p:sp>
        <p:nvSpPr>
          <p:cNvPr id="10" name="Text 8"/>
          <p:cNvSpPr/>
          <p:nvPr/>
        </p:nvSpPr>
        <p:spPr>
          <a:xfrm>
            <a:off x="6355080" y="1805940"/>
            <a:ext cx="457200" cy="457200"/>
          </a:xfrm>
          <a:prstGeom prst="rect">
            <a:avLst/>
          </a:prstGeom>
          <a:noFill/>
          <a:ln/>
        </p:spPr>
        <p:txBody>
          <a:bodyPr wrap="square" lIns="0" tIns="0" rIns="0" bIns="0" rtlCol="0" anchor="ctr"/>
          <a:lstStyle/>
          <a:p>
            <a:pPr marL="0" indent="0" algn="ctr">
              <a:buNone/>
            </a:pPr>
            <a:r>
              <a:rPr lang="en-US" sz="1600" b="1" dirty="0">
                <a:solidFill>
                  <a:srgbClr val="141B44"/>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6949440" y="1554480"/>
            <a:ext cx="4297680" cy="960120"/>
          </a:xfrm>
          <a:prstGeom prst="rect">
            <a:avLst/>
          </a:prstGeom>
          <a:noFill/>
          <a:ln/>
        </p:spPr>
        <p:txBody>
          <a:bodyPr wrap="square"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Add extra scrutiny for small-business loan applications</a:t>
            </a:r>
            <a:endParaRPr lang="en-US" sz="1150" dirty="0"/>
          </a:p>
        </p:txBody>
      </p:sp>
      <p:sp>
        <p:nvSpPr>
          <p:cNvPr id="12" name="Shape 10"/>
          <p:cNvSpPr/>
          <p:nvPr/>
        </p:nvSpPr>
        <p:spPr>
          <a:xfrm>
            <a:off x="548640" y="2743200"/>
            <a:ext cx="5257800" cy="960120"/>
          </a:xfrm>
          <a:prstGeom prst="roundRect">
            <a:avLst>
              <a:gd name="adj" fmla="val 7619"/>
            </a:avLst>
          </a:prstGeom>
          <a:solidFill>
            <a:srgbClr val="1E2761"/>
          </a:solidFill>
          <a:ln/>
        </p:spPr>
      </p:sp>
      <p:sp>
        <p:nvSpPr>
          <p:cNvPr id="13" name="Shape 11"/>
          <p:cNvSpPr/>
          <p:nvPr/>
        </p:nvSpPr>
        <p:spPr>
          <a:xfrm>
            <a:off x="731520" y="2994660"/>
            <a:ext cx="457200" cy="457200"/>
          </a:xfrm>
          <a:prstGeom prst="ellipse">
            <a:avLst/>
          </a:prstGeom>
          <a:solidFill>
            <a:srgbClr val="C9A227"/>
          </a:solidFill>
          <a:ln/>
        </p:spPr>
      </p:sp>
      <p:sp>
        <p:nvSpPr>
          <p:cNvPr id="14" name="Text 12"/>
          <p:cNvSpPr/>
          <p:nvPr/>
        </p:nvSpPr>
        <p:spPr>
          <a:xfrm>
            <a:off x="731520" y="2994660"/>
            <a:ext cx="457200" cy="457200"/>
          </a:xfrm>
          <a:prstGeom prst="rect">
            <a:avLst/>
          </a:prstGeom>
          <a:noFill/>
          <a:ln/>
        </p:spPr>
        <p:txBody>
          <a:bodyPr wrap="square" lIns="0" tIns="0" rIns="0" bIns="0" rtlCol="0" anchor="ctr"/>
          <a:lstStyle/>
          <a:p>
            <a:pPr marL="0" indent="0" algn="ctr">
              <a:buNone/>
            </a:pPr>
            <a:r>
              <a:rPr lang="en-US" sz="1600" b="1" dirty="0">
                <a:solidFill>
                  <a:srgbClr val="141B44"/>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1325880" y="2743200"/>
            <a:ext cx="4297680" cy="960120"/>
          </a:xfrm>
          <a:prstGeom prst="rect">
            <a:avLst/>
          </a:prstGeom>
          <a:noFill/>
          <a:ln/>
        </p:spPr>
        <p:txBody>
          <a:bodyPr wrap="square"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Flag and monitor applicants with DTI above 14% at approval</a:t>
            </a:r>
            <a:endParaRPr lang="en-US" sz="1150" dirty="0"/>
          </a:p>
        </p:txBody>
      </p:sp>
      <p:sp>
        <p:nvSpPr>
          <p:cNvPr id="16" name="Shape 14"/>
          <p:cNvSpPr/>
          <p:nvPr/>
        </p:nvSpPr>
        <p:spPr>
          <a:xfrm>
            <a:off x="6172200" y="2743200"/>
            <a:ext cx="5257800" cy="960120"/>
          </a:xfrm>
          <a:prstGeom prst="roundRect">
            <a:avLst>
              <a:gd name="adj" fmla="val 7619"/>
            </a:avLst>
          </a:prstGeom>
          <a:solidFill>
            <a:srgbClr val="1E2761"/>
          </a:solidFill>
          <a:ln/>
        </p:spPr>
      </p:sp>
      <p:sp>
        <p:nvSpPr>
          <p:cNvPr id="17" name="Shape 15"/>
          <p:cNvSpPr/>
          <p:nvPr/>
        </p:nvSpPr>
        <p:spPr>
          <a:xfrm>
            <a:off x="6355080" y="2994660"/>
            <a:ext cx="457200" cy="457200"/>
          </a:xfrm>
          <a:prstGeom prst="ellipse">
            <a:avLst/>
          </a:prstGeom>
          <a:solidFill>
            <a:srgbClr val="C9A227"/>
          </a:solidFill>
          <a:ln/>
        </p:spPr>
      </p:sp>
      <p:sp>
        <p:nvSpPr>
          <p:cNvPr id="18" name="Text 16"/>
          <p:cNvSpPr/>
          <p:nvPr/>
        </p:nvSpPr>
        <p:spPr>
          <a:xfrm>
            <a:off x="6355080" y="2994660"/>
            <a:ext cx="457200" cy="457200"/>
          </a:xfrm>
          <a:prstGeom prst="rect">
            <a:avLst/>
          </a:prstGeom>
          <a:noFill/>
          <a:ln/>
        </p:spPr>
        <p:txBody>
          <a:bodyPr wrap="square" lIns="0" tIns="0" rIns="0" bIns="0" rtlCol="0" anchor="ctr"/>
          <a:lstStyle/>
          <a:p>
            <a:pPr marL="0" indent="0" algn="ctr">
              <a:buNone/>
            </a:pPr>
            <a:r>
              <a:rPr lang="en-US" sz="1600" b="1" dirty="0">
                <a:solidFill>
                  <a:srgbClr val="141B44"/>
                </a:solidFill>
                <a:latin typeface="Calibri" pitchFamily="34" charset="0"/>
                <a:ea typeface="Calibri" pitchFamily="34" charset="-122"/>
                <a:cs typeface="Calibri" pitchFamily="34" charset="-120"/>
              </a:rPr>
              <a:t>4</a:t>
            </a:r>
            <a:endParaRPr lang="en-US" sz="1600" dirty="0"/>
          </a:p>
        </p:txBody>
      </p:sp>
      <p:sp>
        <p:nvSpPr>
          <p:cNvPr id="19" name="Text 17"/>
          <p:cNvSpPr/>
          <p:nvPr/>
        </p:nvSpPr>
        <p:spPr>
          <a:xfrm>
            <a:off x="6949440" y="2743200"/>
            <a:ext cx="4297680" cy="960120"/>
          </a:xfrm>
          <a:prstGeom prst="rect">
            <a:avLst/>
          </a:prstGeom>
          <a:noFill/>
          <a:ln/>
        </p:spPr>
        <p:txBody>
          <a:bodyPr wrap="square"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Re-price or cap exposure in above-average-risk states (NV, FL, MO)</a:t>
            </a:r>
            <a:endParaRPr lang="en-US" sz="1150" dirty="0"/>
          </a:p>
        </p:txBody>
      </p:sp>
      <p:sp>
        <p:nvSpPr>
          <p:cNvPr id="20" name="Shape 18"/>
          <p:cNvSpPr/>
          <p:nvPr/>
        </p:nvSpPr>
        <p:spPr>
          <a:xfrm>
            <a:off x="548640" y="3931920"/>
            <a:ext cx="5257800" cy="960120"/>
          </a:xfrm>
          <a:prstGeom prst="roundRect">
            <a:avLst>
              <a:gd name="adj" fmla="val 7619"/>
            </a:avLst>
          </a:prstGeom>
          <a:solidFill>
            <a:srgbClr val="1E2761"/>
          </a:solidFill>
          <a:ln/>
        </p:spPr>
      </p:sp>
      <p:sp>
        <p:nvSpPr>
          <p:cNvPr id="21" name="Shape 19"/>
          <p:cNvSpPr/>
          <p:nvPr/>
        </p:nvSpPr>
        <p:spPr>
          <a:xfrm>
            <a:off x="731520" y="4183380"/>
            <a:ext cx="457200" cy="457200"/>
          </a:xfrm>
          <a:prstGeom prst="ellipse">
            <a:avLst/>
          </a:prstGeom>
          <a:solidFill>
            <a:srgbClr val="C9A227"/>
          </a:solidFill>
          <a:ln/>
        </p:spPr>
      </p:sp>
      <p:sp>
        <p:nvSpPr>
          <p:cNvPr id="22" name="Text 20"/>
          <p:cNvSpPr/>
          <p:nvPr/>
        </p:nvSpPr>
        <p:spPr>
          <a:xfrm>
            <a:off x="731520" y="4183380"/>
            <a:ext cx="457200" cy="457200"/>
          </a:xfrm>
          <a:prstGeom prst="rect">
            <a:avLst/>
          </a:prstGeom>
          <a:noFill/>
          <a:ln/>
        </p:spPr>
        <p:txBody>
          <a:bodyPr wrap="square" lIns="0" tIns="0" rIns="0" bIns="0" rtlCol="0" anchor="ctr"/>
          <a:lstStyle/>
          <a:p>
            <a:pPr marL="0" indent="0" algn="ctr">
              <a:buNone/>
            </a:pPr>
            <a:r>
              <a:rPr lang="en-US" sz="1600" b="1" dirty="0">
                <a:solidFill>
                  <a:srgbClr val="141B44"/>
                </a:solidFill>
                <a:latin typeface="Calibri" pitchFamily="34" charset="0"/>
                <a:ea typeface="Calibri" pitchFamily="34" charset="-122"/>
                <a:cs typeface="Calibri" pitchFamily="34" charset="-120"/>
              </a:rPr>
              <a:t>5</a:t>
            </a:r>
            <a:endParaRPr lang="en-US" sz="1600" dirty="0"/>
          </a:p>
        </p:txBody>
      </p:sp>
      <p:sp>
        <p:nvSpPr>
          <p:cNvPr id="23" name="Text 21"/>
          <p:cNvSpPr/>
          <p:nvPr/>
        </p:nvSpPr>
        <p:spPr>
          <a:xfrm>
            <a:off x="1325880" y="3931920"/>
            <a:ext cx="4297680" cy="960120"/>
          </a:xfrm>
          <a:prstGeom prst="rect">
            <a:avLst/>
          </a:prstGeom>
          <a:noFill/>
          <a:ln/>
        </p:spPr>
        <p:txBody>
          <a:bodyPr wrap="square"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Reward Grade A/B, 36-month, low-DTI segments with faster approval</a:t>
            </a:r>
            <a:endParaRPr lang="en-US" sz="1150" dirty="0"/>
          </a:p>
        </p:txBody>
      </p:sp>
      <p:sp>
        <p:nvSpPr>
          <p:cNvPr id="24" name="Shape 22"/>
          <p:cNvSpPr/>
          <p:nvPr/>
        </p:nvSpPr>
        <p:spPr>
          <a:xfrm>
            <a:off x="6172200" y="3931920"/>
            <a:ext cx="5257800" cy="960120"/>
          </a:xfrm>
          <a:prstGeom prst="roundRect">
            <a:avLst>
              <a:gd name="adj" fmla="val 7619"/>
            </a:avLst>
          </a:prstGeom>
          <a:solidFill>
            <a:srgbClr val="1E2761"/>
          </a:solidFill>
          <a:ln/>
        </p:spPr>
      </p:sp>
      <p:sp>
        <p:nvSpPr>
          <p:cNvPr id="25" name="Shape 23"/>
          <p:cNvSpPr/>
          <p:nvPr/>
        </p:nvSpPr>
        <p:spPr>
          <a:xfrm>
            <a:off x="6355080" y="4183380"/>
            <a:ext cx="457200" cy="457200"/>
          </a:xfrm>
          <a:prstGeom prst="ellipse">
            <a:avLst/>
          </a:prstGeom>
          <a:solidFill>
            <a:srgbClr val="C9A227"/>
          </a:solidFill>
          <a:ln/>
        </p:spPr>
      </p:sp>
      <p:sp>
        <p:nvSpPr>
          <p:cNvPr id="26" name="Text 24"/>
          <p:cNvSpPr/>
          <p:nvPr/>
        </p:nvSpPr>
        <p:spPr>
          <a:xfrm>
            <a:off x="6355080" y="4183380"/>
            <a:ext cx="457200" cy="457200"/>
          </a:xfrm>
          <a:prstGeom prst="rect">
            <a:avLst/>
          </a:prstGeom>
          <a:noFill/>
          <a:ln/>
        </p:spPr>
        <p:txBody>
          <a:bodyPr wrap="square" lIns="0" tIns="0" rIns="0" bIns="0" rtlCol="0" anchor="ctr"/>
          <a:lstStyle/>
          <a:p>
            <a:pPr marL="0" indent="0" algn="ctr">
              <a:buNone/>
            </a:pPr>
            <a:r>
              <a:rPr lang="en-US" sz="1600" b="1" dirty="0">
                <a:solidFill>
                  <a:srgbClr val="141B44"/>
                </a:solidFill>
                <a:latin typeface="Calibri" pitchFamily="34" charset="0"/>
                <a:ea typeface="Calibri" pitchFamily="34" charset="-122"/>
                <a:cs typeface="Calibri" pitchFamily="34" charset="-120"/>
              </a:rPr>
              <a:t>6</a:t>
            </a:r>
            <a:endParaRPr lang="en-US" sz="1600" dirty="0"/>
          </a:p>
        </p:txBody>
      </p:sp>
      <p:sp>
        <p:nvSpPr>
          <p:cNvPr id="27" name="Text 25"/>
          <p:cNvSpPr/>
          <p:nvPr/>
        </p:nvSpPr>
        <p:spPr>
          <a:xfrm>
            <a:off x="6949440" y="3931920"/>
            <a:ext cx="4297680" cy="960120"/>
          </a:xfrm>
          <a:prstGeom prst="rect">
            <a:avLst/>
          </a:prstGeom>
          <a:noFill/>
          <a:ln/>
        </p:spPr>
        <p:txBody>
          <a:bodyPr wrap="square"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Automate this reporting in Power BI Service for monthly refresh</a:t>
            </a:r>
            <a:endParaRPr lang="en-US" sz="1150" dirty="0"/>
          </a:p>
        </p:txBody>
      </p:sp>
      <p:sp>
        <p:nvSpPr>
          <p:cNvPr id="28" name="Shape 26"/>
          <p:cNvSpPr/>
          <p:nvPr/>
        </p:nvSpPr>
        <p:spPr>
          <a:xfrm>
            <a:off x="548640" y="5120640"/>
            <a:ext cx="5257800" cy="960120"/>
          </a:xfrm>
          <a:prstGeom prst="roundRect">
            <a:avLst>
              <a:gd name="adj" fmla="val 7619"/>
            </a:avLst>
          </a:prstGeom>
          <a:solidFill>
            <a:srgbClr val="1E2761"/>
          </a:solidFill>
          <a:ln/>
        </p:spPr>
      </p:sp>
      <p:sp>
        <p:nvSpPr>
          <p:cNvPr id="29" name="Shape 27"/>
          <p:cNvSpPr/>
          <p:nvPr/>
        </p:nvSpPr>
        <p:spPr>
          <a:xfrm>
            <a:off x="731520" y="5372100"/>
            <a:ext cx="457200" cy="457200"/>
          </a:xfrm>
          <a:prstGeom prst="ellipse">
            <a:avLst/>
          </a:prstGeom>
          <a:solidFill>
            <a:srgbClr val="C9A227"/>
          </a:solidFill>
          <a:ln/>
        </p:spPr>
      </p:sp>
      <p:sp>
        <p:nvSpPr>
          <p:cNvPr id="30" name="Text 28"/>
          <p:cNvSpPr/>
          <p:nvPr/>
        </p:nvSpPr>
        <p:spPr>
          <a:xfrm>
            <a:off x="731520" y="5372100"/>
            <a:ext cx="457200" cy="457200"/>
          </a:xfrm>
          <a:prstGeom prst="rect">
            <a:avLst/>
          </a:prstGeom>
          <a:noFill/>
          <a:ln/>
        </p:spPr>
        <p:txBody>
          <a:bodyPr wrap="square" lIns="0" tIns="0" rIns="0" bIns="0" rtlCol="0" anchor="ctr"/>
          <a:lstStyle/>
          <a:p>
            <a:pPr marL="0" indent="0" algn="ctr">
              <a:buNone/>
            </a:pPr>
            <a:r>
              <a:rPr lang="en-US" sz="1600" b="1" dirty="0">
                <a:solidFill>
                  <a:srgbClr val="141B44"/>
                </a:solidFill>
                <a:latin typeface="Calibri" pitchFamily="34" charset="0"/>
                <a:ea typeface="Calibri" pitchFamily="34" charset="-122"/>
                <a:cs typeface="Calibri" pitchFamily="34" charset="-120"/>
              </a:rPr>
              <a:t>7</a:t>
            </a:r>
            <a:endParaRPr lang="en-US" sz="1600" dirty="0"/>
          </a:p>
        </p:txBody>
      </p:sp>
      <p:sp>
        <p:nvSpPr>
          <p:cNvPr id="31" name="Text 29"/>
          <p:cNvSpPr/>
          <p:nvPr/>
        </p:nvSpPr>
        <p:spPr>
          <a:xfrm>
            <a:off x="1325880" y="5120640"/>
            <a:ext cx="4297680" cy="960120"/>
          </a:xfrm>
          <a:prstGeom prst="rect">
            <a:avLst/>
          </a:prstGeom>
          <a:noFill/>
          <a:ln/>
        </p:spPr>
        <p:txBody>
          <a:bodyPr wrap="square"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Pilot a predictive default model using grade, term, DTI, and purpose</a:t>
            </a:r>
            <a:endParaRPr lang="en-US" sz="1150" dirty="0"/>
          </a:p>
        </p:txBody>
      </p:sp>
      <p:sp>
        <p:nvSpPr>
          <p:cNvPr id="32" name="Shape 30"/>
          <p:cNvSpPr/>
          <p:nvPr/>
        </p:nvSpPr>
        <p:spPr>
          <a:xfrm>
            <a:off x="6172200" y="5120640"/>
            <a:ext cx="5257800" cy="960120"/>
          </a:xfrm>
          <a:prstGeom prst="roundRect">
            <a:avLst>
              <a:gd name="adj" fmla="val 7619"/>
            </a:avLst>
          </a:prstGeom>
          <a:solidFill>
            <a:srgbClr val="1E2761"/>
          </a:solidFill>
          <a:ln/>
        </p:spPr>
      </p:sp>
      <p:sp>
        <p:nvSpPr>
          <p:cNvPr id="33" name="Shape 31"/>
          <p:cNvSpPr/>
          <p:nvPr/>
        </p:nvSpPr>
        <p:spPr>
          <a:xfrm>
            <a:off x="6355080" y="5372100"/>
            <a:ext cx="457200" cy="457200"/>
          </a:xfrm>
          <a:prstGeom prst="ellipse">
            <a:avLst/>
          </a:prstGeom>
          <a:solidFill>
            <a:srgbClr val="C9A227"/>
          </a:solidFill>
          <a:ln/>
        </p:spPr>
      </p:sp>
      <p:sp>
        <p:nvSpPr>
          <p:cNvPr id="34" name="Text 32"/>
          <p:cNvSpPr/>
          <p:nvPr/>
        </p:nvSpPr>
        <p:spPr>
          <a:xfrm>
            <a:off x="6355080" y="5372100"/>
            <a:ext cx="457200" cy="457200"/>
          </a:xfrm>
          <a:prstGeom prst="rect">
            <a:avLst/>
          </a:prstGeom>
          <a:noFill/>
          <a:ln/>
        </p:spPr>
        <p:txBody>
          <a:bodyPr wrap="square" lIns="0" tIns="0" rIns="0" bIns="0" rtlCol="0" anchor="ctr"/>
          <a:lstStyle/>
          <a:p>
            <a:pPr marL="0" indent="0" algn="ctr">
              <a:buNone/>
            </a:pPr>
            <a:r>
              <a:rPr lang="en-US" sz="1600" b="1" dirty="0">
                <a:solidFill>
                  <a:srgbClr val="141B44"/>
                </a:solidFill>
                <a:latin typeface="Calibri" pitchFamily="34" charset="0"/>
                <a:ea typeface="Calibri" pitchFamily="34" charset="-122"/>
                <a:cs typeface="Calibri" pitchFamily="34" charset="-120"/>
              </a:rPr>
              <a:t>8</a:t>
            </a:r>
            <a:endParaRPr lang="en-US" sz="1600" dirty="0"/>
          </a:p>
        </p:txBody>
      </p:sp>
      <p:sp>
        <p:nvSpPr>
          <p:cNvPr id="35" name="Text 33"/>
          <p:cNvSpPr/>
          <p:nvPr/>
        </p:nvSpPr>
        <p:spPr>
          <a:xfrm>
            <a:off x="6949440" y="5120640"/>
            <a:ext cx="4297680" cy="960120"/>
          </a:xfrm>
          <a:prstGeom prst="rect">
            <a:avLst/>
          </a:prstGeom>
          <a:noFill/>
          <a:ln/>
        </p:spPr>
        <p:txBody>
          <a:bodyPr wrap="square"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Build customer segments around the good-loan profile for targeted offers</a:t>
            </a:r>
            <a:endParaRPr lang="en-US" sz="1150" dirty="0"/>
          </a:p>
        </p:txBody>
      </p:sp>
      <p:sp>
        <p:nvSpPr>
          <p:cNvPr id="36" name="Text 34"/>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5B6B8C"/>
                </a:solidFill>
                <a:latin typeface="Calibri" pitchFamily="34" charset="0"/>
                <a:ea typeface="Calibri" pitchFamily="34" charset="-122"/>
                <a:cs typeface="Calibri" pitchFamily="34" charset="-120"/>
              </a:rPr>
              <a:t>Bank Loan Report Analysis</a:t>
            </a:r>
            <a:endParaRPr lang="en-US" sz="900" dirty="0"/>
          </a:p>
        </p:txBody>
      </p:sp>
      <p:sp>
        <p:nvSpPr>
          <p:cNvPr id="37" name="Text 35"/>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5B6B8C"/>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TOOLS &amp; TECHNOLOGIES USED</a:t>
            </a:r>
            <a:endParaRPr lang="en-US" sz="1200" dirty="0"/>
          </a:p>
        </p:txBody>
      </p:sp>
      <p:sp>
        <p:nvSpPr>
          <p:cNvPr id="3" name="Text 1"/>
          <p:cNvSpPr/>
          <p:nvPr/>
        </p:nvSpPr>
        <p:spPr>
          <a:xfrm>
            <a:off x="548640" y="713232"/>
            <a:ext cx="8961120" cy="548640"/>
          </a:xfrm>
          <a:prstGeom prst="rect">
            <a:avLst/>
          </a:prstGeom>
          <a:noFill/>
          <a:ln/>
        </p:spPr>
        <p:txBody>
          <a:bodyPr wrap="square" rtlCol="0" anchor="ctr"/>
          <a:lstStyle/>
          <a:p>
            <a:pPr marL="0" indent="0">
              <a:buNone/>
            </a:pPr>
            <a:r>
              <a:rPr lang="en-US" sz="2400" b="1" dirty="0">
                <a:solidFill>
                  <a:srgbClr val="1B2340"/>
                </a:solidFill>
                <a:latin typeface="Cambria" pitchFamily="34" charset="0"/>
                <a:ea typeface="Cambria" pitchFamily="34" charset="-122"/>
                <a:cs typeface="Cambria" pitchFamily="34" charset="-120"/>
              </a:rPr>
              <a:t>The right tool for each stage of the pipeline</a:t>
            </a:r>
            <a:endParaRPr lang="en-US" sz="2400" dirty="0"/>
          </a:p>
        </p:txBody>
      </p:sp>
      <p:sp>
        <p:nvSpPr>
          <p:cNvPr id="4" name="Shape 2"/>
          <p:cNvSpPr/>
          <p:nvPr/>
        </p:nvSpPr>
        <p:spPr>
          <a:xfrm>
            <a:off x="548640" y="1463040"/>
            <a:ext cx="3337560" cy="1828800"/>
          </a:xfrm>
          <a:prstGeom prst="roundRect">
            <a:avLst>
              <a:gd name="adj" fmla="val 4000"/>
            </a:avLst>
          </a:prstGeom>
          <a:solidFill>
            <a:srgbClr val="EEF3FC"/>
          </a:solidFill>
          <a:ln/>
        </p:spPr>
      </p:sp>
      <p:sp>
        <p:nvSpPr>
          <p:cNvPr id="5" name="Shape 3"/>
          <p:cNvSpPr/>
          <p:nvPr/>
        </p:nvSpPr>
        <p:spPr>
          <a:xfrm>
            <a:off x="731520" y="1645920"/>
            <a:ext cx="420624" cy="420624"/>
          </a:xfrm>
          <a:prstGeom prst="ellipse">
            <a:avLst/>
          </a:prstGeom>
          <a:solidFill>
            <a:srgbClr val="1E2761"/>
          </a:solidFill>
          <a:ln/>
        </p:spPr>
      </p:sp>
      <p:sp>
        <p:nvSpPr>
          <p:cNvPr id="6" name="Text 4"/>
          <p:cNvSpPr/>
          <p:nvPr/>
        </p:nvSpPr>
        <p:spPr>
          <a:xfrm>
            <a:off x="731520" y="164592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E</a:t>
            </a:r>
            <a:endParaRPr lang="en-US" sz="1600" dirty="0"/>
          </a:p>
        </p:txBody>
      </p:sp>
      <p:sp>
        <p:nvSpPr>
          <p:cNvPr id="7" name="Text 5"/>
          <p:cNvSpPr/>
          <p:nvPr/>
        </p:nvSpPr>
        <p:spPr>
          <a:xfrm>
            <a:off x="731520" y="2176272"/>
            <a:ext cx="2971800" cy="292608"/>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Excel</a:t>
            </a:r>
            <a:endParaRPr lang="en-US" sz="1250" dirty="0"/>
          </a:p>
        </p:txBody>
      </p:sp>
      <p:sp>
        <p:nvSpPr>
          <p:cNvPr id="8" name="Text 6"/>
          <p:cNvSpPr/>
          <p:nvPr/>
        </p:nvSpPr>
        <p:spPr>
          <a:xfrm>
            <a:off x="731520" y="2450592"/>
            <a:ext cx="2971800" cy="256032"/>
          </a:xfrm>
          <a:prstGeom prst="rect">
            <a:avLst/>
          </a:prstGeom>
          <a:noFill/>
          <a:ln/>
        </p:spPr>
        <p:txBody>
          <a:bodyPr wrap="square" rtlCol="0" anchor="ctr"/>
          <a:lstStyle/>
          <a:p>
            <a:pPr marL="0" indent="0">
              <a:buNone/>
            </a:pPr>
            <a:r>
              <a:rPr lang="en-US" sz="950" i="1" dirty="0">
                <a:solidFill>
                  <a:srgbClr val="C9A227"/>
                </a:solidFill>
                <a:latin typeface="Calibri" pitchFamily="34" charset="0"/>
                <a:ea typeface="Calibri" pitchFamily="34" charset="-122"/>
                <a:cs typeface="Calibri" pitchFamily="34" charset="-120"/>
              </a:rPr>
              <a:t>Source data storage</a:t>
            </a:r>
            <a:endParaRPr lang="en-US" sz="950" dirty="0"/>
          </a:p>
        </p:txBody>
      </p:sp>
      <p:sp>
        <p:nvSpPr>
          <p:cNvPr id="9" name="Text 7"/>
          <p:cNvSpPr/>
          <p:nvPr/>
        </p:nvSpPr>
        <p:spPr>
          <a:xfrm>
            <a:off x="731520" y="2697480"/>
            <a:ext cx="2971800" cy="548640"/>
          </a:xfrm>
          <a:prstGeom prst="rect">
            <a:avLst/>
          </a:prstGeom>
          <a:noFill/>
          <a:ln/>
        </p:spPr>
        <p:txBody>
          <a:bodyPr wrap="square" rtlCol="0" anchor="ctr"/>
          <a:lstStyle/>
          <a:p>
            <a:pPr marL="0" indent="0">
              <a:lnSpc>
                <a:spcPct val="115000"/>
              </a:lnSpc>
              <a:buNone/>
            </a:pPr>
            <a:r>
              <a:rPr lang="en-US" sz="900" dirty="0">
                <a:solidFill>
                  <a:srgbClr val="5B6B8C"/>
                </a:solidFill>
                <a:latin typeface="Calibri" pitchFamily="34" charset="0"/>
                <a:ea typeface="Calibri" pitchFamily="34" charset="-122"/>
                <a:cs typeface="Calibri" pitchFamily="34" charset="-120"/>
              </a:rPr>
              <a:t>Held the raw 38,576-row loan extract</a:t>
            </a:r>
            <a:endParaRPr lang="en-US" sz="900" dirty="0"/>
          </a:p>
        </p:txBody>
      </p:sp>
      <p:sp>
        <p:nvSpPr>
          <p:cNvPr id="10" name="Shape 8"/>
          <p:cNvSpPr/>
          <p:nvPr/>
        </p:nvSpPr>
        <p:spPr>
          <a:xfrm>
            <a:off x="4069080" y="1463040"/>
            <a:ext cx="3337560" cy="1828800"/>
          </a:xfrm>
          <a:prstGeom prst="roundRect">
            <a:avLst>
              <a:gd name="adj" fmla="val 4000"/>
            </a:avLst>
          </a:prstGeom>
          <a:solidFill>
            <a:srgbClr val="EEF3FC"/>
          </a:solidFill>
          <a:ln/>
        </p:spPr>
      </p:sp>
      <p:sp>
        <p:nvSpPr>
          <p:cNvPr id="11" name="Shape 9"/>
          <p:cNvSpPr/>
          <p:nvPr/>
        </p:nvSpPr>
        <p:spPr>
          <a:xfrm>
            <a:off x="4251960" y="1645920"/>
            <a:ext cx="420624" cy="420624"/>
          </a:xfrm>
          <a:prstGeom prst="ellipse">
            <a:avLst/>
          </a:prstGeom>
          <a:solidFill>
            <a:srgbClr val="1E2761"/>
          </a:solidFill>
          <a:ln/>
        </p:spPr>
      </p:sp>
      <p:sp>
        <p:nvSpPr>
          <p:cNvPr id="12" name="Text 10"/>
          <p:cNvSpPr/>
          <p:nvPr/>
        </p:nvSpPr>
        <p:spPr>
          <a:xfrm>
            <a:off x="4251960" y="164592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a:t>
            </a:r>
            <a:endParaRPr lang="en-US" sz="1600" dirty="0"/>
          </a:p>
        </p:txBody>
      </p:sp>
      <p:sp>
        <p:nvSpPr>
          <p:cNvPr id="13" name="Text 11"/>
          <p:cNvSpPr/>
          <p:nvPr/>
        </p:nvSpPr>
        <p:spPr>
          <a:xfrm>
            <a:off x="4251960" y="2176272"/>
            <a:ext cx="2971800" cy="292608"/>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SQL Server</a:t>
            </a:r>
            <a:endParaRPr lang="en-US" sz="1250" dirty="0"/>
          </a:p>
        </p:txBody>
      </p:sp>
      <p:sp>
        <p:nvSpPr>
          <p:cNvPr id="14" name="Text 12"/>
          <p:cNvSpPr/>
          <p:nvPr/>
        </p:nvSpPr>
        <p:spPr>
          <a:xfrm>
            <a:off x="4251960" y="2450592"/>
            <a:ext cx="2971800" cy="256032"/>
          </a:xfrm>
          <a:prstGeom prst="rect">
            <a:avLst/>
          </a:prstGeom>
          <a:noFill/>
          <a:ln/>
        </p:spPr>
        <p:txBody>
          <a:bodyPr wrap="square" rtlCol="0" anchor="ctr"/>
          <a:lstStyle/>
          <a:p>
            <a:pPr marL="0" indent="0">
              <a:buNone/>
            </a:pPr>
            <a:r>
              <a:rPr lang="en-US" sz="950" i="1" dirty="0">
                <a:solidFill>
                  <a:srgbClr val="C9A227"/>
                </a:solidFill>
                <a:latin typeface="Calibri" pitchFamily="34" charset="0"/>
                <a:ea typeface="Calibri" pitchFamily="34" charset="-122"/>
                <a:cs typeface="Calibri" pitchFamily="34" charset="-120"/>
              </a:rPr>
              <a:t>Querying &amp; KPI logic</a:t>
            </a:r>
            <a:endParaRPr lang="en-US" sz="950" dirty="0"/>
          </a:p>
        </p:txBody>
      </p:sp>
      <p:sp>
        <p:nvSpPr>
          <p:cNvPr id="15" name="Text 13"/>
          <p:cNvSpPr/>
          <p:nvPr/>
        </p:nvSpPr>
        <p:spPr>
          <a:xfrm>
            <a:off x="4251960" y="2697480"/>
            <a:ext cx="2971800" cy="548640"/>
          </a:xfrm>
          <a:prstGeom prst="rect">
            <a:avLst/>
          </a:prstGeom>
          <a:noFill/>
          <a:ln/>
        </p:spPr>
        <p:txBody>
          <a:bodyPr wrap="square" rtlCol="0" anchor="ctr"/>
          <a:lstStyle/>
          <a:p>
            <a:pPr marL="0" indent="0">
              <a:lnSpc>
                <a:spcPct val="115000"/>
              </a:lnSpc>
              <a:buNone/>
            </a:pPr>
            <a:r>
              <a:rPr lang="en-US" sz="900" dirty="0">
                <a:solidFill>
                  <a:srgbClr val="5B6B8C"/>
                </a:solidFill>
                <a:latin typeface="Calibri" pitchFamily="34" charset="0"/>
                <a:ea typeface="Calibri" pitchFamily="34" charset="-122"/>
                <a:cs typeface="Calibri" pitchFamily="34" charset="-120"/>
              </a:rPr>
              <a:t>Validated every metric before visualization</a:t>
            </a:r>
            <a:endParaRPr lang="en-US" sz="900" dirty="0"/>
          </a:p>
        </p:txBody>
      </p:sp>
      <p:sp>
        <p:nvSpPr>
          <p:cNvPr id="16" name="Shape 14"/>
          <p:cNvSpPr/>
          <p:nvPr/>
        </p:nvSpPr>
        <p:spPr>
          <a:xfrm>
            <a:off x="7589520" y="1463040"/>
            <a:ext cx="3337560" cy="1828800"/>
          </a:xfrm>
          <a:prstGeom prst="roundRect">
            <a:avLst>
              <a:gd name="adj" fmla="val 4000"/>
            </a:avLst>
          </a:prstGeom>
          <a:solidFill>
            <a:srgbClr val="EEF3FC"/>
          </a:solidFill>
          <a:ln/>
        </p:spPr>
      </p:sp>
      <p:sp>
        <p:nvSpPr>
          <p:cNvPr id="17" name="Shape 15"/>
          <p:cNvSpPr/>
          <p:nvPr/>
        </p:nvSpPr>
        <p:spPr>
          <a:xfrm>
            <a:off x="7772400" y="1645920"/>
            <a:ext cx="420624" cy="420624"/>
          </a:xfrm>
          <a:prstGeom prst="ellipse">
            <a:avLst/>
          </a:prstGeom>
          <a:solidFill>
            <a:srgbClr val="1E2761"/>
          </a:solidFill>
          <a:ln/>
        </p:spPr>
      </p:sp>
      <p:sp>
        <p:nvSpPr>
          <p:cNvPr id="18" name="Text 16"/>
          <p:cNvSpPr/>
          <p:nvPr/>
        </p:nvSpPr>
        <p:spPr>
          <a:xfrm>
            <a:off x="7772400" y="164592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a:t>
            </a:r>
            <a:endParaRPr lang="en-US" sz="1600" dirty="0"/>
          </a:p>
        </p:txBody>
      </p:sp>
      <p:sp>
        <p:nvSpPr>
          <p:cNvPr id="19" name="Text 17"/>
          <p:cNvSpPr/>
          <p:nvPr/>
        </p:nvSpPr>
        <p:spPr>
          <a:xfrm>
            <a:off x="7772400" y="2176272"/>
            <a:ext cx="2971800" cy="292608"/>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Power Query</a:t>
            </a:r>
            <a:endParaRPr lang="en-US" sz="1250" dirty="0"/>
          </a:p>
        </p:txBody>
      </p:sp>
      <p:sp>
        <p:nvSpPr>
          <p:cNvPr id="20" name="Text 18"/>
          <p:cNvSpPr/>
          <p:nvPr/>
        </p:nvSpPr>
        <p:spPr>
          <a:xfrm>
            <a:off x="7772400" y="2450592"/>
            <a:ext cx="2971800" cy="256032"/>
          </a:xfrm>
          <a:prstGeom prst="rect">
            <a:avLst/>
          </a:prstGeom>
          <a:noFill/>
          <a:ln/>
        </p:spPr>
        <p:txBody>
          <a:bodyPr wrap="square" rtlCol="0" anchor="ctr"/>
          <a:lstStyle/>
          <a:p>
            <a:pPr marL="0" indent="0">
              <a:buNone/>
            </a:pPr>
            <a:r>
              <a:rPr lang="en-US" sz="950" i="1" dirty="0">
                <a:solidFill>
                  <a:srgbClr val="C9A227"/>
                </a:solidFill>
                <a:latin typeface="Calibri" pitchFamily="34" charset="0"/>
                <a:ea typeface="Calibri" pitchFamily="34" charset="-122"/>
                <a:cs typeface="Calibri" pitchFamily="34" charset="-120"/>
              </a:rPr>
              <a:t>Data transformation</a:t>
            </a:r>
            <a:endParaRPr lang="en-US" sz="950" dirty="0"/>
          </a:p>
        </p:txBody>
      </p:sp>
      <p:sp>
        <p:nvSpPr>
          <p:cNvPr id="21" name="Text 19"/>
          <p:cNvSpPr/>
          <p:nvPr/>
        </p:nvSpPr>
        <p:spPr>
          <a:xfrm>
            <a:off x="7772400" y="2697480"/>
            <a:ext cx="2971800" cy="548640"/>
          </a:xfrm>
          <a:prstGeom prst="rect">
            <a:avLst/>
          </a:prstGeom>
          <a:noFill/>
          <a:ln/>
        </p:spPr>
        <p:txBody>
          <a:bodyPr wrap="square" rtlCol="0" anchor="ctr"/>
          <a:lstStyle/>
          <a:p>
            <a:pPr marL="0" indent="0">
              <a:lnSpc>
                <a:spcPct val="115000"/>
              </a:lnSpc>
              <a:buNone/>
            </a:pPr>
            <a:r>
              <a:rPr lang="en-US" sz="900" dirty="0">
                <a:solidFill>
                  <a:srgbClr val="5B6B8C"/>
                </a:solidFill>
                <a:latin typeface="Calibri" pitchFamily="34" charset="0"/>
                <a:ea typeface="Calibri" pitchFamily="34" charset="-122"/>
                <a:cs typeface="Calibri" pitchFamily="34" charset="-120"/>
              </a:rPr>
              <a:t>Shaped and loaded data into the model</a:t>
            </a:r>
            <a:endParaRPr lang="en-US" sz="900" dirty="0"/>
          </a:p>
        </p:txBody>
      </p:sp>
      <p:sp>
        <p:nvSpPr>
          <p:cNvPr id="22" name="Shape 20"/>
          <p:cNvSpPr/>
          <p:nvPr/>
        </p:nvSpPr>
        <p:spPr>
          <a:xfrm>
            <a:off x="11109960" y="1463040"/>
            <a:ext cx="3337560" cy="1828800"/>
          </a:xfrm>
          <a:prstGeom prst="roundRect">
            <a:avLst>
              <a:gd name="adj" fmla="val 4000"/>
            </a:avLst>
          </a:prstGeom>
          <a:solidFill>
            <a:srgbClr val="EEF3FC"/>
          </a:solidFill>
          <a:ln/>
        </p:spPr>
      </p:sp>
      <p:sp>
        <p:nvSpPr>
          <p:cNvPr id="23" name="Shape 21"/>
          <p:cNvSpPr/>
          <p:nvPr/>
        </p:nvSpPr>
        <p:spPr>
          <a:xfrm>
            <a:off x="11292840" y="1645920"/>
            <a:ext cx="420624" cy="420624"/>
          </a:xfrm>
          <a:prstGeom prst="ellipse">
            <a:avLst/>
          </a:prstGeom>
          <a:solidFill>
            <a:srgbClr val="1E2761"/>
          </a:solidFill>
          <a:ln/>
        </p:spPr>
      </p:sp>
      <p:sp>
        <p:nvSpPr>
          <p:cNvPr id="24" name="Text 22"/>
          <p:cNvSpPr/>
          <p:nvPr/>
        </p:nvSpPr>
        <p:spPr>
          <a:xfrm>
            <a:off x="11292840" y="164592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a:t>
            </a:r>
            <a:endParaRPr lang="en-US" sz="1600" dirty="0"/>
          </a:p>
        </p:txBody>
      </p:sp>
      <p:sp>
        <p:nvSpPr>
          <p:cNvPr id="25" name="Text 23"/>
          <p:cNvSpPr/>
          <p:nvPr/>
        </p:nvSpPr>
        <p:spPr>
          <a:xfrm>
            <a:off x="11292840" y="2176272"/>
            <a:ext cx="2971800" cy="292608"/>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Power BI</a:t>
            </a:r>
            <a:endParaRPr lang="en-US" sz="1250" dirty="0"/>
          </a:p>
        </p:txBody>
      </p:sp>
      <p:sp>
        <p:nvSpPr>
          <p:cNvPr id="26" name="Text 24"/>
          <p:cNvSpPr/>
          <p:nvPr/>
        </p:nvSpPr>
        <p:spPr>
          <a:xfrm>
            <a:off x="11292840" y="2450592"/>
            <a:ext cx="2971800" cy="256032"/>
          </a:xfrm>
          <a:prstGeom prst="rect">
            <a:avLst/>
          </a:prstGeom>
          <a:noFill/>
          <a:ln/>
        </p:spPr>
        <p:txBody>
          <a:bodyPr wrap="square" rtlCol="0" anchor="ctr"/>
          <a:lstStyle/>
          <a:p>
            <a:pPr marL="0" indent="0">
              <a:buNone/>
            </a:pPr>
            <a:r>
              <a:rPr lang="en-US" sz="950" i="1" dirty="0">
                <a:solidFill>
                  <a:srgbClr val="C9A227"/>
                </a:solidFill>
                <a:latin typeface="Calibri" pitchFamily="34" charset="0"/>
                <a:ea typeface="Calibri" pitchFamily="34" charset="-122"/>
                <a:cs typeface="Calibri" pitchFamily="34" charset="-120"/>
              </a:rPr>
              <a:t>Visualization &amp; reporting</a:t>
            </a:r>
            <a:endParaRPr lang="en-US" sz="950" dirty="0"/>
          </a:p>
        </p:txBody>
      </p:sp>
      <p:sp>
        <p:nvSpPr>
          <p:cNvPr id="27" name="Text 25"/>
          <p:cNvSpPr/>
          <p:nvPr/>
        </p:nvSpPr>
        <p:spPr>
          <a:xfrm>
            <a:off x="11292840" y="2697480"/>
            <a:ext cx="2971800" cy="548640"/>
          </a:xfrm>
          <a:prstGeom prst="rect">
            <a:avLst/>
          </a:prstGeom>
          <a:noFill/>
          <a:ln/>
        </p:spPr>
        <p:txBody>
          <a:bodyPr wrap="square" rtlCol="0" anchor="ctr"/>
          <a:lstStyle/>
          <a:p>
            <a:pPr marL="0" indent="0">
              <a:lnSpc>
                <a:spcPct val="115000"/>
              </a:lnSpc>
              <a:buNone/>
            </a:pPr>
            <a:r>
              <a:rPr lang="en-US" sz="900" dirty="0">
                <a:solidFill>
                  <a:srgbClr val="5B6B8C"/>
                </a:solidFill>
                <a:latin typeface="Calibri" pitchFamily="34" charset="0"/>
                <a:ea typeface="Calibri" pitchFamily="34" charset="-122"/>
                <a:cs typeface="Calibri" pitchFamily="34" charset="-120"/>
              </a:rPr>
              <a:t>Built the interactive 3-page dashboard</a:t>
            </a:r>
            <a:endParaRPr lang="en-US" sz="900" dirty="0"/>
          </a:p>
        </p:txBody>
      </p:sp>
      <p:sp>
        <p:nvSpPr>
          <p:cNvPr id="28" name="Shape 26"/>
          <p:cNvSpPr/>
          <p:nvPr/>
        </p:nvSpPr>
        <p:spPr>
          <a:xfrm>
            <a:off x="548640" y="3520440"/>
            <a:ext cx="3337560" cy="1828800"/>
          </a:xfrm>
          <a:prstGeom prst="roundRect">
            <a:avLst>
              <a:gd name="adj" fmla="val 4000"/>
            </a:avLst>
          </a:prstGeom>
          <a:solidFill>
            <a:srgbClr val="EEF3FC"/>
          </a:solidFill>
          <a:ln/>
        </p:spPr>
      </p:sp>
      <p:sp>
        <p:nvSpPr>
          <p:cNvPr id="29" name="Shape 27"/>
          <p:cNvSpPr/>
          <p:nvPr/>
        </p:nvSpPr>
        <p:spPr>
          <a:xfrm>
            <a:off x="731520" y="3703320"/>
            <a:ext cx="420624" cy="420624"/>
          </a:xfrm>
          <a:prstGeom prst="ellipse">
            <a:avLst/>
          </a:prstGeom>
          <a:solidFill>
            <a:srgbClr val="1E2761"/>
          </a:solidFill>
          <a:ln/>
        </p:spPr>
      </p:sp>
      <p:sp>
        <p:nvSpPr>
          <p:cNvPr id="30" name="Text 28"/>
          <p:cNvSpPr/>
          <p:nvPr/>
        </p:nvSpPr>
        <p:spPr>
          <a:xfrm>
            <a:off x="731520" y="370332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31" name="Text 29"/>
          <p:cNvSpPr/>
          <p:nvPr/>
        </p:nvSpPr>
        <p:spPr>
          <a:xfrm>
            <a:off x="731520" y="4233672"/>
            <a:ext cx="2971800" cy="292608"/>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DAX</a:t>
            </a:r>
            <a:endParaRPr lang="en-US" sz="1250" dirty="0"/>
          </a:p>
        </p:txBody>
      </p:sp>
      <p:sp>
        <p:nvSpPr>
          <p:cNvPr id="32" name="Text 30"/>
          <p:cNvSpPr/>
          <p:nvPr/>
        </p:nvSpPr>
        <p:spPr>
          <a:xfrm>
            <a:off x="731520" y="4507992"/>
            <a:ext cx="2971800" cy="256032"/>
          </a:xfrm>
          <a:prstGeom prst="rect">
            <a:avLst/>
          </a:prstGeom>
          <a:noFill/>
          <a:ln/>
        </p:spPr>
        <p:txBody>
          <a:bodyPr wrap="square" rtlCol="0" anchor="ctr"/>
          <a:lstStyle/>
          <a:p>
            <a:pPr marL="0" indent="0">
              <a:buNone/>
            </a:pPr>
            <a:r>
              <a:rPr lang="en-US" sz="950" i="1" dirty="0">
                <a:solidFill>
                  <a:srgbClr val="C9A227"/>
                </a:solidFill>
                <a:latin typeface="Calibri" pitchFamily="34" charset="0"/>
                <a:ea typeface="Calibri" pitchFamily="34" charset="-122"/>
                <a:cs typeface="Calibri" pitchFamily="34" charset="-120"/>
              </a:rPr>
              <a:t>Measure calculation</a:t>
            </a:r>
            <a:endParaRPr lang="en-US" sz="950" dirty="0"/>
          </a:p>
        </p:txBody>
      </p:sp>
      <p:sp>
        <p:nvSpPr>
          <p:cNvPr id="33" name="Text 31"/>
          <p:cNvSpPr/>
          <p:nvPr/>
        </p:nvSpPr>
        <p:spPr>
          <a:xfrm>
            <a:off x="731520" y="4754880"/>
            <a:ext cx="2971800" cy="548640"/>
          </a:xfrm>
          <a:prstGeom prst="rect">
            <a:avLst/>
          </a:prstGeom>
          <a:noFill/>
          <a:ln/>
        </p:spPr>
        <p:txBody>
          <a:bodyPr wrap="square" rtlCol="0" anchor="ctr"/>
          <a:lstStyle/>
          <a:p>
            <a:pPr marL="0" indent="0">
              <a:lnSpc>
                <a:spcPct val="115000"/>
              </a:lnSpc>
              <a:buNone/>
            </a:pPr>
            <a:r>
              <a:rPr lang="en-US" sz="900" dirty="0">
                <a:solidFill>
                  <a:srgbClr val="5B6B8C"/>
                </a:solidFill>
                <a:latin typeface="Calibri" pitchFamily="34" charset="0"/>
                <a:ea typeface="Calibri" pitchFamily="34" charset="-122"/>
                <a:cs typeface="Calibri" pitchFamily="34" charset="-120"/>
              </a:rPr>
              <a:t>Rebuilt SQL logic as live report measures</a:t>
            </a:r>
            <a:endParaRPr lang="en-US" sz="900" dirty="0"/>
          </a:p>
        </p:txBody>
      </p:sp>
      <p:sp>
        <p:nvSpPr>
          <p:cNvPr id="34" name="Shape 32"/>
          <p:cNvSpPr/>
          <p:nvPr/>
        </p:nvSpPr>
        <p:spPr>
          <a:xfrm>
            <a:off x="4069080" y="3520440"/>
            <a:ext cx="3337560" cy="1828800"/>
          </a:xfrm>
          <a:prstGeom prst="roundRect">
            <a:avLst>
              <a:gd name="adj" fmla="val 4000"/>
            </a:avLst>
          </a:prstGeom>
          <a:solidFill>
            <a:srgbClr val="EEF3FC"/>
          </a:solidFill>
          <a:ln/>
        </p:spPr>
      </p:sp>
      <p:sp>
        <p:nvSpPr>
          <p:cNvPr id="35" name="Shape 33"/>
          <p:cNvSpPr/>
          <p:nvPr/>
        </p:nvSpPr>
        <p:spPr>
          <a:xfrm>
            <a:off x="4251960" y="3703320"/>
            <a:ext cx="420624" cy="420624"/>
          </a:xfrm>
          <a:prstGeom prst="ellipse">
            <a:avLst/>
          </a:prstGeom>
          <a:solidFill>
            <a:srgbClr val="1E2761"/>
          </a:solidFill>
          <a:ln/>
        </p:spPr>
      </p:sp>
      <p:sp>
        <p:nvSpPr>
          <p:cNvPr id="36" name="Text 34"/>
          <p:cNvSpPr/>
          <p:nvPr/>
        </p:nvSpPr>
        <p:spPr>
          <a:xfrm>
            <a:off x="4251960" y="370332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37" name="Text 35"/>
          <p:cNvSpPr/>
          <p:nvPr/>
        </p:nvSpPr>
        <p:spPr>
          <a:xfrm>
            <a:off x="4251960" y="4233672"/>
            <a:ext cx="2971800" cy="292608"/>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Data Modeling</a:t>
            </a:r>
            <a:endParaRPr lang="en-US" sz="1250" dirty="0"/>
          </a:p>
        </p:txBody>
      </p:sp>
      <p:sp>
        <p:nvSpPr>
          <p:cNvPr id="38" name="Text 36"/>
          <p:cNvSpPr/>
          <p:nvPr/>
        </p:nvSpPr>
        <p:spPr>
          <a:xfrm>
            <a:off x="4251960" y="4507992"/>
            <a:ext cx="2971800" cy="256032"/>
          </a:xfrm>
          <a:prstGeom prst="rect">
            <a:avLst/>
          </a:prstGeom>
          <a:noFill/>
          <a:ln/>
        </p:spPr>
        <p:txBody>
          <a:bodyPr wrap="square" rtlCol="0" anchor="ctr"/>
          <a:lstStyle/>
          <a:p>
            <a:pPr marL="0" indent="0">
              <a:buNone/>
            </a:pPr>
            <a:r>
              <a:rPr lang="en-US" sz="950" i="1" dirty="0">
                <a:solidFill>
                  <a:srgbClr val="C9A227"/>
                </a:solidFill>
                <a:latin typeface="Calibri" pitchFamily="34" charset="0"/>
                <a:ea typeface="Calibri" pitchFamily="34" charset="-122"/>
                <a:cs typeface="Calibri" pitchFamily="34" charset="-120"/>
              </a:rPr>
              <a:t>Relationships &amp; structure</a:t>
            </a:r>
            <a:endParaRPr lang="en-US" sz="950" dirty="0"/>
          </a:p>
        </p:txBody>
      </p:sp>
      <p:sp>
        <p:nvSpPr>
          <p:cNvPr id="39" name="Text 37"/>
          <p:cNvSpPr/>
          <p:nvPr/>
        </p:nvSpPr>
        <p:spPr>
          <a:xfrm>
            <a:off x="4251960" y="4754880"/>
            <a:ext cx="2971800" cy="548640"/>
          </a:xfrm>
          <a:prstGeom prst="rect">
            <a:avLst/>
          </a:prstGeom>
          <a:noFill/>
          <a:ln/>
        </p:spPr>
        <p:txBody>
          <a:bodyPr wrap="square" rtlCol="0" anchor="ctr"/>
          <a:lstStyle/>
          <a:p>
            <a:pPr marL="0" indent="0">
              <a:lnSpc>
                <a:spcPct val="115000"/>
              </a:lnSpc>
              <a:buNone/>
            </a:pPr>
            <a:r>
              <a:rPr lang="en-US" sz="900" dirty="0">
                <a:solidFill>
                  <a:srgbClr val="5B6B8C"/>
                </a:solidFill>
                <a:latin typeface="Calibri" pitchFamily="34" charset="0"/>
                <a:ea typeface="Calibri" pitchFamily="34" charset="-122"/>
                <a:cs typeface="Calibri" pitchFamily="34" charset="-120"/>
              </a:rPr>
              <a:t>Kept the report performant and accurate</a:t>
            </a:r>
            <a:endParaRPr lang="en-US" sz="900" dirty="0"/>
          </a:p>
        </p:txBody>
      </p:sp>
      <p:sp>
        <p:nvSpPr>
          <p:cNvPr id="40" name="Shape 38"/>
          <p:cNvSpPr/>
          <p:nvPr/>
        </p:nvSpPr>
        <p:spPr>
          <a:xfrm>
            <a:off x="7589520" y="3520440"/>
            <a:ext cx="3337560" cy="1828800"/>
          </a:xfrm>
          <a:prstGeom prst="roundRect">
            <a:avLst>
              <a:gd name="adj" fmla="val 4000"/>
            </a:avLst>
          </a:prstGeom>
          <a:solidFill>
            <a:srgbClr val="EEF3FC"/>
          </a:solidFill>
          <a:ln/>
        </p:spPr>
      </p:sp>
      <p:sp>
        <p:nvSpPr>
          <p:cNvPr id="41" name="Shape 39"/>
          <p:cNvSpPr/>
          <p:nvPr/>
        </p:nvSpPr>
        <p:spPr>
          <a:xfrm>
            <a:off x="7772400" y="3703320"/>
            <a:ext cx="420624" cy="420624"/>
          </a:xfrm>
          <a:prstGeom prst="ellipse">
            <a:avLst/>
          </a:prstGeom>
          <a:solidFill>
            <a:srgbClr val="1E2761"/>
          </a:solidFill>
          <a:ln/>
        </p:spPr>
      </p:sp>
      <p:sp>
        <p:nvSpPr>
          <p:cNvPr id="42" name="Text 40"/>
          <p:cNvSpPr/>
          <p:nvPr/>
        </p:nvSpPr>
        <p:spPr>
          <a:xfrm>
            <a:off x="7772400" y="370332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43" name="Text 41"/>
          <p:cNvSpPr/>
          <p:nvPr/>
        </p:nvSpPr>
        <p:spPr>
          <a:xfrm>
            <a:off x="7772400" y="4233672"/>
            <a:ext cx="2971800" cy="292608"/>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Data Visualization</a:t>
            </a:r>
            <a:endParaRPr lang="en-US" sz="1250" dirty="0"/>
          </a:p>
        </p:txBody>
      </p:sp>
      <p:sp>
        <p:nvSpPr>
          <p:cNvPr id="44" name="Text 42"/>
          <p:cNvSpPr/>
          <p:nvPr/>
        </p:nvSpPr>
        <p:spPr>
          <a:xfrm>
            <a:off x="7772400" y="4507992"/>
            <a:ext cx="2971800" cy="256032"/>
          </a:xfrm>
          <a:prstGeom prst="rect">
            <a:avLst/>
          </a:prstGeom>
          <a:noFill/>
          <a:ln/>
        </p:spPr>
        <p:txBody>
          <a:bodyPr wrap="square" rtlCol="0" anchor="ctr"/>
          <a:lstStyle/>
          <a:p>
            <a:pPr marL="0" indent="0">
              <a:buNone/>
            </a:pPr>
            <a:r>
              <a:rPr lang="en-US" sz="950" i="1" dirty="0">
                <a:solidFill>
                  <a:srgbClr val="C9A227"/>
                </a:solidFill>
                <a:latin typeface="Calibri" pitchFamily="34" charset="0"/>
                <a:ea typeface="Calibri" pitchFamily="34" charset="-122"/>
                <a:cs typeface="Calibri" pitchFamily="34" charset="-120"/>
              </a:rPr>
              <a:t>Design &amp; storytelling</a:t>
            </a:r>
            <a:endParaRPr lang="en-US" sz="950" dirty="0"/>
          </a:p>
        </p:txBody>
      </p:sp>
      <p:sp>
        <p:nvSpPr>
          <p:cNvPr id="45" name="Text 43"/>
          <p:cNvSpPr/>
          <p:nvPr/>
        </p:nvSpPr>
        <p:spPr>
          <a:xfrm>
            <a:off x="7772400" y="4754880"/>
            <a:ext cx="2971800" cy="548640"/>
          </a:xfrm>
          <a:prstGeom prst="rect">
            <a:avLst/>
          </a:prstGeom>
          <a:noFill/>
          <a:ln/>
        </p:spPr>
        <p:txBody>
          <a:bodyPr wrap="square" rtlCol="0" anchor="ctr"/>
          <a:lstStyle/>
          <a:p>
            <a:pPr marL="0" indent="0">
              <a:lnSpc>
                <a:spcPct val="115000"/>
              </a:lnSpc>
              <a:buNone/>
            </a:pPr>
            <a:r>
              <a:rPr lang="en-US" sz="900" dirty="0">
                <a:solidFill>
                  <a:srgbClr val="5B6B8C"/>
                </a:solidFill>
                <a:latin typeface="Calibri" pitchFamily="34" charset="0"/>
                <a:ea typeface="Calibri" pitchFamily="34" charset="-122"/>
                <a:cs typeface="Calibri" pitchFamily="34" charset="-120"/>
              </a:rPr>
              <a:t>Turned numbers into decision-ready visuals</a:t>
            </a:r>
            <a:endParaRPr lang="en-US" sz="900" dirty="0"/>
          </a:p>
        </p:txBody>
      </p:sp>
      <p:sp>
        <p:nvSpPr>
          <p:cNvPr id="46" name="Text 44"/>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5B6B8C"/>
                </a:solidFill>
                <a:latin typeface="Calibri" pitchFamily="34" charset="0"/>
                <a:ea typeface="Calibri" pitchFamily="34" charset="-122"/>
                <a:cs typeface="Calibri" pitchFamily="34" charset="-120"/>
              </a:rPr>
              <a:t>Bank Loan Report Analysis</a:t>
            </a:r>
            <a:endParaRPr lang="en-US" sz="900" dirty="0"/>
          </a:p>
        </p:txBody>
      </p:sp>
      <p:sp>
        <p:nvSpPr>
          <p:cNvPr id="47" name="Text 45"/>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5B6B8C"/>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F3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CHALLENGES FACED &amp; SOLUTIONS</a:t>
            </a:r>
            <a:endParaRPr lang="en-US" sz="1200" dirty="0"/>
          </a:p>
        </p:txBody>
      </p:sp>
      <p:sp>
        <p:nvSpPr>
          <p:cNvPr id="3" name="Text 1"/>
          <p:cNvSpPr/>
          <p:nvPr/>
        </p:nvSpPr>
        <p:spPr>
          <a:xfrm>
            <a:off x="548640" y="713232"/>
            <a:ext cx="9144000" cy="548640"/>
          </a:xfrm>
          <a:prstGeom prst="rect">
            <a:avLst/>
          </a:prstGeom>
          <a:noFill/>
          <a:ln/>
        </p:spPr>
        <p:txBody>
          <a:bodyPr wrap="square" rtlCol="0" anchor="ctr"/>
          <a:lstStyle/>
          <a:p>
            <a:pPr marL="0" indent="0">
              <a:buNone/>
            </a:pPr>
            <a:r>
              <a:rPr lang="en-US" sz="2300" b="1" dirty="0">
                <a:solidFill>
                  <a:srgbClr val="1B2340"/>
                </a:solidFill>
                <a:latin typeface="Cambria" pitchFamily="34" charset="0"/>
                <a:ea typeface="Cambria" pitchFamily="34" charset="-122"/>
                <a:cs typeface="Cambria" pitchFamily="34" charset="-120"/>
              </a:rPr>
              <a:t>Problem-solving behind the polished dashboard</a:t>
            </a:r>
            <a:endParaRPr lang="en-US" sz="2300" dirty="0"/>
          </a:p>
        </p:txBody>
      </p:sp>
      <p:sp>
        <p:nvSpPr>
          <p:cNvPr id="4" name="Shape 2"/>
          <p:cNvSpPr/>
          <p:nvPr/>
        </p:nvSpPr>
        <p:spPr>
          <a:xfrm>
            <a:off x="548640" y="1463040"/>
            <a:ext cx="11064240" cy="457200"/>
          </a:xfrm>
          <a:prstGeom prst="roundRect">
            <a:avLst/>
          </a:prstGeom>
          <a:solidFill>
            <a:srgbClr val="1E2761"/>
          </a:solidFill>
          <a:ln/>
        </p:spPr>
      </p:sp>
      <p:sp>
        <p:nvSpPr>
          <p:cNvPr id="5" name="Text 3"/>
          <p:cNvSpPr/>
          <p:nvPr/>
        </p:nvSpPr>
        <p:spPr>
          <a:xfrm>
            <a:off x="685800" y="1463040"/>
            <a:ext cx="3520440" cy="457200"/>
          </a:xfrm>
          <a:prstGeom prst="rect">
            <a:avLst/>
          </a:prstGeom>
          <a:noFill/>
          <a:ln/>
        </p:spPr>
        <p:txBody>
          <a:bodyPr wrap="square" rtlCol="0" anchor="ctr"/>
          <a:lstStyle/>
          <a:p>
            <a:pPr marL="0" indent="0">
              <a:buNone/>
            </a:pPr>
            <a:r>
              <a:rPr lang="en-US" sz="1200" b="1" dirty="0">
                <a:solidFill>
                  <a:srgbClr val="C9A227"/>
                </a:solidFill>
                <a:latin typeface="Calibri" pitchFamily="34" charset="0"/>
                <a:ea typeface="Calibri" pitchFamily="34" charset="-122"/>
                <a:cs typeface="Calibri" pitchFamily="34" charset="-120"/>
              </a:rPr>
              <a:t>Challenge</a:t>
            </a:r>
            <a:endParaRPr lang="en-US" sz="1200" dirty="0"/>
          </a:p>
        </p:txBody>
      </p:sp>
      <p:sp>
        <p:nvSpPr>
          <p:cNvPr id="6" name="Text 4"/>
          <p:cNvSpPr/>
          <p:nvPr/>
        </p:nvSpPr>
        <p:spPr>
          <a:xfrm>
            <a:off x="4343400" y="1463040"/>
            <a:ext cx="3520440" cy="457200"/>
          </a:xfrm>
          <a:prstGeom prst="rect">
            <a:avLst/>
          </a:prstGeom>
          <a:noFill/>
          <a:ln/>
        </p:spPr>
        <p:txBody>
          <a:bodyPr wrap="square" rtlCol="0" anchor="ctr"/>
          <a:lstStyle/>
          <a:p>
            <a:pPr marL="0" indent="0">
              <a:buNone/>
            </a:pPr>
            <a:r>
              <a:rPr lang="en-US" sz="1200" b="1" dirty="0">
                <a:solidFill>
                  <a:srgbClr val="C9A227"/>
                </a:solidFill>
                <a:latin typeface="Calibri" pitchFamily="34" charset="0"/>
                <a:ea typeface="Calibri" pitchFamily="34" charset="-122"/>
                <a:cs typeface="Calibri" pitchFamily="34" charset="-120"/>
              </a:rPr>
              <a:t>Solution</a:t>
            </a:r>
            <a:endParaRPr lang="en-US" sz="1200" dirty="0"/>
          </a:p>
        </p:txBody>
      </p:sp>
      <p:sp>
        <p:nvSpPr>
          <p:cNvPr id="7" name="Text 5"/>
          <p:cNvSpPr/>
          <p:nvPr/>
        </p:nvSpPr>
        <p:spPr>
          <a:xfrm>
            <a:off x="8001000" y="1463040"/>
            <a:ext cx="3611880" cy="457200"/>
          </a:xfrm>
          <a:prstGeom prst="rect">
            <a:avLst/>
          </a:prstGeom>
          <a:noFill/>
          <a:ln/>
        </p:spPr>
        <p:txBody>
          <a:bodyPr wrap="square" rtlCol="0" anchor="ctr"/>
          <a:lstStyle/>
          <a:p>
            <a:pPr marL="0" indent="0">
              <a:buNone/>
            </a:pPr>
            <a:r>
              <a:rPr lang="en-US" sz="1200" b="1" dirty="0">
                <a:solidFill>
                  <a:srgbClr val="C9A227"/>
                </a:solidFill>
                <a:latin typeface="Calibri" pitchFamily="34" charset="0"/>
                <a:ea typeface="Calibri" pitchFamily="34" charset="-122"/>
                <a:cs typeface="Calibri" pitchFamily="34" charset="-120"/>
              </a:rPr>
              <a:t>Outcome</a:t>
            </a:r>
            <a:endParaRPr lang="en-US" sz="1200" dirty="0"/>
          </a:p>
        </p:txBody>
      </p:sp>
      <p:sp>
        <p:nvSpPr>
          <p:cNvPr id="8" name="Shape 6"/>
          <p:cNvSpPr/>
          <p:nvPr/>
        </p:nvSpPr>
        <p:spPr>
          <a:xfrm>
            <a:off x="548640" y="1956816"/>
            <a:ext cx="11064240" cy="841248"/>
          </a:xfrm>
          <a:prstGeom prst="rect">
            <a:avLst/>
          </a:prstGeom>
          <a:solidFill>
            <a:srgbClr val="FFFFFF"/>
          </a:solidFill>
          <a:ln/>
        </p:spPr>
      </p:sp>
      <p:sp>
        <p:nvSpPr>
          <p:cNvPr id="9" name="Text 7"/>
          <p:cNvSpPr/>
          <p:nvPr/>
        </p:nvSpPr>
        <p:spPr>
          <a:xfrm>
            <a:off x="685800" y="2011680"/>
            <a:ext cx="3383280" cy="731520"/>
          </a:xfrm>
          <a:prstGeom prst="rect">
            <a:avLst/>
          </a:prstGeom>
          <a:noFill/>
          <a:ln/>
        </p:spPr>
        <p:txBody>
          <a:bodyPr wrap="square" rtlCol="0" anchor="ctr"/>
          <a:lstStyle/>
          <a:p>
            <a:pPr marL="0" indent="0">
              <a:lnSpc>
                <a:spcPct val="110000"/>
              </a:lnSpc>
              <a:buNone/>
            </a:pPr>
            <a:r>
              <a:rPr lang="en-US" sz="1000" b="1" dirty="0">
                <a:solidFill>
                  <a:srgbClr val="1E2761"/>
                </a:solidFill>
                <a:latin typeface="Calibri" pitchFamily="34" charset="0"/>
                <a:ea typeface="Calibri" pitchFamily="34" charset="-122"/>
                <a:cs typeface="Calibri" pitchFamily="34" charset="-120"/>
              </a:rPr>
              <a:t>Missing &amp; inconsistent data</a:t>
            </a:r>
            <a:endParaRPr lang="en-US" sz="1000" dirty="0"/>
          </a:p>
        </p:txBody>
      </p:sp>
      <p:sp>
        <p:nvSpPr>
          <p:cNvPr id="10" name="Text 8"/>
          <p:cNvSpPr/>
          <p:nvPr/>
        </p:nvSpPr>
        <p:spPr>
          <a:xfrm>
            <a:off x="4343400" y="2011680"/>
            <a:ext cx="3383280" cy="731520"/>
          </a:xfrm>
          <a:prstGeom prst="rect">
            <a:avLst/>
          </a:prstGeom>
          <a:noFill/>
          <a:ln/>
        </p:spPr>
        <p:txBody>
          <a:bodyPr wrap="square" rtlCol="0" anchor="ctr"/>
          <a:lstStyle/>
          <a:p>
            <a:pPr marL="0" indent="0">
              <a:lnSpc>
                <a:spcPct val="110000"/>
              </a:lnSpc>
              <a:buNone/>
            </a:pPr>
            <a:r>
              <a:rPr lang="en-US" sz="1000" dirty="0">
                <a:solidFill>
                  <a:srgbClr val="1B2340"/>
                </a:solidFill>
                <a:latin typeface="Calibri" pitchFamily="34" charset="0"/>
                <a:ea typeface="Calibri" pitchFamily="34" charset="-122"/>
                <a:cs typeface="Calibri" pitchFamily="34" charset="-120"/>
              </a:rPr>
              <a:t>Standardized categorical fields, handled nulls in SQL before load</a:t>
            </a:r>
            <a:endParaRPr lang="en-US" sz="1000" dirty="0"/>
          </a:p>
        </p:txBody>
      </p:sp>
      <p:sp>
        <p:nvSpPr>
          <p:cNvPr id="11" name="Text 9"/>
          <p:cNvSpPr/>
          <p:nvPr/>
        </p:nvSpPr>
        <p:spPr>
          <a:xfrm>
            <a:off x="8001000" y="2011680"/>
            <a:ext cx="3474720" cy="731520"/>
          </a:xfrm>
          <a:prstGeom prst="rect">
            <a:avLst/>
          </a:prstGeom>
          <a:noFill/>
          <a:ln/>
        </p:spPr>
        <p:txBody>
          <a:bodyPr wrap="square" rtlCol="0" anchor="ctr"/>
          <a:lstStyle/>
          <a:p>
            <a:pPr marL="0" indent="0">
              <a:lnSpc>
                <a:spcPct val="110000"/>
              </a:lnSpc>
              <a:buNone/>
            </a:pPr>
            <a:r>
              <a:rPr lang="en-US" sz="1000" dirty="0">
                <a:solidFill>
                  <a:srgbClr val="1B2340"/>
                </a:solidFill>
                <a:latin typeface="Calibri" pitchFamily="34" charset="0"/>
                <a:ea typeface="Calibri" pitchFamily="34" charset="-122"/>
                <a:cs typeface="Calibri" pitchFamily="34" charset="-120"/>
              </a:rPr>
              <a:t>Clean, trustworthy source table</a:t>
            </a:r>
            <a:endParaRPr lang="en-US" sz="1000" dirty="0"/>
          </a:p>
        </p:txBody>
      </p:sp>
      <p:sp>
        <p:nvSpPr>
          <p:cNvPr id="12" name="Shape 10"/>
          <p:cNvSpPr/>
          <p:nvPr/>
        </p:nvSpPr>
        <p:spPr>
          <a:xfrm>
            <a:off x="548640" y="2798064"/>
            <a:ext cx="11064240" cy="841248"/>
          </a:xfrm>
          <a:prstGeom prst="rect">
            <a:avLst/>
          </a:prstGeom>
          <a:solidFill>
            <a:srgbClr val="F6F8FC"/>
          </a:solidFill>
          <a:ln/>
        </p:spPr>
      </p:sp>
      <p:sp>
        <p:nvSpPr>
          <p:cNvPr id="13" name="Text 11"/>
          <p:cNvSpPr/>
          <p:nvPr/>
        </p:nvSpPr>
        <p:spPr>
          <a:xfrm>
            <a:off x="685800" y="2852928"/>
            <a:ext cx="3383280" cy="731520"/>
          </a:xfrm>
          <a:prstGeom prst="rect">
            <a:avLst/>
          </a:prstGeom>
          <a:noFill/>
          <a:ln/>
        </p:spPr>
        <p:txBody>
          <a:bodyPr wrap="square" rtlCol="0" anchor="ctr"/>
          <a:lstStyle/>
          <a:p>
            <a:pPr marL="0" indent="0">
              <a:lnSpc>
                <a:spcPct val="110000"/>
              </a:lnSpc>
              <a:buNone/>
            </a:pPr>
            <a:r>
              <a:rPr lang="en-US" sz="1000" b="1" dirty="0">
                <a:solidFill>
                  <a:srgbClr val="1E2761"/>
                </a:solidFill>
                <a:latin typeface="Calibri" pitchFamily="34" charset="0"/>
                <a:ea typeface="Calibri" pitchFamily="34" charset="-122"/>
                <a:cs typeface="Calibri" pitchFamily="34" charset="-120"/>
              </a:rPr>
              <a:t>Duplicate loan records</a:t>
            </a:r>
            <a:endParaRPr lang="en-US" sz="1000" dirty="0"/>
          </a:p>
        </p:txBody>
      </p:sp>
      <p:sp>
        <p:nvSpPr>
          <p:cNvPr id="14" name="Text 12"/>
          <p:cNvSpPr/>
          <p:nvPr/>
        </p:nvSpPr>
        <p:spPr>
          <a:xfrm>
            <a:off x="4343400" y="2852928"/>
            <a:ext cx="3383280" cy="731520"/>
          </a:xfrm>
          <a:prstGeom prst="rect">
            <a:avLst/>
          </a:prstGeom>
          <a:noFill/>
          <a:ln/>
        </p:spPr>
        <p:txBody>
          <a:bodyPr wrap="square" rtlCol="0" anchor="ctr"/>
          <a:lstStyle/>
          <a:p>
            <a:pPr marL="0" indent="0">
              <a:lnSpc>
                <a:spcPct val="110000"/>
              </a:lnSpc>
              <a:buNone/>
            </a:pPr>
            <a:r>
              <a:rPr lang="en-US" sz="1000" dirty="0">
                <a:solidFill>
                  <a:srgbClr val="1B2340"/>
                </a:solidFill>
                <a:latin typeface="Calibri" pitchFamily="34" charset="0"/>
                <a:ea typeface="Calibri" pitchFamily="34" charset="-122"/>
                <a:cs typeface="Calibri" pitchFamily="34" charset="-120"/>
              </a:rPr>
              <a:t>De-duplicated on loan ID during SQL preparation</a:t>
            </a:r>
            <a:endParaRPr lang="en-US" sz="1000" dirty="0"/>
          </a:p>
        </p:txBody>
      </p:sp>
      <p:sp>
        <p:nvSpPr>
          <p:cNvPr id="15" name="Text 13"/>
          <p:cNvSpPr/>
          <p:nvPr/>
        </p:nvSpPr>
        <p:spPr>
          <a:xfrm>
            <a:off x="8001000" y="2852928"/>
            <a:ext cx="3474720" cy="731520"/>
          </a:xfrm>
          <a:prstGeom prst="rect">
            <a:avLst/>
          </a:prstGeom>
          <a:noFill/>
          <a:ln/>
        </p:spPr>
        <p:txBody>
          <a:bodyPr wrap="square" rtlCol="0" anchor="ctr"/>
          <a:lstStyle/>
          <a:p>
            <a:pPr marL="0" indent="0">
              <a:lnSpc>
                <a:spcPct val="110000"/>
              </a:lnSpc>
              <a:buNone/>
            </a:pPr>
            <a:r>
              <a:rPr lang="en-US" sz="1000" dirty="0">
                <a:solidFill>
                  <a:srgbClr val="1B2340"/>
                </a:solidFill>
                <a:latin typeface="Calibri" pitchFamily="34" charset="0"/>
                <a:ea typeface="Calibri" pitchFamily="34" charset="-122"/>
                <a:cs typeface="Calibri" pitchFamily="34" charset="-120"/>
              </a:rPr>
              <a:t>One row per loan, accurate counts</a:t>
            </a:r>
            <a:endParaRPr lang="en-US" sz="1000" dirty="0"/>
          </a:p>
        </p:txBody>
      </p:sp>
      <p:sp>
        <p:nvSpPr>
          <p:cNvPr id="16" name="Shape 14"/>
          <p:cNvSpPr/>
          <p:nvPr/>
        </p:nvSpPr>
        <p:spPr>
          <a:xfrm>
            <a:off x="548640" y="3639312"/>
            <a:ext cx="11064240" cy="841248"/>
          </a:xfrm>
          <a:prstGeom prst="rect">
            <a:avLst/>
          </a:prstGeom>
          <a:solidFill>
            <a:srgbClr val="FFFFFF"/>
          </a:solidFill>
          <a:ln/>
        </p:spPr>
      </p:sp>
      <p:sp>
        <p:nvSpPr>
          <p:cNvPr id="17" name="Text 15"/>
          <p:cNvSpPr/>
          <p:nvPr/>
        </p:nvSpPr>
        <p:spPr>
          <a:xfrm>
            <a:off x="685800" y="3694176"/>
            <a:ext cx="3383280" cy="731520"/>
          </a:xfrm>
          <a:prstGeom prst="rect">
            <a:avLst/>
          </a:prstGeom>
          <a:noFill/>
          <a:ln/>
        </p:spPr>
        <p:txBody>
          <a:bodyPr wrap="square" rtlCol="0" anchor="ctr"/>
          <a:lstStyle/>
          <a:p>
            <a:pPr marL="0" indent="0">
              <a:lnSpc>
                <a:spcPct val="110000"/>
              </a:lnSpc>
              <a:buNone/>
            </a:pPr>
            <a:r>
              <a:rPr lang="en-US" sz="1000" b="1" dirty="0">
                <a:solidFill>
                  <a:srgbClr val="1E2761"/>
                </a:solidFill>
                <a:latin typeface="Calibri" pitchFamily="34" charset="0"/>
                <a:ea typeface="Calibri" pitchFamily="34" charset="-122"/>
                <a:cs typeface="Calibri" pitchFamily="34" charset="-120"/>
              </a:rPr>
              <a:t>Complex KPI logic (MTD/PMTD)</a:t>
            </a:r>
            <a:endParaRPr lang="en-US" sz="1000" dirty="0"/>
          </a:p>
        </p:txBody>
      </p:sp>
      <p:sp>
        <p:nvSpPr>
          <p:cNvPr id="18" name="Text 16"/>
          <p:cNvSpPr/>
          <p:nvPr/>
        </p:nvSpPr>
        <p:spPr>
          <a:xfrm>
            <a:off x="4343400" y="3694176"/>
            <a:ext cx="3383280" cy="731520"/>
          </a:xfrm>
          <a:prstGeom prst="rect">
            <a:avLst/>
          </a:prstGeom>
          <a:noFill/>
          <a:ln/>
        </p:spPr>
        <p:txBody>
          <a:bodyPr wrap="square" rtlCol="0" anchor="ctr"/>
          <a:lstStyle/>
          <a:p>
            <a:pPr marL="0" indent="0">
              <a:lnSpc>
                <a:spcPct val="110000"/>
              </a:lnSpc>
              <a:buNone/>
            </a:pPr>
            <a:r>
              <a:rPr lang="en-US" sz="1000" dirty="0">
                <a:solidFill>
                  <a:srgbClr val="1B2340"/>
                </a:solidFill>
                <a:latin typeface="Calibri" pitchFamily="34" charset="0"/>
                <a:ea typeface="Calibri" pitchFamily="34" charset="-122"/>
                <a:cs typeface="Calibri" pitchFamily="34" charset="-120"/>
              </a:rPr>
              <a:t>Validated each KPI as a standalone SQL query first</a:t>
            </a:r>
            <a:endParaRPr lang="en-US" sz="1000" dirty="0"/>
          </a:p>
        </p:txBody>
      </p:sp>
      <p:sp>
        <p:nvSpPr>
          <p:cNvPr id="19" name="Text 17"/>
          <p:cNvSpPr/>
          <p:nvPr/>
        </p:nvSpPr>
        <p:spPr>
          <a:xfrm>
            <a:off x="8001000" y="3694176"/>
            <a:ext cx="3474720" cy="731520"/>
          </a:xfrm>
          <a:prstGeom prst="rect">
            <a:avLst/>
          </a:prstGeom>
          <a:noFill/>
          <a:ln/>
        </p:spPr>
        <p:txBody>
          <a:bodyPr wrap="square" rtlCol="0" anchor="ctr"/>
          <a:lstStyle/>
          <a:p>
            <a:pPr marL="0" indent="0">
              <a:lnSpc>
                <a:spcPct val="110000"/>
              </a:lnSpc>
              <a:buNone/>
            </a:pPr>
            <a:r>
              <a:rPr lang="en-US" sz="1000" dirty="0">
                <a:solidFill>
                  <a:srgbClr val="1B2340"/>
                </a:solidFill>
                <a:latin typeface="Calibri" pitchFamily="34" charset="0"/>
                <a:ea typeface="Calibri" pitchFamily="34" charset="-122"/>
                <a:cs typeface="Calibri" pitchFamily="34" charset="-120"/>
              </a:rPr>
              <a:t>DAX measures matched SQL exactly</a:t>
            </a:r>
            <a:endParaRPr lang="en-US" sz="1000" dirty="0"/>
          </a:p>
        </p:txBody>
      </p:sp>
      <p:sp>
        <p:nvSpPr>
          <p:cNvPr id="20" name="Shape 18"/>
          <p:cNvSpPr/>
          <p:nvPr/>
        </p:nvSpPr>
        <p:spPr>
          <a:xfrm>
            <a:off x="548640" y="4480560"/>
            <a:ext cx="11064240" cy="841248"/>
          </a:xfrm>
          <a:prstGeom prst="rect">
            <a:avLst/>
          </a:prstGeom>
          <a:solidFill>
            <a:srgbClr val="F6F8FC"/>
          </a:solidFill>
          <a:ln/>
        </p:spPr>
      </p:sp>
      <p:sp>
        <p:nvSpPr>
          <p:cNvPr id="21" name="Text 19"/>
          <p:cNvSpPr/>
          <p:nvPr/>
        </p:nvSpPr>
        <p:spPr>
          <a:xfrm>
            <a:off x="685800" y="4535424"/>
            <a:ext cx="3383280" cy="731520"/>
          </a:xfrm>
          <a:prstGeom prst="rect">
            <a:avLst/>
          </a:prstGeom>
          <a:noFill/>
          <a:ln/>
        </p:spPr>
        <p:txBody>
          <a:bodyPr wrap="square" rtlCol="0" anchor="ctr"/>
          <a:lstStyle/>
          <a:p>
            <a:pPr marL="0" indent="0">
              <a:lnSpc>
                <a:spcPct val="110000"/>
              </a:lnSpc>
              <a:buNone/>
            </a:pPr>
            <a:r>
              <a:rPr lang="en-US" sz="1000" b="1" dirty="0">
                <a:solidFill>
                  <a:srgbClr val="1E2761"/>
                </a:solidFill>
                <a:latin typeface="Calibri" pitchFamily="34" charset="0"/>
                <a:ea typeface="Calibri" pitchFamily="34" charset="-122"/>
                <a:cs typeface="Calibri" pitchFamily="34" charset="-120"/>
              </a:rPr>
              <a:t>Dashboard performance</a:t>
            </a:r>
            <a:endParaRPr lang="en-US" sz="1000" dirty="0"/>
          </a:p>
        </p:txBody>
      </p:sp>
      <p:sp>
        <p:nvSpPr>
          <p:cNvPr id="22" name="Text 20"/>
          <p:cNvSpPr/>
          <p:nvPr/>
        </p:nvSpPr>
        <p:spPr>
          <a:xfrm>
            <a:off x="4343400" y="4535424"/>
            <a:ext cx="3383280" cy="731520"/>
          </a:xfrm>
          <a:prstGeom prst="rect">
            <a:avLst/>
          </a:prstGeom>
          <a:noFill/>
          <a:ln/>
        </p:spPr>
        <p:txBody>
          <a:bodyPr wrap="square" rtlCol="0" anchor="ctr"/>
          <a:lstStyle/>
          <a:p>
            <a:pPr marL="0" indent="0">
              <a:lnSpc>
                <a:spcPct val="110000"/>
              </a:lnSpc>
              <a:buNone/>
            </a:pPr>
            <a:r>
              <a:rPr lang="en-US" sz="1000" dirty="0">
                <a:solidFill>
                  <a:srgbClr val="1B2340"/>
                </a:solidFill>
                <a:latin typeface="Calibri" pitchFamily="34" charset="0"/>
                <a:ea typeface="Calibri" pitchFamily="34" charset="-122"/>
                <a:cs typeface="Calibri" pitchFamily="34" charset="-120"/>
              </a:rPr>
              <a:t>Simplified the data model and measure logic</a:t>
            </a:r>
            <a:endParaRPr lang="en-US" sz="1000" dirty="0"/>
          </a:p>
        </p:txBody>
      </p:sp>
      <p:sp>
        <p:nvSpPr>
          <p:cNvPr id="23" name="Text 21"/>
          <p:cNvSpPr/>
          <p:nvPr/>
        </p:nvSpPr>
        <p:spPr>
          <a:xfrm>
            <a:off x="8001000" y="4535424"/>
            <a:ext cx="3474720" cy="731520"/>
          </a:xfrm>
          <a:prstGeom prst="rect">
            <a:avLst/>
          </a:prstGeom>
          <a:noFill/>
          <a:ln/>
        </p:spPr>
        <p:txBody>
          <a:bodyPr wrap="square" rtlCol="0" anchor="ctr"/>
          <a:lstStyle/>
          <a:p>
            <a:pPr marL="0" indent="0">
              <a:lnSpc>
                <a:spcPct val="110000"/>
              </a:lnSpc>
              <a:buNone/>
            </a:pPr>
            <a:r>
              <a:rPr lang="en-US" sz="1000" dirty="0">
                <a:solidFill>
                  <a:srgbClr val="1B2340"/>
                </a:solidFill>
                <a:latin typeface="Calibri" pitchFamily="34" charset="0"/>
                <a:ea typeface="Calibri" pitchFamily="34" charset="-122"/>
                <a:cs typeface="Calibri" pitchFamily="34" charset="-120"/>
              </a:rPr>
              <a:t>Fast, responsive slicers and visuals</a:t>
            </a:r>
            <a:endParaRPr lang="en-US" sz="1000" dirty="0"/>
          </a:p>
        </p:txBody>
      </p:sp>
      <p:sp>
        <p:nvSpPr>
          <p:cNvPr id="24" name="Shape 22"/>
          <p:cNvSpPr/>
          <p:nvPr/>
        </p:nvSpPr>
        <p:spPr>
          <a:xfrm>
            <a:off x="548640" y="5321808"/>
            <a:ext cx="11064240" cy="841248"/>
          </a:xfrm>
          <a:prstGeom prst="rect">
            <a:avLst/>
          </a:prstGeom>
          <a:solidFill>
            <a:srgbClr val="FFFFFF"/>
          </a:solidFill>
          <a:ln/>
        </p:spPr>
      </p:sp>
      <p:sp>
        <p:nvSpPr>
          <p:cNvPr id="25" name="Text 23"/>
          <p:cNvSpPr/>
          <p:nvPr/>
        </p:nvSpPr>
        <p:spPr>
          <a:xfrm>
            <a:off x="685800" y="5376672"/>
            <a:ext cx="3383280" cy="731520"/>
          </a:xfrm>
          <a:prstGeom prst="rect">
            <a:avLst/>
          </a:prstGeom>
          <a:noFill/>
          <a:ln/>
        </p:spPr>
        <p:txBody>
          <a:bodyPr wrap="square" rtlCol="0" anchor="ctr"/>
          <a:lstStyle/>
          <a:p>
            <a:pPr marL="0" indent="0">
              <a:lnSpc>
                <a:spcPct val="110000"/>
              </a:lnSpc>
              <a:buNone/>
            </a:pPr>
            <a:r>
              <a:rPr lang="en-US" sz="1000" b="1" dirty="0">
                <a:solidFill>
                  <a:srgbClr val="1E2761"/>
                </a:solidFill>
                <a:latin typeface="Calibri" pitchFamily="34" charset="0"/>
                <a:ea typeface="Calibri" pitchFamily="34" charset="-122"/>
                <a:cs typeface="Calibri" pitchFamily="34" charset="-120"/>
              </a:rPr>
              <a:t>Choosing the right visuals</a:t>
            </a:r>
            <a:endParaRPr lang="en-US" sz="1000" dirty="0"/>
          </a:p>
        </p:txBody>
      </p:sp>
      <p:sp>
        <p:nvSpPr>
          <p:cNvPr id="26" name="Text 24"/>
          <p:cNvSpPr/>
          <p:nvPr/>
        </p:nvSpPr>
        <p:spPr>
          <a:xfrm>
            <a:off x="4343400" y="5376672"/>
            <a:ext cx="3383280" cy="731520"/>
          </a:xfrm>
          <a:prstGeom prst="rect">
            <a:avLst/>
          </a:prstGeom>
          <a:noFill/>
          <a:ln/>
        </p:spPr>
        <p:txBody>
          <a:bodyPr wrap="square" rtlCol="0" anchor="ctr"/>
          <a:lstStyle/>
          <a:p>
            <a:pPr marL="0" indent="0">
              <a:lnSpc>
                <a:spcPct val="110000"/>
              </a:lnSpc>
              <a:buNone/>
            </a:pPr>
            <a:r>
              <a:rPr lang="en-US" sz="1000" dirty="0">
                <a:solidFill>
                  <a:srgbClr val="1B2340"/>
                </a:solidFill>
                <a:latin typeface="Calibri" pitchFamily="34" charset="0"/>
                <a:ea typeface="Calibri" pitchFamily="34" charset="-122"/>
                <a:cs typeface="Calibri" pitchFamily="34" charset="-120"/>
              </a:rPr>
              <a:t>Matched chart type to the question (trend, share, comparison)</a:t>
            </a:r>
            <a:endParaRPr lang="en-US" sz="1000" dirty="0"/>
          </a:p>
        </p:txBody>
      </p:sp>
      <p:sp>
        <p:nvSpPr>
          <p:cNvPr id="27" name="Text 25"/>
          <p:cNvSpPr/>
          <p:nvPr/>
        </p:nvSpPr>
        <p:spPr>
          <a:xfrm>
            <a:off x="8001000" y="5376672"/>
            <a:ext cx="3474720" cy="731520"/>
          </a:xfrm>
          <a:prstGeom prst="rect">
            <a:avLst/>
          </a:prstGeom>
          <a:noFill/>
          <a:ln/>
        </p:spPr>
        <p:txBody>
          <a:bodyPr wrap="square" rtlCol="0" anchor="ctr"/>
          <a:lstStyle/>
          <a:p>
            <a:pPr marL="0" indent="0">
              <a:lnSpc>
                <a:spcPct val="110000"/>
              </a:lnSpc>
              <a:buNone/>
            </a:pPr>
            <a:r>
              <a:rPr lang="en-US" sz="1000" dirty="0">
                <a:solidFill>
                  <a:srgbClr val="1B2340"/>
                </a:solidFill>
                <a:latin typeface="Calibri" pitchFamily="34" charset="0"/>
                <a:ea typeface="Calibri" pitchFamily="34" charset="-122"/>
                <a:cs typeface="Calibri" pitchFamily="34" charset="-120"/>
              </a:rPr>
              <a:t>Clear, decision-ready dashboard</a:t>
            </a:r>
            <a:endParaRPr lang="en-US" sz="1000" dirty="0"/>
          </a:p>
        </p:txBody>
      </p:sp>
      <p:sp>
        <p:nvSpPr>
          <p:cNvPr id="28" name="Shape 26"/>
          <p:cNvSpPr/>
          <p:nvPr/>
        </p:nvSpPr>
        <p:spPr>
          <a:xfrm>
            <a:off x="548640" y="1956816"/>
            <a:ext cx="0" cy="4206240"/>
          </a:xfrm>
          <a:prstGeom prst="line">
            <a:avLst/>
          </a:prstGeom>
          <a:noFill/>
          <a:ln w="6350">
            <a:solidFill>
              <a:srgbClr val="CADCFC"/>
            </a:solidFill>
            <a:prstDash val="solid"/>
          </a:ln>
        </p:spPr>
      </p:sp>
      <p:sp>
        <p:nvSpPr>
          <p:cNvPr id="29" name="Text 27"/>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5B6B8C"/>
                </a:solidFill>
                <a:latin typeface="Calibri" pitchFamily="34" charset="0"/>
                <a:ea typeface="Calibri" pitchFamily="34" charset="-122"/>
                <a:cs typeface="Calibri" pitchFamily="34" charset="-120"/>
              </a:rPr>
              <a:t>Bank Loan Report Analysis</a:t>
            </a:r>
            <a:endParaRPr lang="en-US" sz="900" dirty="0"/>
          </a:p>
        </p:txBody>
      </p:sp>
      <p:sp>
        <p:nvSpPr>
          <p:cNvPr id="30" name="Text 28"/>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5B6B8C"/>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BUSINESS IMPACT</a:t>
            </a:r>
            <a:endParaRPr lang="en-US" sz="1200" dirty="0"/>
          </a:p>
        </p:txBody>
      </p:sp>
      <p:sp>
        <p:nvSpPr>
          <p:cNvPr id="3" name="Text 1"/>
          <p:cNvSpPr/>
          <p:nvPr/>
        </p:nvSpPr>
        <p:spPr>
          <a:xfrm>
            <a:off x="548640" y="713232"/>
            <a:ext cx="8961120" cy="548640"/>
          </a:xfrm>
          <a:prstGeom prst="rect">
            <a:avLst/>
          </a:prstGeom>
          <a:noFill/>
          <a:ln/>
        </p:spPr>
        <p:txBody>
          <a:bodyPr wrap="square"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What changes once this dashboard exists</a:t>
            </a:r>
            <a:endParaRPr lang="en-US" sz="2500" dirty="0"/>
          </a:p>
        </p:txBody>
      </p:sp>
      <p:sp>
        <p:nvSpPr>
          <p:cNvPr id="4" name="Shape 2"/>
          <p:cNvSpPr/>
          <p:nvPr/>
        </p:nvSpPr>
        <p:spPr>
          <a:xfrm>
            <a:off x="548640" y="1508760"/>
            <a:ext cx="2697480" cy="2103120"/>
          </a:xfrm>
          <a:prstGeom prst="roundRect">
            <a:avLst>
              <a:gd name="adj" fmla="val 3478"/>
            </a:avLst>
          </a:prstGeom>
          <a:solidFill>
            <a:srgbClr val="141B44"/>
          </a:solidFill>
          <a:ln/>
        </p:spPr>
      </p:sp>
      <p:sp>
        <p:nvSpPr>
          <p:cNvPr id="5" name="Shape 3"/>
          <p:cNvSpPr/>
          <p:nvPr/>
        </p:nvSpPr>
        <p:spPr>
          <a:xfrm>
            <a:off x="731520" y="1691640"/>
            <a:ext cx="384048" cy="384048"/>
          </a:xfrm>
          <a:prstGeom prst="ellipse">
            <a:avLst/>
          </a:prstGeom>
          <a:solidFill>
            <a:srgbClr val="C9A227"/>
          </a:solidFill>
          <a:ln/>
        </p:spPr>
      </p:sp>
      <p:sp>
        <p:nvSpPr>
          <p:cNvPr id="6" name="Text 4"/>
          <p:cNvSpPr/>
          <p:nvPr/>
        </p:nvSpPr>
        <p:spPr>
          <a:xfrm>
            <a:off x="731520" y="1691640"/>
            <a:ext cx="384048" cy="384048"/>
          </a:xfrm>
          <a:prstGeom prst="rect">
            <a:avLst/>
          </a:prstGeom>
          <a:noFill/>
          <a:ln/>
        </p:spPr>
        <p:txBody>
          <a:bodyPr wrap="square" lIns="0" tIns="0" rIns="0" bIns="0" rtlCol="0" anchor="ctr"/>
          <a:lstStyle/>
          <a:p>
            <a:pPr marL="0" indent="0" algn="ctr">
              <a:buNone/>
            </a:pPr>
            <a:r>
              <a:rPr lang="en-US" sz="1400" b="1" dirty="0">
                <a:solidFill>
                  <a:srgbClr val="141B44"/>
                </a:solidFill>
                <a:latin typeface="Calibri" pitchFamily="34" charset="0"/>
                <a:ea typeface="Calibri" pitchFamily="34" charset="-122"/>
                <a:cs typeface="Calibri" pitchFamily="34" charset="-120"/>
              </a:rPr>
              <a:t>✓</a:t>
            </a:r>
            <a:endParaRPr lang="en-US" sz="1400" dirty="0"/>
          </a:p>
        </p:txBody>
      </p:sp>
      <p:sp>
        <p:nvSpPr>
          <p:cNvPr id="7" name="Text 5"/>
          <p:cNvSpPr/>
          <p:nvPr/>
        </p:nvSpPr>
        <p:spPr>
          <a:xfrm>
            <a:off x="731520" y="2221992"/>
            <a:ext cx="2331720" cy="548640"/>
          </a:xfrm>
          <a:prstGeom prst="rect">
            <a:avLst/>
          </a:prstGeom>
          <a:noFill/>
          <a:ln/>
        </p:spPr>
        <p:txBody>
          <a:bodyPr wrap="square" rtlCol="0" anchor="ctr"/>
          <a:lstStyle/>
          <a:p>
            <a:pPr marL="0" indent="0">
              <a:lnSpc>
                <a:spcPct val="110000"/>
              </a:lnSpc>
              <a:buNone/>
            </a:pPr>
            <a:r>
              <a:rPr lang="en-US" sz="1200" b="1" dirty="0">
                <a:solidFill>
                  <a:srgbClr val="FFFFFF"/>
                </a:solidFill>
                <a:latin typeface="Calibri" pitchFamily="34" charset="0"/>
                <a:ea typeface="Calibri" pitchFamily="34" charset="-122"/>
                <a:cs typeface="Calibri" pitchFamily="34" charset="-120"/>
              </a:rPr>
              <a:t>Faster reporting</a:t>
            </a:r>
            <a:endParaRPr lang="en-US" sz="1200" dirty="0"/>
          </a:p>
        </p:txBody>
      </p:sp>
      <p:sp>
        <p:nvSpPr>
          <p:cNvPr id="8" name="Text 6"/>
          <p:cNvSpPr/>
          <p:nvPr/>
        </p:nvSpPr>
        <p:spPr>
          <a:xfrm>
            <a:off x="731520" y="2743200"/>
            <a:ext cx="2331720" cy="777240"/>
          </a:xfrm>
          <a:prstGeom prst="rect">
            <a:avLst/>
          </a:prstGeom>
          <a:noFill/>
          <a:ln/>
        </p:spPr>
        <p:txBody>
          <a:bodyPr wrap="square" rtlCol="0" anchor="ctr"/>
          <a:lstStyle/>
          <a:p>
            <a:pPr marL="0" indent="0">
              <a:lnSpc>
                <a:spcPct val="120000"/>
              </a:lnSpc>
              <a:buNone/>
            </a:pPr>
            <a:r>
              <a:rPr lang="en-US" sz="950" dirty="0">
                <a:solidFill>
                  <a:srgbClr val="CADCFC"/>
                </a:solidFill>
                <a:latin typeface="Calibri" pitchFamily="34" charset="0"/>
                <a:ea typeface="Calibri" pitchFamily="34" charset="-122"/>
                <a:cs typeface="Calibri" pitchFamily="34" charset="-120"/>
              </a:rPr>
              <a:t>Hours of manual work replaced by a live refresh</a:t>
            </a:r>
            <a:endParaRPr lang="en-US" sz="950" dirty="0"/>
          </a:p>
        </p:txBody>
      </p:sp>
      <p:sp>
        <p:nvSpPr>
          <p:cNvPr id="9" name="Shape 7"/>
          <p:cNvSpPr/>
          <p:nvPr/>
        </p:nvSpPr>
        <p:spPr>
          <a:xfrm>
            <a:off x="3383280" y="1508760"/>
            <a:ext cx="2697480" cy="2103120"/>
          </a:xfrm>
          <a:prstGeom prst="roundRect">
            <a:avLst>
              <a:gd name="adj" fmla="val 3478"/>
            </a:avLst>
          </a:prstGeom>
          <a:solidFill>
            <a:srgbClr val="141B44"/>
          </a:solidFill>
          <a:ln/>
        </p:spPr>
      </p:sp>
      <p:sp>
        <p:nvSpPr>
          <p:cNvPr id="10" name="Shape 8"/>
          <p:cNvSpPr/>
          <p:nvPr/>
        </p:nvSpPr>
        <p:spPr>
          <a:xfrm>
            <a:off x="3566160" y="1691640"/>
            <a:ext cx="384048" cy="384048"/>
          </a:xfrm>
          <a:prstGeom prst="ellipse">
            <a:avLst/>
          </a:prstGeom>
          <a:solidFill>
            <a:srgbClr val="C9A227"/>
          </a:solidFill>
          <a:ln/>
        </p:spPr>
      </p:sp>
      <p:sp>
        <p:nvSpPr>
          <p:cNvPr id="11" name="Text 9"/>
          <p:cNvSpPr/>
          <p:nvPr/>
        </p:nvSpPr>
        <p:spPr>
          <a:xfrm>
            <a:off x="3566160" y="1691640"/>
            <a:ext cx="384048" cy="384048"/>
          </a:xfrm>
          <a:prstGeom prst="rect">
            <a:avLst/>
          </a:prstGeom>
          <a:noFill/>
          <a:ln/>
        </p:spPr>
        <p:txBody>
          <a:bodyPr wrap="square" lIns="0" tIns="0" rIns="0" bIns="0" rtlCol="0" anchor="ctr"/>
          <a:lstStyle/>
          <a:p>
            <a:pPr marL="0" indent="0" algn="ctr">
              <a:buNone/>
            </a:pPr>
            <a:r>
              <a:rPr lang="en-US" sz="1400" b="1" dirty="0">
                <a:solidFill>
                  <a:srgbClr val="141B44"/>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3566160" y="2221992"/>
            <a:ext cx="2331720" cy="548640"/>
          </a:xfrm>
          <a:prstGeom prst="rect">
            <a:avLst/>
          </a:prstGeom>
          <a:noFill/>
          <a:ln/>
        </p:spPr>
        <p:txBody>
          <a:bodyPr wrap="square" rtlCol="0" anchor="ctr"/>
          <a:lstStyle/>
          <a:p>
            <a:pPr marL="0" indent="0">
              <a:lnSpc>
                <a:spcPct val="110000"/>
              </a:lnSpc>
              <a:buNone/>
            </a:pPr>
            <a:r>
              <a:rPr lang="en-US" sz="1200" b="1" dirty="0">
                <a:solidFill>
                  <a:srgbClr val="FFFFFF"/>
                </a:solidFill>
                <a:latin typeface="Calibri" pitchFamily="34" charset="0"/>
                <a:ea typeface="Calibri" pitchFamily="34" charset="-122"/>
                <a:cs typeface="Calibri" pitchFamily="34" charset="-120"/>
              </a:rPr>
              <a:t>Improved decision-making</a:t>
            </a:r>
            <a:endParaRPr lang="en-US" sz="1200" dirty="0"/>
          </a:p>
        </p:txBody>
      </p:sp>
      <p:sp>
        <p:nvSpPr>
          <p:cNvPr id="13" name="Text 11"/>
          <p:cNvSpPr/>
          <p:nvPr/>
        </p:nvSpPr>
        <p:spPr>
          <a:xfrm>
            <a:off x="3566160" y="2743200"/>
            <a:ext cx="2331720" cy="777240"/>
          </a:xfrm>
          <a:prstGeom prst="rect">
            <a:avLst/>
          </a:prstGeom>
          <a:noFill/>
          <a:ln/>
        </p:spPr>
        <p:txBody>
          <a:bodyPr wrap="square" rtlCol="0" anchor="ctr"/>
          <a:lstStyle/>
          <a:p>
            <a:pPr marL="0" indent="0">
              <a:lnSpc>
                <a:spcPct val="120000"/>
              </a:lnSpc>
              <a:buNone/>
            </a:pPr>
            <a:r>
              <a:rPr lang="en-US" sz="950" dirty="0">
                <a:solidFill>
                  <a:srgbClr val="CADCFC"/>
                </a:solidFill>
                <a:latin typeface="Calibri" pitchFamily="34" charset="0"/>
                <a:ea typeface="Calibri" pitchFamily="34" charset="-122"/>
                <a:cs typeface="Calibri" pitchFamily="34" charset="-120"/>
              </a:rPr>
              <a:t>Trusted KPIs, not competing spreadsheet versions</a:t>
            </a:r>
            <a:endParaRPr lang="en-US" sz="950" dirty="0"/>
          </a:p>
        </p:txBody>
      </p:sp>
      <p:sp>
        <p:nvSpPr>
          <p:cNvPr id="14" name="Shape 12"/>
          <p:cNvSpPr/>
          <p:nvPr/>
        </p:nvSpPr>
        <p:spPr>
          <a:xfrm>
            <a:off x="6217920" y="1508760"/>
            <a:ext cx="2697480" cy="2103120"/>
          </a:xfrm>
          <a:prstGeom prst="roundRect">
            <a:avLst>
              <a:gd name="adj" fmla="val 3478"/>
            </a:avLst>
          </a:prstGeom>
          <a:solidFill>
            <a:srgbClr val="141B44"/>
          </a:solidFill>
          <a:ln/>
        </p:spPr>
      </p:sp>
      <p:sp>
        <p:nvSpPr>
          <p:cNvPr id="15" name="Shape 13"/>
          <p:cNvSpPr/>
          <p:nvPr/>
        </p:nvSpPr>
        <p:spPr>
          <a:xfrm>
            <a:off x="6400800" y="1691640"/>
            <a:ext cx="384048" cy="384048"/>
          </a:xfrm>
          <a:prstGeom prst="ellipse">
            <a:avLst/>
          </a:prstGeom>
          <a:solidFill>
            <a:srgbClr val="C9A227"/>
          </a:solidFill>
          <a:ln/>
        </p:spPr>
      </p:sp>
      <p:sp>
        <p:nvSpPr>
          <p:cNvPr id="16" name="Text 14"/>
          <p:cNvSpPr/>
          <p:nvPr/>
        </p:nvSpPr>
        <p:spPr>
          <a:xfrm>
            <a:off x="6400800" y="1691640"/>
            <a:ext cx="384048" cy="384048"/>
          </a:xfrm>
          <a:prstGeom prst="rect">
            <a:avLst/>
          </a:prstGeom>
          <a:noFill/>
          <a:ln/>
        </p:spPr>
        <p:txBody>
          <a:bodyPr wrap="square" lIns="0" tIns="0" rIns="0" bIns="0" rtlCol="0" anchor="ctr"/>
          <a:lstStyle/>
          <a:p>
            <a:pPr marL="0" indent="0" algn="ctr">
              <a:buNone/>
            </a:pPr>
            <a:r>
              <a:rPr lang="en-US" sz="1400" b="1" dirty="0">
                <a:solidFill>
                  <a:srgbClr val="141B44"/>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6400800" y="2221992"/>
            <a:ext cx="2331720" cy="548640"/>
          </a:xfrm>
          <a:prstGeom prst="rect">
            <a:avLst/>
          </a:prstGeom>
          <a:noFill/>
          <a:ln/>
        </p:spPr>
        <p:txBody>
          <a:bodyPr wrap="square" rtlCol="0" anchor="ctr"/>
          <a:lstStyle/>
          <a:p>
            <a:pPr marL="0" indent="0">
              <a:lnSpc>
                <a:spcPct val="110000"/>
              </a:lnSpc>
              <a:buNone/>
            </a:pPr>
            <a:r>
              <a:rPr lang="en-US" sz="1200" b="1" dirty="0">
                <a:solidFill>
                  <a:srgbClr val="FFFFFF"/>
                </a:solidFill>
                <a:latin typeface="Calibri" pitchFamily="34" charset="0"/>
                <a:ea typeface="Calibri" pitchFamily="34" charset="-122"/>
                <a:cs typeface="Calibri" pitchFamily="34" charset="-120"/>
              </a:rPr>
              <a:t>Better portfolio monitoring</a:t>
            </a:r>
            <a:endParaRPr lang="en-US" sz="1200" dirty="0"/>
          </a:p>
        </p:txBody>
      </p:sp>
      <p:sp>
        <p:nvSpPr>
          <p:cNvPr id="18" name="Text 16"/>
          <p:cNvSpPr/>
          <p:nvPr/>
        </p:nvSpPr>
        <p:spPr>
          <a:xfrm>
            <a:off x="6400800" y="2743200"/>
            <a:ext cx="2331720" cy="777240"/>
          </a:xfrm>
          <a:prstGeom prst="rect">
            <a:avLst/>
          </a:prstGeom>
          <a:noFill/>
          <a:ln/>
        </p:spPr>
        <p:txBody>
          <a:bodyPr wrap="square" rtlCol="0" anchor="ctr"/>
          <a:lstStyle/>
          <a:p>
            <a:pPr marL="0" indent="0">
              <a:lnSpc>
                <a:spcPct val="120000"/>
              </a:lnSpc>
              <a:buNone/>
            </a:pPr>
            <a:r>
              <a:rPr lang="en-US" sz="950" dirty="0">
                <a:solidFill>
                  <a:srgbClr val="CADCFC"/>
                </a:solidFill>
                <a:latin typeface="Calibri" pitchFamily="34" charset="0"/>
                <a:ea typeface="Calibri" pitchFamily="34" charset="-122"/>
                <a:cs typeface="Calibri" pitchFamily="34" charset="-120"/>
              </a:rPr>
              <a:t>Funded, received, and status visible in one view</a:t>
            </a:r>
            <a:endParaRPr lang="en-US" sz="950" dirty="0"/>
          </a:p>
        </p:txBody>
      </p:sp>
      <p:sp>
        <p:nvSpPr>
          <p:cNvPr id="19" name="Shape 17"/>
          <p:cNvSpPr/>
          <p:nvPr/>
        </p:nvSpPr>
        <p:spPr>
          <a:xfrm>
            <a:off x="9052560" y="1508760"/>
            <a:ext cx="2697480" cy="2103120"/>
          </a:xfrm>
          <a:prstGeom prst="roundRect">
            <a:avLst>
              <a:gd name="adj" fmla="val 3478"/>
            </a:avLst>
          </a:prstGeom>
          <a:solidFill>
            <a:srgbClr val="141B44"/>
          </a:solidFill>
          <a:ln/>
        </p:spPr>
      </p:sp>
      <p:sp>
        <p:nvSpPr>
          <p:cNvPr id="20" name="Shape 18"/>
          <p:cNvSpPr/>
          <p:nvPr/>
        </p:nvSpPr>
        <p:spPr>
          <a:xfrm>
            <a:off x="9235440" y="1691640"/>
            <a:ext cx="384048" cy="384048"/>
          </a:xfrm>
          <a:prstGeom prst="ellipse">
            <a:avLst/>
          </a:prstGeom>
          <a:solidFill>
            <a:srgbClr val="C9A227"/>
          </a:solidFill>
          <a:ln/>
        </p:spPr>
      </p:sp>
      <p:sp>
        <p:nvSpPr>
          <p:cNvPr id="21" name="Text 19"/>
          <p:cNvSpPr/>
          <p:nvPr/>
        </p:nvSpPr>
        <p:spPr>
          <a:xfrm>
            <a:off x="9235440" y="1691640"/>
            <a:ext cx="384048" cy="384048"/>
          </a:xfrm>
          <a:prstGeom prst="rect">
            <a:avLst/>
          </a:prstGeom>
          <a:noFill/>
          <a:ln/>
        </p:spPr>
        <p:txBody>
          <a:bodyPr wrap="square" lIns="0" tIns="0" rIns="0" bIns="0" rtlCol="0" anchor="ctr"/>
          <a:lstStyle/>
          <a:p>
            <a:pPr marL="0" indent="0" algn="ctr">
              <a:buNone/>
            </a:pPr>
            <a:r>
              <a:rPr lang="en-US" sz="1400" b="1" dirty="0">
                <a:solidFill>
                  <a:srgbClr val="141B44"/>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9235440" y="2221992"/>
            <a:ext cx="2331720" cy="548640"/>
          </a:xfrm>
          <a:prstGeom prst="rect">
            <a:avLst/>
          </a:prstGeom>
          <a:noFill/>
          <a:ln/>
        </p:spPr>
        <p:txBody>
          <a:bodyPr wrap="square" rtlCol="0" anchor="ctr"/>
          <a:lstStyle/>
          <a:p>
            <a:pPr marL="0" indent="0">
              <a:lnSpc>
                <a:spcPct val="110000"/>
              </a:lnSpc>
              <a:buNone/>
            </a:pPr>
            <a:r>
              <a:rPr lang="en-US" sz="1200" b="1" dirty="0">
                <a:solidFill>
                  <a:srgbClr val="FFFFFF"/>
                </a:solidFill>
                <a:latin typeface="Calibri" pitchFamily="34" charset="0"/>
                <a:ea typeface="Calibri" pitchFamily="34" charset="-122"/>
                <a:cs typeface="Calibri" pitchFamily="34" charset="-120"/>
              </a:rPr>
              <a:t>Earlier risk identification</a:t>
            </a:r>
            <a:endParaRPr lang="en-US" sz="1200" dirty="0"/>
          </a:p>
        </p:txBody>
      </p:sp>
      <p:sp>
        <p:nvSpPr>
          <p:cNvPr id="23" name="Text 21"/>
          <p:cNvSpPr/>
          <p:nvPr/>
        </p:nvSpPr>
        <p:spPr>
          <a:xfrm>
            <a:off x="9235440" y="2743200"/>
            <a:ext cx="2331720" cy="777240"/>
          </a:xfrm>
          <a:prstGeom prst="rect">
            <a:avLst/>
          </a:prstGeom>
          <a:noFill/>
          <a:ln/>
        </p:spPr>
        <p:txBody>
          <a:bodyPr wrap="square" rtlCol="0" anchor="ctr"/>
          <a:lstStyle/>
          <a:p>
            <a:pPr marL="0" indent="0">
              <a:lnSpc>
                <a:spcPct val="120000"/>
              </a:lnSpc>
              <a:buNone/>
            </a:pPr>
            <a:r>
              <a:rPr lang="en-US" sz="950" dirty="0">
                <a:solidFill>
                  <a:srgbClr val="CADCFC"/>
                </a:solidFill>
                <a:latin typeface="Calibri" pitchFamily="34" charset="0"/>
                <a:ea typeface="Calibri" pitchFamily="34" charset="-122"/>
                <a:cs typeface="Calibri" pitchFamily="34" charset="-120"/>
              </a:rPr>
              <a:t>Grade×term risk visible before losses compound</a:t>
            </a:r>
            <a:endParaRPr lang="en-US" sz="950" dirty="0"/>
          </a:p>
        </p:txBody>
      </p:sp>
      <p:sp>
        <p:nvSpPr>
          <p:cNvPr id="24" name="Shape 22"/>
          <p:cNvSpPr/>
          <p:nvPr/>
        </p:nvSpPr>
        <p:spPr>
          <a:xfrm>
            <a:off x="548640" y="3794760"/>
            <a:ext cx="2697480" cy="2103120"/>
          </a:xfrm>
          <a:prstGeom prst="roundRect">
            <a:avLst>
              <a:gd name="adj" fmla="val 3478"/>
            </a:avLst>
          </a:prstGeom>
          <a:solidFill>
            <a:srgbClr val="141B44"/>
          </a:solidFill>
          <a:ln/>
        </p:spPr>
      </p:sp>
      <p:sp>
        <p:nvSpPr>
          <p:cNvPr id="25" name="Shape 23"/>
          <p:cNvSpPr/>
          <p:nvPr/>
        </p:nvSpPr>
        <p:spPr>
          <a:xfrm>
            <a:off x="731520" y="3977640"/>
            <a:ext cx="384048" cy="384048"/>
          </a:xfrm>
          <a:prstGeom prst="ellipse">
            <a:avLst/>
          </a:prstGeom>
          <a:solidFill>
            <a:srgbClr val="C9A227"/>
          </a:solidFill>
          <a:ln/>
        </p:spPr>
      </p:sp>
      <p:sp>
        <p:nvSpPr>
          <p:cNvPr id="26" name="Text 24"/>
          <p:cNvSpPr/>
          <p:nvPr/>
        </p:nvSpPr>
        <p:spPr>
          <a:xfrm>
            <a:off x="731520" y="3977640"/>
            <a:ext cx="384048" cy="384048"/>
          </a:xfrm>
          <a:prstGeom prst="rect">
            <a:avLst/>
          </a:prstGeom>
          <a:noFill/>
          <a:ln/>
        </p:spPr>
        <p:txBody>
          <a:bodyPr wrap="square" lIns="0" tIns="0" rIns="0" bIns="0" rtlCol="0" anchor="ctr"/>
          <a:lstStyle/>
          <a:p>
            <a:pPr marL="0" indent="0" algn="ctr">
              <a:buNone/>
            </a:pPr>
            <a:r>
              <a:rPr lang="en-US" sz="1400" b="1" dirty="0">
                <a:solidFill>
                  <a:srgbClr val="141B44"/>
                </a:solidFill>
                <a:latin typeface="Calibri" pitchFamily="34" charset="0"/>
                <a:ea typeface="Calibri" pitchFamily="34" charset="-122"/>
                <a:cs typeface="Calibri" pitchFamily="34" charset="-120"/>
              </a:rPr>
              <a:t>✓</a:t>
            </a:r>
            <a:endParaRPr lang="en-US" sz="1400" dirty="0"/>
          </a:p>
        </p:txBody>
      </p:sp>
      <p:sp>
        <p:nvSpPr>
          <p:cNvPr id="27" name="Text 25"/>
          <p:cNvSpPr/>
          <p:nvPr/>
        </p:nvSpPr>
        <p:spPr>
          <a:xfrm>
            <a:off x="731520" y="4507992"/>
            <a:ext cx="2331720" cy="548640"/>
          </a:xfrm>
          <a:prstGeom prst="rect">
            <a:avLst/>
          </a:prstGeom>
          <a:noFill/>
          <a:ln/>
        </p:spPr>
        <p:txBody>
          <a:bodyPr wrap="square" rtlCol="0" anchor="ctr"/>
          <a:lstStyle/>
          <a:p>
            <a:pPr marL="0" indent="0">
              <a:lnSpc>
                <a:spcPct val="110000"/>
              </a:lnSpc>
              <a:buNone/>
            </a:pPr>
            <a:r>
              <a:rPr lang="en-US" sz="1200" b="1" dirty="0">
                <a:solidFill>
                  <a:srgbClr val="FFFFFF"/>
                </a:solidFill>
                <a:latin typeface="Calibri" pitchFamily="34" charset="0"/>
                <a:ea typeface="Calibri" pitchFamily="34" charset="-122"/>
                <a:cs typeface="Calibri" pitchFamily="34" charset="-120"/>
              </a:rPr>
              <a:t>Executive-level visibility</a:t>
            </a:r>
            <a:endParaRPr lang="en-US" sz="1200" dirty="0"/>
          </a:p>
        </p:txBody>
      </p:sp>
      <p:sp>
        <p:nvSpPr>
          <p:cNvPr id="28" name="Text 26"/>
          <p:cNvSpPr/>
          <p:nvPr/>
        </p:nvSpPr>
        <p:spPr>
          <a:xfrm>
            <a:off x="731520" y="5029200"/>
            <a:ext cx="2331720" cy="777240"/>
          </a:xfrm>
          <a:prstGeom prst="rect">
            <a:avLst/>
          </a:prstGeom>
          <a:noFill/>
          <a:ln/>
        </p:spPr>
        <p:txBody>
          <a:bodyPr wrap="square" rtlCol="0" anchor="ctr"/>
          <a:lstStyle/>
          <a:p>
            <a:pPr marL="0" indent="0">
              <a:lnSpc>
                <a:spcPct val="120000"/>
              </a:lnSpc>
              <a:buNone/>
            </a:pPr>
            <a:r>
              <a:rPr lang="en-US" sz="950" dirty="0">
                <a:solidFill>
                  <a:srgbClr val="CADCFC"/>
                </a:solidFill>
                <a:latin typeface="Calibri" pitchFamily="34" charset="0"/>
                <a:ea typeface="Calibri" pitchFamily="34" charset="-122"/>
                <a:cs typeface="Calibri" pitchFamily="34" charset="-120"/>
              </a:rPr>
              <a:t>Leadership sees portfolio health without a request</a:t>
            </a:r>
            <a:endParaRPr lang="en-US" sz="950" dirty="0"/>
          </a:p>
        </p:txBody>
      </p:sp>
      <p:sp>
        <p:nvSpPr>
          <p:cNvPr id="29" name="Shape 27"/>
          <p:cNvSpPr/>
          <p:nvPr/>
        </p:nvSpPr>
        <p:spPr>
          <a:xfrm>
            <a:off x="3383280" y="3794760"/>
            <a:ext cx="2697480" cy="2103120"/>
          </a:xfrm>
          <a:prstGeom prst="roundRect">
            <a:avLst>
              <a:gd name="adj" fmla="val 3478"/>
            </a:avLst>
          </a:prstGeom>
          <a:solidFill>
            <a:srgbClr val="141B44"/>
          </a:solidFill>
          <a:ln/>
        </p:spPr>
      </p:sp>
      <p:sp>
        <p:nvSpPr>
          <p:cNvPr id="30" name="Shape 28"/>
          <p:cNvSpPr/>
          <p:nvPr/>
        </p:nvSpPr>
        <p:spPr>
          <a:xfrm>
            <a:off x="3566160" y="3977640"/>
            <a:ext cx="384048" cy="384048"/>
          </a:xfrm>
          <a:prstGeom prst="ellipse">
            <a:avLst/>
          </a:prstGeom>
          <a:solidFill>
            <a:srgbClr val="C9A227"/>
          </a:solidFill>
          <a:ln/>
        </p:spPr>
      </p:sp>
      <p:sp>
        <p:nvSpPr>
          <p:cNvPr id="31" name="Text 29"/>
          <p:cNvSpPr/>
          <p:nvPr/>
        </p:nvSpPr>
        <p:spPr>
          <a:xfrm>
            <a:off x="3566160" y="3977640"/>
            <a:ext cx="384048" cy="384048"/>
          </a:xfrm>
          <a:prstGeom prst="rect">
            <a:avLst/>
          </a:prstGeom>
          <a:noFill/>
          <a:ln/>
        </p:spPr>
        <p:txBody>
          <a:bodyPr wrap="square" lIns="0" tIns="0" rIns="0" bIns="0" rtlCol="0" anchor="ctr"/>
          <a:lstStyle/>
          <a:p>
            <a:pPr marL="0" indent="0" algn="ctr">
              <a:buNone/>
            </a:pPr>
            <a:r>
              <a:rPr lang="en-US" sz="1400" b="1" dirty="0">
                <a:solidFill>
                  <a:srgbClr val="141B44"/>
                </a:solidFill>
                <a:latin typeface="Calibri" pitchFamily="34" charset="0"/>
                <a:ea typeface="Calibri" pitchFamily="34" charset="-122"/>
                <a:cs typeface="Calibri" pitchFamily="34" charset="-120"/>
              </a:rPr>
              <a:t>✓</a:t>
            </a:r>
            <a:endParaRPr lang="en-US" sz="1400" dirty="0"/>
          </a:p>
        </p:txBody>
      </p:sp>
      <p:sp>
        <p:nvSpPr>
          <p:cNvPr id="32" name="Text 30"/>
          <p:cNvSpPr/>
          <p:nvPr/>
        </p:nvSpPr>
        <p:spPr>
          <a:xfrm>
            <a:off x="3566160" y="4507992"/>
            <a:ext cx="2331720" cy="548640"/>
          </a:xfrm>
          <a:prstGeom prst="rect">
            <a:avLst/>
          </a:prstGeom>
          <a:noFill/>
          <a:ln/>
        </p:spPr>
        <p:txBody>
          <a:bodyPr wrap="square" rtlCol="0" anchor="ctr"/>
          <a:lstStyle/>
          <a:p>
            <a:pPr marL="0" indent="0">
              <a:lnSpc>
                <a:spcPct val="110000"/>
              </a:lnSpc>
              <a:buNone/>
            </a:pPr>
            <a:r>
              <a:rPr lang="en-US" sz="1200" b="1" dirty="0">
                <a:solidFill>
                  <a:srgbClr val="FFFFFF"/>
                </a:solidFill>
                <a:latin typeface="Calibri" pitchFamily="34" charset="0"/>
                <a:ea typeface="Calibri" pitchFamily="34" charset="-122"/>
                <a:cs typeface="Calibri" pitchFamily="34" charset="-120"/>
              </a:rPr>
              <a:t>Automated KPI tracking</a:t>
            </a:r>
            <a:endParaRPr lang="en-US" sz="1200" dirty="0"/>
          </a:p>
        </p:txBody>
      </p:sp>
      <p:sp>
        <p:nvSpPr>
          <p:cNvPr id="33" name="Text 31"/>
          <p:cNvSpPr/>
          <p:nvPr/>
        </p:nvSpPr>
        <p:spPr>
          <a:xfrm>
            <a:off x="3566160" y="5029200"/>
            <a:ext cx="2331720" cy="777240"/>
          </a:xfrm>
          <a:prstGeom prst="rect">
            <a:avLst/>
          </a:prstGeom>
          <a:noFill/>
          <a:ln/>
        </p:spPr>
        <p:txBody>
          <a:bodyPr wrap="square" rtlCol="0" anchor="ctr"/>
          <a:lstStyle/>
          <a:p>
            <a:pPr marL="0" indent="0">
              <a:lnSpc>
                <a:spcPct val="120000"/>
              </a:lnSpc>
              <a:buNone/>
            </a:pPr>
            <a:r>
              <a:rPr lang="en-US" sz="950" dirty="0">
                <a:solidFill>
                  <a:srgbClr val="CADCFC"/>
                </a:solidFill>
                <a:latin typeface="Calibri" pitchFamily="34" charset="0"/>
                <a:ea typeface="Calibri" pitchFamily="34" charset="-122"/>
                <a:cs typeface="Calibri" pitchFamily="34" charset="-120"/>
              </a:rPr>
              <a:t>MTD / MoM comparisons update without manual work</a:t>
            </a:r>
            <a:endParaRPr lang="en-US" sz="950" dirty="0"/>
          </a:p>
        </p:txBody>
      </p:sp>
      <p:sp>
        <p:nvSpPr>
          <p:cNvPr id="34" name="Shape 32"/>
          <p:cNvSpPr/>
          <p:nvPr/>
        </p:nvSpPr>
        <p:spPr>
          <a:xfrm>
            <a:off x="6217920" y="3794760"/>
            <a:ext cx="2697480" cy="2103120"/>
          </a:xfrm>
          <a:prstGeom prst="roundRect">
            <a:avLst>
              <a:gd name="adj" fmla="val 3478"/>
            </a:avLst>
          </a:prstGeom>
          <a:solidFill>
            <a:srgbClr val="141B44"/>
          </a:solidFill>
          <a:ln/>
        </p:spPr>
      </p:sp>
      <p:sp>
        <p:nvSpPr>
          <p:cNvPr id="35" name="Shape 33"/>
          <p:cNvSpPr/>
          <p:nvPr/>
        </p:nvSpPr>
        <p:spPr>
          <a:xfrm>
            <a:off x="6400800" y="3977640"/>
            <a:ext cx="384048" cy="384048"/>
          </a:xfrm>
          <a:prstGeom prst="ellipse">
            <a:avLst/>
          </a:prstGeom>
          <a:solidFill>
            <a:srgbClr val="C9A227"/>
          </a:solidFill>
          <a:ln/>
        </p:spPr>
      </p:sp>
      <p:sp>
        <p:nvSpPr>
          <p:cNvPr id="36" name="Text 34"/>
          <p:cNvSpPr/>
          <p:nvPr/>
        </p:nvSpPr>
        <p:spPr>
          <a:xfrm>
            <a:off x="6400800" y="3977640"/>
            <a:ext cx="384048" cy="384048"/>
          </a:xfrm>
          <a:prstGeom prst="rect">
            <a:avLst/>
          </a:prstGeom>
          <a:noFill/>
          <a:ln/>
        </p:spPr>
        <p:txBody>
          <a:bodyPr wrap="square" lIns="0" tIns="0" rIns="0" bIns="0" rtlCol="0" anchor="ctr"/>
          <a:lstStyle/>
          <a:p>
            <a:pPr marL="0" indent="0" algn="ctr">
              <a:buNone/>
            </a:pPr>
            <a:r>
              <a:rPr lang="en-US" sz="1400" b="1" dirty="0">
                <a:solidFill>
                  <a:srgbClr val="141B44"/>
                </a:solidFill>
                <a:latin typeface="Calibri" pitchFamily="34" charset="0"/>
                <a:ea typeface="Calibri" pitchFamily="34" charset="-122"/>
                <a:cs typeface="Calibri" pitchFamily="34" charset="-120"/>
              </a:rPr>
              <a:t>✓</a:t>
            </a:r>
            <a:endParaRPr lang="en-US" sz="1400" dirty="0"/>
          </a:p>
        </p:txBody>
      </p:sp>
      <p:sp>
        <p:nvSpPr>
          <p:cNvPr id="37" name="Text 35"/>
          <p:cNvSpPr/>
          <p:nvPr/>
        </p:nvSpPr>
        <p:spPr>
          <a:xfrm>
            <a:off x="6400800" y="4507992"/>
            <a:ext cx="2331720" cy="548640"/>
          </a:xfrm>
          <a:prstGeom prst="rect">
            <a:avLst/>
          </a:prstGeom>
          <a:noFill/>
          <a:ln/>
        </p:spPr>
        <p:txBody>
          <a:bodyPr wrap="square" rtlCol="0" anchor="ctr"/>
          <a:lstStyle/>
          <a:p>
            <a:pPr marL="0" indent="0">
              <a:lnSpc>
                <a:spcPct val="110000"/>
              </a:lnSpc>
              <a:buNone/>
            </a:pPr>
            <a:r>
              <a:rPr lang="en-US" sz="1200" b="1" dirty="0">
                <a:solidFill>
                  <a:srgbClr val="FFFFFF"/>
                </a:solidFill>
                <a:latin typeface="Calibri" pitchFamily="34" charset="0"/>
                <a:ea typeface="Calibri" pitchFamily="34" charset="-122"/>
                <a:cs typeface="Calibri" pitchFamily="34" charset="-120"/>
              </a:rPr>
              <a:t>Reduced manual reporting</a:t>
            </a:r>
            <a:endParaRPr lang="en-US" sz="1200" dirty="0"/>
          </a:p>
        </p:txBody>
      </p:sp>
      <p:sp>
        <p:nvSpPr>
          <p:cNvPr id="38" name="Text 36"/>
          <p:cNvSpPr/>
          <p:nvPr/>
        </p:nvSpPr>
        <p:spPr>
          <a:xfrm>
            <a:off x="6400800" y="5029200"/>
            <a:ext cx="2331720" cy="777240"/>
          </a:xfrm>
          <a:prstGeom prst="rect">
            <a:avLst/>
          </a:prstGeom>
          <a:noFill/>
          <a:ln/>
        </p:spPr>
        <p:txBody>
          <a:bodyPr wrap="square" rtlCol="0" anchor="ctr"/>
          <a:lstStyle/>
          <a:p>
            <a:pPr marL="0" indent="0">
              <a:lnSpc>
                <a:spcPct val="120000"/>
              </a:lnSpc>
              <a:buNone/>
            </a:pPr>
            <a:r>
              <a:rPr lang="en-US" sz="950" dirty="0">
                <a:solidFill>
                  <a:srgbClr val="CADCFC"/>
                </a:solidFill>
                <a:latin typeface="Calibri" pitchFamily="34" charset="0"/>
                <a:ea typeface="Calibri" pitchFamily="34" charset="-122"/>
                <a:cs typeface="Calibri" pitchFamily="34" charset="-120"/>
              </a:rPr>
              <a:t>Analysts shift from data-pulling to analysis</a:t>
            </a:r>
            <a:endParaRPr lang="en-US" sz="950" dirty="0"/>
          </a:p>
        </p:txBody>
      </p:sp>
      <p:sp>
        <p:nvSpPr>
          <p:cNvPr id="39" name="Shape 37"/>
          <p:cNvSpPr/>
          <p:nvPr/>
        </p:nvSpPr>
        <p:spPr>
          <a:xfrm>
            <a:off x="9052560" y="3794760"/>
            <a:ext cx="2697480" cy="2103120"/>
          </a:xfrm>
          <a:prstGeom prst="roundRect">
            <a:avLst>
              <a:gd name="adj" fmla="val 3478"/>
            </a:avLst>
          </a:prstGeom>
          <a:solidFill>
            <a:srgbClr val="141B44"/>
          </a:solidFill>
          <a:ln/>
        </p:spPr>
      </p:sp>
      <p:sp>
        <p:nvSpPr>
          <p:cNvPr id="40" name="Shape 38"/>
          <p:cNvSpPr/>
          <p:nvPr/>
        </p:nvSpPr>
        <p:spPr>
          <a:xfrm>
            <a:off x="9235440" y="3977640"/>
            <a:ext cx="384048" cy="384048"/>
          </a:xfrm>
          <a:prstGeom prst="ellipse">
            <a:avLst/>
          </a:prstGeom>
          <a:solidFill>
            <a:srgbClr val="C9A227"/>
          </a:solidFill>
          <a:ln/>
        </p:spPr>
      </p:sp>
      <p:sp>
        <p:nvSpPr>
          <p:cNvPr id="41" name="Text 39"/>
          <p:cNvSpPr/>
          <p:nvPr/>
        </p:nvSpPr>
        <p:spPr>
          <a:xfrm>
            <a:off x="9235440" y="3977640"/>
            <a:ext cx="384048" cy="384048"/>
          </a:xfrm>
          <a:prstGeom prst="rect">
            <a:avLst/>
          </a:prstGeom>
          <a:noFill/>
          <a:ln/>
        </p:spPr>
        <p:txBody>
          <a:bodyPr wrap="square" lIns="0" tIns="0" rIns="0" bIns="0" rtlCol="0" anchor="ctr"/>
          <a:lstStyle/>
          <a:p>
            <a:pPr marL="0" indent="0" algn="ctr">
              <a:buNone/>
            </a:pPr>
            <a:r>
              <a:rPr lang="en-US" sz="1400" b="1" dirty="0">
                <a:solidFill>
                  <a:srgbClr val="141B44"/>
                </a:solidFill>
                <a:latin typeface="Calibri" pitchFamily="34" charset="0"/>
                <a:ea typeface="Calibri" pitchFamily="34" charset="-122"/>
                <a:cs typeface="Calibri" pitchFamily="34" charset="-120"/>
              </a:rPr>
              <a:t>✓</a:t>
            </a:r>
            <a:endParaRPr lang="en-US" sz="1400" dirty="0"/>
          </a:p>
        </p:txBody>
      </p:sp>
      <p:sp>
        <p:nvSpPr>
          <p:cNvPr id="42" name="Text 40"/>
          <p:cNvSpPr/>
          <p:nvPr/>
        </p:nvSpPr>
        <p:spPr>
          <a:xfrm>
            <a:off x="9235440" y="4507992"/>
            <a:ext cx="2331720" cy="548640"/>
          </a:xfrm>
          <a:prstGeom prst="rect">
            <a:avLst/>
          </a:prstGeom>
          <a:noFill/>
          <a:ln/>
        </p:spPr>
        <p:txBody>
          <a:bodyPr wrap="square" rtlCol="0" anchor="ctr"/>
          <a:lstStyle/>
          <a:p>
            <a:pPr marL="0" indent="0">
              <a:lnSpc>
                <a:spcPct val="110000"/>
              </a:lnSpc>
              <a:buNone/>
            </a:pPr>
            <a:r>
              <a:rPr lang="en-US" sz="1200" b="1" dirty="0">
                <a:solidFill>
                  <a:srgbClr val="FFFFFF"/>
                </a:solidFill>
                <a:latin typeface="Calibri" pitchFamily="34" charset="0"/>
                <a:ea typeface="Calibri" pitchFamily="34" charset="-122"/>
                <a:cs typeface="Calibri" pitchFamily="34" charset="-120"/>
              </a:rPr>
              <a:t>Higher operational efficiency</a:t>
            </a:r>
            <a:endParaRPr lang="en-US" sz="1200" dirty="0"/>
          </a:p>
        </p:txBody>
      </p:sp>
      <p:sp>
        <p:nvSpPr>
          <p:cNvPr id="43" name="Text 41"/>
          <p:cNvSpPr/>
          <p:nvPr/>
        </p:nvSpPr>
        <p:spPr>
          <a:xfrm>
            <a:off x="9235440" y="5029200"/>
            <a:ext cx="2331720" cy="777240"/>
          </a:xfrm>
          <a:prstGeom prst="rect">
            <a:avLst/>
          </a:prstGeom>
          <a:noFill/>
          <a:ln/>
        </p:spPr>
        <p:txBody>
          <a:bodyPr wrap="square" rtlCol="0" anchor="ctr"/>
          <a:lstStyle/>
          <a:p>
            <a:pPr marL="0" indent="0">
              <a:lnSpc>
                <a:spcPct val="120000"/>
              </a:lnSpc>
              <a:buNone/>
            </a:pPr>
            <a:r>
              <a:rPr lang="en-US" sz="950" dirty="0">
                <a:solidFill>
                  <a:srgbClr val="CADCFC"/>
                </a:solidFill>
                <a:latin typeface="Calibri" pitchFamily="34" charset="0"/>
                <a:ea typeface="Calibri" pitchFamily="34" charset="-122"/>
                <a:cs typeface="Calibri" pitchFamily="34" charset="-120"/>
              </a:rPr>
              <a:t>One source of truth across lending teams</a:t>
            </a:r>
            <a:endParaRPr lang="en-US" sz="950" dirty="0"/>
          </a:p>
        </p:txBody>
      </p:sp>
      <p:sp>
        <p:nvSpPr>
          <p:cNvPr id="44" name="Text 42"/>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5B6B8C"/>
                </a:solidFill>
                <a:latin typeface="Calibri" pitchFamily="34" charset="0"/>
                <a:ea typeface="Calibri" pitchFamily="34" charset="-122"/>
                <a:cs typeface="Calibri" pitchFamily="34" charset="-120"/>
              </a:rPr>
              <a:t>Bank Loan Report Analysis</a:t>
            </a:r>
            <a:endParaRPr lang="en-US" sz="900" dirty="0"/>
          </a:p>
        </p:txBody>
      </p:sp>
      <p:sp>
        <p:nvSpPr>
          <p:cNvPr id="45" name="Text 43"/>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5B6B8C"/>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FUTURE SCOPE</a:t>
            </a:r>
            <a:endParaRPr lang="en-US" sz="1200" dirty="0"/>
          </a:p>
        </p:txBody>
      </p:sp>
      <p:sp>
        <p:nvSpPr>
          <p:cNvPr id="3" name="Text 1"/>
          <p:cNvSpPr/>
          <p:nvPr/>
        </p:nvSpPr>
        <p:spPr>
          <a:xfrm>
            <a:off x="548640" y="713232"/>
            <a:ext cx="9144000" cy="548640"/>
          </a:xfrm>
          <a:prstGeom prst="rect">
            <a:avLst/>
          </a:prstGeom>
          <a:noFill/>
          <a:ln/>
        </p:spPr>
        <p:txBody>
          <a:bodyPr wrap="square" rtlCol="0" anchor="ctr"/>
          <a:lstStyle/>
          <a:p>
            <a:pPr marL="0" indent="0">
              <a:buNone/>
            </a:pPr>
            <a:r>
              <a:rPr lang="en-US" sz="2400" b="1" dirty="0">
                <a:solidFill>
                  <a:srgbClr val="1B2340"/>
                </a:solidFill>
                <a:latin typeface="Cambria" pitchFamily="34" charset="0"/>
                <a:ea typeface="Cambria" pitchFamily="34" charset="-122"/>
                <a:cs typeface="Cambria" pitchFamily="34" charset="-120"/>
              </a:rPr>
              <a:t>From dashboard to enterprise analytics platform</a:t>
            </a:r>
            <a:endParaRPr lang="en-US" sz="2400" dirty="0"/>
          </a:p>
        </p:txBody>
      </p:sp>
      <p:sp>
        <p:nvSpPr>
          <p:cNvPr id="4" name="Shape 2"/>
          <p:cNvSpPr/>
          <p:nvPr/>
        </p:nvSpPr>
        <p:spPr>
          <a:xfrm>
            <a:off x="548640" y="1600200"/>
            <a:ext cx="2121408" cy="1600200"/>
          </a:xfrm>
          <a:prstGeom prst="roundRect">
            <a:avLst>
              <a:gd name="adj" fmla="val 4571"/>
            </a:avLst>
          </a:prstGeom>
          <a:solidFill>
            <a:srgbClr val="EEF3FC"/>
          </a:solidFill>
          <a:ln/>
        </p:spPr>
      </p:sp>
      <p:sp>
        <p:nvSpPr>
          <p:cNvPr id="5" name="Shape 3"/>
          <p:cNvSpPr/>
          <p:nvPr/>
        </p:nvSpPr>
        <p:spPr>
          <a:xfrm>
            <a:off x="1408176" y="1783080"/>
            <a:ext cx="402336" cy="402336"/>
          </a:xfrm>
          <a:prstGeom prst="ellipse">
            <a:avLst/>
          </a:prstGeom>
          <a:solidFill>
            <a:srgbClr val="1E2761"/>
          </a:solidFill>
          <a:ln/>
        </p:spPr>
      </p:sp>
      <p:sp>
        <p:nvSpPr>
          <p:cNvPr id="6" name="Text 4"/>
          <p:cNvSpPr/>
          <p:nvPr/>
        </p:nvSpPr>
        <p:spPr>
          <a:xfrm>
            <a:off x="1408176" y="178308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658368" y="2350008"/>
            <a:ext cx="1901952" cy="777240"/>
          </a:xfrm>
          <a:prstGeom prst="rect">
            <a:avLst/>
          </a:prstGeom>
          <a:noFill/>
          <a:ln/>
        </p:spPr>
        <p:txBody>
          <a:bodyPr wrap="square" rtlCol="0" anchor="ctr"/>
          <a:lstStyle/>
          <a:p>
            <a:pPr marL="0" indent="0" algn="ctr">
              <a:lnSpc>
                <a:spcPct val="115000"/>
              </a:lnSpc>
              <a:buNone/>
            </a:pPr>
            <a:r>
              <a:rPr lang="en-US" sz="980" dirty="0">
                <a:solidFill>
                  <a:srgbClr val="1B2340"/>
                </a:solidFill>
                <a:latin typeface="Calibri" pitchFamily="34" charset="0"/>
                <a:ea typeface="Calibri" pitchFamily="34" charset="-122"/>
                <a:cs typeface="Calibri" pitchFamily="34" charset="-120"/>
              </a:rPr>
              <a:t>ML-based loan default prediction</a:t>
            </a:r>
            <a:endParaRPr lang="en-US" sz="980" dirty="0"/>
          </a:p>
        </p:txBody>
      </p:sp>
      <p:sp>
        <p:nvSpPr>
          <p:cNvPr id="8" name="Shape 6"/>
          <p:cNvSpPr/>
          <p:nvPr/>
        </p:nvSpPr>
        <p:spPr>
          <a:xfrm>
            <a:off x="2816352" y="1600200"/>
            <a:ext cx="2121408" cy="1600200"/>
          </a:xfrm>
          <a:prstGeom prst="roundRect">
            <a:avLst>
              <a:gd name="adj" fmla="val 4571"/>
            </a:avLst>
          </a:prstGeom>
          <a:solidFill>
            <a:srgbClr val="EEF3FC"/>
          </a:solidFill>
          <a:ln/>
        </p:spPr>
      </p:sp>
      <p:sp>
        <p:nvSpPr>
          <p:cNvPr id="9" name="Shape 7"/>
          <p:cNvSpPr/>
          <p:nvPr/>
        </p:nvSpPr>
        <p:spPr>
          <a:xfrm>
            <a:off x="3675888" y="1783080"/>
            <a:ext cx="402336" cy="402336"/>
          </a:xfrm>
          <a:prstGeom prst="ellipse">
            <a:avLst/>
          </a:prstGeom>
          <a:solidFill>
            <a:srgbClr val="1E2761"/>
          </a:solidFill>
          <a:ln/>
        </p:spPr>
      </p:sp>
      <p:sp>
        <p:nvSpPr>
          <p:cNvPr id="10" name="Text 8"/>
          <p:cNvSpPr/>
          <p:nvPr/>
        </p:nvSpPr>
        <p:spPr>
          <a:xfrm>
            <a:off x="3675888" y="178308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2926080" y="2350008"/>
            <a:ext cx="1901952" cy="777240"/>
          </a:xfrm>
          <a:prstGeom prst="rect">
            <a:avLst/>
          </a:prstGeom>
          <a:noFill/>
          <a:ln/>
        </p:spPr>
        <p:txBody>
          <a:bodyPr wrap="square" rtlCol="0" anchor="ctr"/>
          <a:lstStyle/>
          <a:p>
            <a:pPr marL="0" indent="0" algn="ctr">
              <a:lnSpc>
                <a:spcPct val="115000"/>
              </a:lnSpc>
              <a:buNone/>
            </a:pPr>
            <a:r>
              <a:rPr lang="en-US" sz="980" dirty="0">
                <a:solidFill>
                  <a:srgbClr val="1B2340"/>
                </a:solidFill>
                <a:latin typeface="Calibri" pitchFamily="34" charset="0"/>
                <a:ea typeface="Calibri" pitchFamily="34" charset="-122"/>
                <a:cs typeface="Calibri" pitchFamily="34" charset="-120"/>
              </a:rPr>
              <a:t>Customer credit scoring model</a:t>
            </a:r>
            <a:endParaRPr lang="en-US" sz="980" dirty="0"/>
          </a:p>
        </p:txBody>
      </p:sp>
      <p:sp>
        <p:nvSpPr>
          <p:cNvPr id="12" name="Shape 10"/>
          <p:cNvSpPr/>
          <p:nvPr/>
        </p:nvSpPr>
        <p:spPr>
          <a:xfrm>
            <a:off x="5084064" y="1600200"/>
            <a:ext cx="2121408" cy="1600200"/>
          </a:xfrm>
          <a:prstGeom prst="roundRect">
            <a:avLst>
              <a:gd name="adj" fmla="val 4571"/>
            </a:avLst>
          </a:prstGeom>
          <a:solidFill>
            <a:srgbClr val="EEF3FC"/>
          </a:solidFill>
          <a:ln/>
        </p:spPr>
      </p:sp>
      <p:sp>
        <p:nvSpPr>
          <p:cNvPr id="13" name="Shape 11"/>
          <p:cNvSpPr/>
          <p:nvPr/>
        </p:nvSpPr>
        <p:spPr>
          <a:xfrm>
            <a:off x="5943600" y="1783080"/>
            <a:ext cx="402336" cy="402336"/>
          </a:xfrm>
          <a:prstGeom prst="ellipse">
            <a:avLst/>
          </a:prstGeom>
          <a:solidFill>
            <a:srgbClr val="1E2761"/>
          </a:solidFill>
          <a:ln/>
        </p:spPr>
      </p:sp>
      <p:sp>
        <p:nvSpPr>
          <p:cNvPr id="14" name="Text 12"/>
          <p:cNvSpPr/>
          <p:nvPr/>
        </p:nvSpPr>
        <p:spPr>
          <a:xfrm>
            <a:off x="5943600" y="178308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5193792" y="2350008"/>
            <a:ext cx="1901952" cy="777240"/>
          </a:xfrm>
          <a:prstGeom prst="rect">
            <a:avLst/>
          </a:prstGeom>
          <a:noFill/>
          <a:ln/>
        </p:spPr>
        <p:txBody>
          <a:bodyPr wrap="square" rtlCol="0" anchor="ctr"/>
          <a:lstStyle/>
          <a:p>
            <a:pPr marL="0" indent="0" algn="ctr">
              <a:lnSpc>
                <a:spcPct val="115000"/>
              </a:lnSpc>
              <a:buNone/>
            </a:pPr>
            <a:r>
              <a:rPr lang="en-US" sz="980" dirty="0">
                <a:solidFill>
                  <a:srgbClr val="1B2340"/>
                </a:solidFill>
                <a:latin typeface="Calibri" pitchFamily="34" charset="0"/>
                <a:ea typeface="Calibri" pitchFamily="34" charset="-122"/>
                <a:cs typeface="Calibri" pitchFamily="34" charset="-120"/>
              </a:rPr>
              <a:t>Python integration for advanced analytics</a:t>
            </a:r>
            <a:endParaRPr lang="en-US" sz="980" dirty="0"/>
          </a:p>
        </p:txBody>
      </p:sp>
      <p:sp>
        <p:nvSpPr>
          <p:cNvPr id="16" name="Shape 14"/>
          <p:cNvSpPr/>
          <p:nvPr/>
        </p:nvSpPr>
        <p:spPr>
          <a:xfrm>
            <a:off x="7351776" y="1600200"/>
            <a:ext cx="2121408" cy="1600200"/>
          </a:xfrm>
          <a:prstGeom prst="roundRect">
            <a:avLst>
              <a:gd name="adj" fmla="val 4571"/>
            </a:avLst>
          </a:prstGeom>
          <a:solidFill>
            <a:srgbClr val="EEF3FC"/>
          </a:solidFill>
          <a:ln/>
        </p:spPr>
      </p:sp>
      <p:sp>
        <p:nvSpPr>
          <p:cNvPr id="17" name="Shape 15"/>
          <p:cNvSpPr/>
          <p:nvPr/>
        </p:nvSpPr>
        <p:spPr>
          <a:xfrm>
            <a:off x="8211312" y="1783080"/>
            <a:ext cx="402336" cy="402336"/>
          </a:xfrm>
          <a:prstGeom prst="ellipse">
            <a:avLst/>
          </a:prstGeom>
          <a:solidFill>
            <a:srgbClr val="1E2761"/>
          </a:solidFill>
          <a:ln/>
        </p:spPr>
      </p:sp>
      <p:sp>
        <p:nvSpPr>
          <p:cNvPr id="18" name="Text 16"/>
          <p:cNvSpPr/>
          <p:nvPr/>
        </p:nvSpPr>
        <p:spPr>
          <a:xfrm>
            <a:off x="8211312" y="178308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7461504" y="2350008"/>
            <a:ext cx="1901952" cy="777240"/>
          </a:xfrm>
          <a:prstGeom prst="rect">
            <a:avLst/>
          </a:prstGeom>
          <a:noFill/>
          <a:ln/>
        </p:spPr>
        <p:txBody>
          <a:bodyPr wrap="square" rtlCol="0" anchor="ctr"/>
          <a:lstStyle/>
          <a:p>
            <a:pPr marL="0" indent="0" algn="ctr">
              <a:lnSpc>
                <a:spcPct val="115000"/>
              </a:lnSpc>
              <a:buNone/>
            </a:pPr>
            <a:r>
              <a:rPr lang="en-US" sz="980" dirty="0">
                <a:solidFill>
                  <a:srgbClr val="1B2340"/>
                </a:solidFill>
                <a:latin typeface="Calibri" pitchFamily="34" charset="0"/>
                <a:ea typeface="Calibri" pitchFamily="34" charset="-122"/>
                <a:cs typeface="Calibri" pitchFamily="34" charset="-120"/>
              </a:rPr>
              <a:t>Power BI Service deployment</a:t>
            </a:r>
            <a:endParaRPr lang="en-US" sz="980" dirty="0"/>
          </a:p>
        </p:txBody>
      </p:sp>
      <p:sp>
        <p:nvSpPr>
          <p:cNvPr id="20" name="Shape 18"/>
          <p:cNvSpPr/>
          <p:nvPr/>
        </p:nvSpPr>
        <p:spPr>
          <a:xfrm>
            <a:off x="9619488" y="1600200"/>
            <a:ext cx="2121408" cy="1600200"/>
          </a:xfrm>
          <a:prstGeom prst="roundRect">
            <a:avLst>
              <a:gd name="adj" fmla="val 4571"/>
            </a:avLst>
          </a:prstGeom>
          <a:solidFill>
            <a:srgbClr val="EEF3FC"/>
          </a:solidFill>
          <a:ln/>
        </p:spPr>
      </p:sp>
      <p:sp>
        <p:nvSpPr>
          <p:cNvPr id="21" name="Shape 19"/>
          <p:cNvSpPr/>
          <p:nvPr/>
        </p:nvSpPr>
        <p:spPr>
          <a:xfrm>
            <a:off x="10479024" y="1783080"/>
            <a:ext cx="402336" cy="402336"/>
          </a:xfrm>
          <a:prstGeom prst="ellipse">
            <a:avLst/>
          </a:prstGeom>
          <a:solidFill>
            <a:srgbClr val="1E2761"/>
          </a:solidFill>
          <a:ln/>
        </p:spPr>
      </p:sp>
      <p:sp>
        <p:nvSpPr>
          <p:cNvPr id="22" name="Text 20"/>
          <p:cNvSpPr/>
          <p:nvPr/>
        </p:nvSpPr>
        <p:spPr>
          <a:xfrm>
            <a:off x="10479024" y="178308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1"/>
          <p:cNvSpPr/>
          <p:nvPr/>
        </p:nvSpPr>
        <p:spPr>
          <a:xfrm>
            <a:off x="9729216" y="2350008"/>
            <a:ext cx="1901952" cy="777240"/>
          </a:xfrm>
          <a:prstGeom prst="rect">
            <a:avLst/>
          </a:prstGeom>
          <a:noFill/>
          <a:ln/>
        </p:spPr>
        <p:txBody>
          <a:bodyPr wrap="square" rtlCol="0" anchor="ctr"/>
          <a:lstStyle/>
          <a:p>
            <a:pPr marL="0" indent="0" algn="ctr">
              <a:lnSpc>
                <a:spcPct val="115000"/>
              </a:lnSpc>
              <a:buNone/>
            </a:pPr>
            <a:r>
              <a:rPr lang="en-US" sz="980" dirty="0">
                <a:solidFill>
                  <a:srgbClr val="1B2340"/>
                </a:solidFill>
                <a:latin typeface="Calibri" pitchFamily="34" charset="0"/>
                <a:ea typeface="Calibri" pitchFamily="34" charset="-122"/>
                <a:cs typeface="Calibri" pitchFamily="34" charset="-120"/>
              </a:rPr>
              <a:t>Scheduled automatic data refresh</a:t>
            </a:r>
            <a:endParaRPr lang="en-US" sz="980" dirty="0"/>
          </a:p>
        </p:txBody>
      </p:sp>
      <p:sp>
        <p:nvSpPr>
          <p:cNvPr id="24" name="Shape 22"/>
          <p:cNvSpPr/>
          <p:nvPr/>
        </p:nvSpPr>
        <p:spPr>
          <a:xfrm>
            <a:off x="548640" y="3401568"/>
            <a:ext cx="2121408" cy="1600200"/>
          </a:xfrm>
          <a:prstGeom prst="roundRect">
            <a:avLst>
              <a:gd name="adj" fmla="val 4571"/>
            </a:avLst>
          </a:prstGeom>
          <a:solidFill>
            <a:srgbClr val="EEF3FC"/>
          </a:solidFill>
          <a:ln/>
        </p:spPr>
      </p:sp>
      <p:sp>
        <p:nvSpPr>
          <p:cNvPr id="25" name="Shape 23"/>
          <p:cNvSpPr/>
          <p:nvPr/>
        </p:nvSpPr>
        <p:spPr>
          <a:xfrm>
            <a:off x="1408176" y="3584448"/>
            <a:ext cx="402336" cy="402336"/>
          </a:xfrm>
          <a:prstGeom prst="ellipse">
            <a:avLst/>
          </a:prstGeom>
          <a:solidFill>
            <a:srgbClr val="1E2761"/>
          </a:solidFill>
          <a:ln/>
        </p:spPr>
      </p:sp>
      <p:sp>
        <p:nvSpPr>
          <p:cNvPr id="26" name="Text 24"/>
          <p:cNvSpPr/>
          <p:nvPr/>
        </p:nvSpPr>
        <p:spPr>
          <a:xfrm>
            <a:off x="1408176" y="3584448"/>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7" name="Text 25"/>
          <p:cNvSpPr/>
          <p:nvPr/>
        </p:nvSpPr>
        <p:spPr>
          <a:xfrm>
            <a:off x="658368" y="4151376"/>
            <a:ext cx="1901952" cy="777240"/>
          </a:xfrm>
          <a:prstGeom prst="rect">
            <a:avLst/>
          </a:prstGeom>
          <a:noFill/>
          <a:ln/>
        </p:spPr>
        <p:txBody>
          <a:bodyPr wrap="square" rtlCol="0" anchor="ctr"/>
          <a:lstStyle/>
          <a:p>
            <a:pPr marL="0" indent="0" algn="ctr">
              <a:lnSpc>
                <a:spcPct val="115000"/>
              </a:lnSpc>
              <a:buNone/>
            </a:pPr>
            <a:r>
              <a:rPr lang="en-US" sz="980" dirty="0">
                <a:solidFill>
                  <a:srgbClr val="1B2340"/>
                </a:solidFill>
                <a:latin typeface="Calibri" pitchFamily="34" charset="0"/>
                <a:ea typeface="Calibri" pitchFamily="34" charset="-122"/>
                <a:cs typeface="Calibri" pitchFamily="34" charset="-120"/>
              </a:rPr>
              <a:t>Real-time / near-real-time dashboard</a:t>
            </a:r>
            <a:endParaRPr lang="en-US" sz="980" dirty="0"/>
          </a:p>
        </p:txBody>
      </p:sp>
      <p:sp>
        <p:nvSpPr>
          <p:cNvPr id="28" name="Shape 26"/>
          <p:cNvSpPr/>
          <p:nvPr/>
        </p:nvSpPr>
        <p:spPr>
          <a:xfrm>
            <a:off x="2816352" y="3401568"/>
            <a:ext cx="2121408" cy="1600200"/>
          </a:xfrm>
          <a:prstGeom prst="roundRect">
            <a:avLst>
              <a:gd name="adj" fmla="val 4571"/>
            </a:avLst>
          </a:prstGeom>
          <a:solidFill>
            <a:srgbClr val="EEF3FC"/>
          </a:solidFill>
          <a:ln/>
        </p:spPr>
      </p:sp>
      <p:sp>
        <p:nvSpPr>
          <p:cNvPr id="29" name="Shape 27"/>
          <p:cNvSpPr/>
          <p:nvPr/>
        </p:nvSpPr>
        <p:spPr>
          <a:xfrm>
            <a:off x="3675888" y="3584448"/>
            <a:ext cx="402336" cy="402336"/>
          </a:xfrm>
          <a:prstGeom prst="ellipse">
            <a:avLst/>
          </a:prstGeom>
          <a:solidFill>
            <a:srgbClr val="1E2761"/>
          </a:solidFill>
          <a:ln/>
        </p:spPr>
      </p:sp>
      <p:sp>
        <p:nvSpPr>
          <p:cNvPr id="30" name="Text 28"/>
          <p:cNvSpPr/>
          <p:nvPr/>
        </p:nvSpPr>
        <p:spPr>
          <a:xfrm>
            <a:off x="3675888" y="3584448"/>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1" name="Text 29"/>
          <p:cNvSpPr/>
          <p:nvPr/>
        </p:nvSpPr>
        <p:spPr>
          <a:xfrm>
            <a:off x="2926080" y="4151376"/>
            <a:ext cx="1901952" cy="777240"/>
          </a:xfrm>
          <a:prstGeom prst="rect">
            <a:avLst/>
          </a:prstGeom>
          <a:noFill/>
          <a:ln/>
        </p:spPr>
        <p:txBody>
          <a:bodyPr wrap="square" rtlCol="0" anchor="ctr"/>
          <a:lstStyle/>
          <a:p>
            <a:pPr marL="0" indent="0" algn="ctr">
              <a:lnSpc>
                <a:spcPct val="115000"/>
              </a:lnSpc>
              <a:buNone/>
            </a:pPr>
            <a:r>
              <a:rPr lang="en-US" sz="980" dirty="0">
                <a:solidFill>
                  <a:srgbClr val="1B2340"/>
                </a:solidFill>
                <a:latin typeface="Calibri" pitchFamily="34" charset="0"/>
                <a:ea typeface="Calibri" pitchFamily="34" charset="-122"/>
                <a:cs typeface="Calibri" pitchFamily="34" charset="-120"/>
              </a:rPr>
              <a:t>Azure cloud integration</a:t>
            </a:r>
            <a:endParaRPr lang="en-US" sz="980" dirty="0"/>
          </a:p>
        </p:txBody>
      </p:sp>
      <p:sp>
        <p:nvSpPr>
          <p:cNvPr id="32" name="Shape 30"/>
          <p:cNvSpPr/>
          <p:nvPr/>
        </p:nvSpPr>
        <p:spPr>
          <a:xfrm>
            <a:off x="5084064" y="3401568"/>
            <a:ext cx="2121408" cy="1600200"/>
          </a:xfrm>
          <a:prstGeom prst="roundRect">
            <a:avLst>
              <a:gd name="adj" fmla="val 4571"/>
            </a:avLst>
          </a:prstGeom>
          <a:solidFill>
            <a:srgbClr val="EEF3FC"/>
          </a:solidFill>
          <a:ln/>
        </p:spPr>
      </p:sp>
      <p:sp>
        <p:nvSpPr>
          <p:cNvPr id="33" name="Shape 31"/>
          <p:cNvSpPr/>
          <p:nvPr/>
        </p:nvSpPr>
        <p:spPr>
          <a:xfrm>
            <a:off x="5943600" y="3584448"/>
            <a:ext cx="402336" cy="402336"/>
          </a:xfrm>
          <a:prstGeom prst="ellipse">
            <a:avLst/>
          </a:prstGeom>
          <a:solidFill>
            <a:srgbClr val="1E2761"/>
          </a:solidFill>
          <a:ln/>
        </p:spPr>
      </p:sp>
      <p:sp>
        <p:nvSpPr>
          <p:cNvPr id="34" name="Text 32"/>
          <p:cNvSpPr/>
          <p:nvPr/>
        </p:nvSpPr>
        <p:spPr>
          <a:xfrm>
            <a:off x="5943600" y="3584448"/>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35" name="Text 33"/>
          <p:cNvSpPr/>
          <p:nvPr/>
        </p:nvSpPr>
        <p:spPr>
          <a:xfrm>
            <a:off x="5193792" y="4151376"/>
            <a:ext cx="1901952" cy="777240"/>
          </a:xfrm>
          <a:prstGeom prst="rect">
            <a:avLst/>
          </a:prstGeom>
          <a:noFill/>
          <a:ln/>
        </p:spPr>
        <p:txBody>
          <a:bodyPr wrap="square" rtlCol="0" anchor="ctr"/>
          <a:lstStyle/>
          <a:p>
            <a:pPr marL="0" indent="0" algn="ctr">
              <a:lnSpc>
                <a:spcPct val="115000"/>
              </a:lnSpc>
              <a:buNone/>
            </a:pPr>
            <a:r>
              <a:rPr lang="en-US" sz="980" dirty="0">
                <a:solidFill>
                  <a:srgbClr val="1B2340"/>
                </a:solidFill>
                <a:latin typeface="Calibri" pitchFamily="34" charset="0"/>
                <a:ea typeface="Calibri" pitchFamily="34" charset="-122"/>
                <a:cs typeface="Calibri" pitchFamily="34" charset="-120"/>
              </a:rPr>
              <a:t>Predictive analytics for risk trends</a:t>
            </a:r>
            <a:endParaRPr lang="en-US" sz="980" dirty="0"/>
          </a:p>
        </p:txBody>
      </p:sp>
      <p:sp>
        <p:nvSpPr>
          <p:cNvPr id="36" name="Shape 34"/>
          <p:cNvSpPr/>
          <p:nvPr/>
        </p:nvSpPr>
        <p:spPr>
          <a:xfrm>
            <a:off x="7351776" y="3401568"/>
            <a:ext cx="2121408" cy="1600200"/>
          </a:xfrm>
          <a:prstGeom prst="roundRect">
            <a:avLst>
              <a:gd name="adj" fmla="val 4571"/>
            </a:avLst>
          </a:prstGeom>
          <a:solidFill>
            <a:srgbClr val="EEF3FC"/>
          </a:solidFill>
          <a:ln/>
        </p:spPr>
      </p:sp>
      <p:sp>
        <p:nvSpPr>
          <p:cNvPr id="37" name="Shape 35"/>
          <p:cNvSpPr/>
          <p:nvPr/>
        </p:nvSpPr>
        <p:spPr>
          <a:xfrm>
            <a:off x="8211312" y="3584448"/>
            <a:ext cx="402336" cy="402336"/>
          </a:xfrm>
          <a:prstGeom prst="ellipse">
            <a:avLst/>
          </a:prstGeom>
          <a:solidFill>
            <a:srgbClr val="1E2761"/>
          </a:solidFill>
          <a:ln/>
        </p:spPr>
      </p:sp>
      <p:sp>
        <p:nvSpPr>
          <p:cNvPr id="38" name="Text 36"/>
          <p:cNvSpPr/>
          <p:nvPr/>
        </p:nvSpPr>
        <p:spPr>
          <a:xfrm>
            <a:off x="8211312" y="3584448"/>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39" name="Text 37"/>
          <p:cNvSpPr/>
          <p:nvPr/>
        </p:nvSpPr>
        <p:spPr>
          <a:xfrm>
            <a:off x="7461504" y="4151376"/>
            <a:ext cx="1901952" cy="777240"/>
          </a:xfrm>
          <a:prstGeom prst="rect">
            <a:avLst/>
          </a:prstGeom>
          <a:noFill/>
          <a:ln/>
        </p:spPr>
        <p:txBody>
          <a:bodyPr wrap="square" rtlCol="0" anchor="ctr"/>
          <a:lstStyle/>
          <a:p>
            <a:pPr marL="0" indent="0" algn="ctr">
              <a:lnSpc>
                <a:spcPct val="115000"/>
              </a:lnSpc>
              <a:buNone/>
            </a:pPr>
            <a:r>
              <a:rPr lang="en-US" sz="980" dirty="0">
                <a:solidFill>
                  <a:srgbClr val="1B2340"/>
                </a:solidFill>
                <a:latin typeface="Calibri" pitchFamily="34" charset="0"/>
                <a:ea typeface="Calibri" pitchFamily="34" charset="-122"/>
                <a:cs typeface="Calibri" pitchFamily="34" charset="-120"/>
              </a:rPr>
              <a:t>Fraud detection models</a:t>
            </a:r>
            <a:endParaRPr lang="en-US" sz="980" dirty="0"/>
          </a:p>
        </p:txBody>
      </p:sp>
      <p:sp>
        <p:nvSpPr>
          <p:cNvPr id="40" name="Shape 38"/>
          <p:cNvSpPr/>
          <p:nvPr/>
        </p:nvSpPr>
        <p:spPr>
          <a:xfrm>
            <a:off x="9619488" y="3401568"/>
            <a:ext cx="2121408" cy="1600200"/>
          </a:xfrm>
          <a:prstGeom prst="roundRect">
            <a:avLst>
              <a:gd name="adj" fmla="val 4571"/>
            </a:avLst>
          </a:prstGeom>
          <a:solidFill>
            <a:srgbClr val="EEF3FC"/>
          </a:solidFill>
          <a:ln/>
        </p:spPr>
      </p:sp>
      <p:sp>
        <p:nvSpPr>
          <p:cNvPr id="41" name="Shape 39"/>
          <p:cNvSpPr/>
          <p:nvPr/>
        </p:nvSpPr>
        <p:spPr>
          <a:xfrm>
            <a:off x="10479024" y="3584448"/>
            <a:ext cx="402336" cy="402336"/>
          </a:xfrm>
          <a:prstGeom prst="ellipse">
            <a:avLst/>
          </a:prstGeom>
          <a:solidFill>
            <a:srgbClr val="1E2761"/>
          </a:solidFill>
          <a:ln/>
        </p:spPr>
      </p:sp>
      <p:sp>
        <p:nvSpPr>
          <p:cNvPr id="42" name="Text 40"/>
          <p:cNvSpPr/>
          <p:nvPr/>
        </p:nvSpPr>
        <p:spPr>
          <a:xfrm>
            <a:off x="10479024" y="3584448"/>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43" name="Text 41"/>
          <p:cNvSpPr/>
          <p:nvPr/>
        </p:nvSpPr>
        <p:spPr>
          <a:xfrm>
            <a:off x="9729216" y="4151376"/>
            <a:ext cx="1901952" cy="777240"/>
          </a:xfrm>
          <a:prstGeom prst="rect">
            <a:avLst/>
          </a:prstGeom>
          <a:noFill/>
          <a:ln/>
        </p:spPr>
        <p:txBody>
          <a:bodyPr wrap="square" rtlCol="0" anchor="ctr"/>
          <a:lstStyle/>
          <a:p>
            <a:pPr marL="0" indent="0" algn="ctr">
              <a:lnSpc>
                <a:spcPct val="115000"/>
              </a:lnSpc>
              <a:buNone/>
            </a:pPr>
            <a:r>
              <a:rPr lang="en-US" sz="980" dirty="0">
                <a:solidFill>
                  <a:srgbClr val="1B2340"/>
                </a:solidFill>
                <a:latin typeface="Calibri" pitchFamily="34" charset="0"/>
                <a:ea typeface="Calibri" pitchFamily="34" charset="-122"/>
                <a:cs typeface="Calibri" pitchFamily="34" charset="-120"/>
              </a:rPr>
              <a:t>Executive mobile dashboard</a:t>
            </a:r>
            <a:endParaRPr lang="en-US" sz="980" dirty="0"/>
          </a:p>
        </p:txBody>
      </p:sp>
      <p:sp>
        <p:nvSpPr>
          <p:cNvPr id="44" name="Text 42"/>
          <p:cNvSpPr/>
          <p:nvPr/>
        </p:nvSpPr>
        <p:spPr>
          <a:xfrm>
            <a:off x="548640" y="5294376"/>
            <a:ext cx="11064240" cy="457200"/>
          </a:xfrm>
          <a:prstGeom prst="rect">
            <a:avLst/>
          </a:prstGeom>
          <a:noFill/>
          <a:ln/>
        </p:spPr>
        <p:txBody>
          <a:bodyPr wrap="square" rtlCol="0" anchor="ctr"/>
          <a:lstStyle/>
          <a:p>
            <a:pPr marL="0" indent="0" algn="ctr">
              <a:buNone/>
            </a:pPr>
            <a:r>
              <a:rPr lang="en-US" sz="1150" i="1" dirty="0">
                <a:solidFill>
                  <a:srgbClr val="5B6B8C"/>
                </a:solidFill>
                <a:latin typeface="Calibri" pitchFamily="34" charset="0"/>
                <a:ea typeface="Calibri" pitchFamily="34" charset="-122"/>
                <a:cs typeface="Calibri" pitchFamily="34" charset="-120"/>
              </a:rPr>
              <a:t>Each enhancement builds toward one goal: moving from a reporting tool to a predictive, enterprise-grade risk platform.</a:t>
            </a:r>
            <a:endParaRPr lang="en-US" sz="1150" dirty="0"/>
          </a:p>
        </p:txBody>
      </p:sp>
      <p:sp>
        <p:nvSpPr>
          <p:cNvPr id="45" name="Text 43"/>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5B6B8C"/>
                </a:solidFill>
                <a:latin typeface="Calibri" pitchFamily="34" charset="0"/>
                <a:ea typeface="Calibri" pitchFamily="34" charset="-122"/>
                <a:cs typeface="Calibri" pitchFamily="34" charset="-120"/>
              </a:rPr>
              <a:t>Bank Loan Report Analysis</a:t>
            </a:r>
            <a:endParaRPr lang="en-US" sz="900" dirty="0"/>
          </a:p>
        </p:txBody>
      </p:sp>
      <p:sp>
        <p:nvSpPr>
          <p:cNvPr id="46" name="Text 44"/>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5B6B8C"/>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2884</Words>
  <Application>Microsoft Office PowerPoint</Application>
  <PresentationFormat>Widescreen</PresentationFormat>
  <Paragraphs>512</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siddu v</cp:lastModifiedBy>
  <cp:revision>2</cp:revision>
  <dcterms:created xsi:type="dcterms:W3CDTF">2026-07-13T00:59:25Z</dcterms:created>
  <dcterms:modified xsi:type="dcterms:W3CDTF">2026-07-13T11:54:15Z</dcterms:modified>
</cp:coreProperties>
</file>